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20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HIVER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Documentation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B57"/>
                </a:solidFill>
                <a:latin typeface="Calibri"/>
              </a:defRPr>
            </a:pPr>
            <a:r>
              <a:t>Système de Surveillance Bovine en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Détection · Identification individuelle · Classification de race · Carte de densité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Baccalauréat en Génie Électrique  |  GEI1052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Boeuf Tracker analyse un flux vidéo en temps réel et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1. Détecte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188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chaque bovin dans l'image (modèle YOLOv26, MLX Metal GPU)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2. Identifie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5727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chaque bovin individuellement (DINOv2, embeddings visuels)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3. Classifie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5681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la race probable (SigLIP-2 zero-shot, 10 races)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40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4. Cartographie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408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les zones de regroupement (heatmap 20×20)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24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5. Affiche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24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le tout dans une interface web + app desktop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34747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FPS moyen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23-26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Latence Re-ID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~5 ms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Latence YOLO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~12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Latence 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~22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Lignes de code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~5600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Taille app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1.8 MB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Architecture du système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03 / 12</a:t>
            </a:r>
          </a:p>
        </p:txBody>
      </p:sp>
      <p:pic>
        <p:nvPicPr>
          <p:cNvPr id="5" name="Picture 4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683" y="640080"/>
            <a:ext cx="5992633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Deux processus : Worker Python (IA + API + UI, port 8100) et App Tauri (fenêtre native)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Pipeline de traitement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04 / 12</a:t>
            </a:r>
          </a:p>
        </p:txBody>
      </p:sp>
      <p:pic>
        <p:nvPicPr>
          <p:cNvPr id="5" name="Picture 4" descr="diagra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7772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4444"/>
                </a:solidFill>
                <a:latin typeface="Calibri"/>
              </a:defRPr>
            </a:pPr>
            <a:r>
              <a:t>Chaque frame (~38 ms) : YOLO → Tracker → Crop → Re-ID → Race → JPEG annoté</a:t>
            </a:r>
            <a:br/>
            <a:r>
              <a:t>Re-ID et classification de race ne tournent que pour les NOUVEAUX bovins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Détection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05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164592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4023360" cy="7315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72C4"/>
                </a:solidFill>
                <a:latin typeface="Calibri"/>
              </a:defRPr>
            </a:pPr>
            <a:r>
              <a:t>Modèle utilisé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YOLOv26-seg avec MLX (Apple Metal GPU)</a:t>
            </a:r>
            <a:br/>
            <a:r>
              <a:t>Alternative : YOLOv11 standard (PyTorch)</a:t>
            </a:r>
            <a:br/>
            <a:br/>
            <a:r>
              <a:t>Fichier : detector.py</a:t>
            </a:r>
            <a:br/>
            <a:r>
              <a:t>Modèle : yolo26s-seg.safetensors (44 MB)</a:t>
            </a:r>
            <a:br/>
            <a:r>
              <a:t>Détection + segmentation (masques)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4023360" cy="164592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822960"/>
            <a:ext cx="4023360" cy="731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9601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325880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Entrée : image 640×640</a:t>
            </a:r>
            <a:br/>
            <a:r>
              <a:t>Sortie : boîtes [x1,y1,x2,y2] + confiance</a:t>
            </a:r>
            <a:br/>
            <a:r>
              <a:t>Filtrage : confiance ≥ 0.4, NMS</a:t>
            </a:r>
            <a:br/>
            <a:br/>
            <a:r>
              <a:t>YOLO = You Only Look Once</a:t>
            </a:r>
            <a:br/>
            <a:r>
              <a:t>Détection en une seule passe (temps réel)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51760"/>
            <a:ext cx="8412480" cy="164592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651760"/>
            <a:ext cx="8412480" cy="7315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alibri"/>
              </a:defRPr>
            </a:pPr>
            <a:r>
              <a:t>Tracking IoU (Intersection over Union)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Le tracker associe les boîtes de la frame N-1 à la frame N via le chevauchement (IoU).</a:t>
            </a:r>
            <a:br/>
            <a:r>
              <a:t>Le bovin #3 garde son identifiant tant qu'il reste visible.</a:t>
            </a:r>
            <a:br/>
            <a:br/>
            <a:r>
              <a:t>Quand un bovin sort du champ puis revient, l'IoU ne suffit plus → c'est le rôle du Re-ID (slide suivante).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Identification individuelle (Re-ID)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06 / 12</a:t>
            </a:r>
          </a:p>
        </p:txBody>
      </p:sp>
      <p:pic>
        <p:nvPicPr>
          <p:cNvPr id="5" name="Picture 4" descr="diagram_re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68" y="731520"/>
            <a:ext cx="4909863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57600"/>
            <a:ext cx="4023360" cy="109728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3657600"/>
            <a:ext cx="4023360" cy="7315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72C4"/>
                </a:solidFill>
                <a:latin typeface="Calibri"/>
              </a:defRPr>
            </a:pPr>
            <a:r>
              <a:t>DINOv2 + cosine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Embedding 464 dims par bovin</a:t>
            </a:r>
            <a:br/>
            <a:r>
              <a:t>Seuil : 0.70 (connu) / 0.55 (boucle)</a:t>
            </a:r>
            <a:br/>
            <a:r>
              <a:t>Thread asynchrone (non-bloquant)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657600"/>
            <a:ext cx="4023360" cy="109728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3657600"/>
            <a:ext cx="4023360" cy="731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794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DB par vidéo (persistence)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16052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Chaque vidéo a son fichier .pkl</a:t>
            </a:r>
            <a:br/>
            <a:r>
              <a:t>Retour vidéo A = mêmes noms</a:t>
            </a:r>
            <a:br/>
            <a:r>
              <a:t>Compteur global = noms uniques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Classification de 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07 / 12</a:t>
            </a:r>
          </a:p>
        </p:txBody>
      </p:sp>
      <p:pic>
        <p:nvPicPr>
          <p:cNvPr id="5" name="Picture 4" descr="diagram_br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4909863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749039"/>
            <a:ext cx="4023360" cy="100584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4023360" cy="7315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886199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72C4"/>
                </a:solidFill>
                <a:latin typeface="Calibri"/>
              </a:defRPr>
            </a:pPr>
            <a:r>
              <a:t>SigLIP-2 So400m (zero-shot)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59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1136M paramètres, Google 2025</a:t>
            </a:r>
            <a:br/>
            <a:r>
              <a:t>84.1% ImageNet zero-shot</a:t>
            </a:r>
            <a:br/>
            <a:r>
              <a:t>Races définies en texte (prompts)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749039"/>
            <a:ext cx="4023360" cy="100584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3749039"/>
            <a:ext cx="4023360" cy="731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886199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Seuil de confiance honnête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251959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Softmax sur cosine similarities</a:t>
            </a:r>
            <a:br/>
            <a:r>
              <a:t>Marge &lt; 0.15 → « Indéterminée »</a:t>
            </a:r>
            <a:br/>
            <a:r>
              <a:t>Préfère ne pas se tromper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Carte de densité (Heatmap)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08 / 12</a:t>
            </a:r>
          </a:p>
        </p:txBody>
      </p:sp>
      <p:pic>
        <p:nvPicPr>
          <p:cNvPr id="5" name="Picture 4" descr="diagra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6719006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4444"/>
                </a:solidFill>
                <a:latin typeface="Calibri"/>
              </a:defRPr>
            </a:pPr>
            <a:r>
              <a:t>Rouge = zone d'attroupement (mangeoire)  ·  Jaune = zone de passage  ·  Noir = zone inoccupée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Performance et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09 / 12</a:t>
            </a:r>
          </a:p>
        </p:txBody>
      </p:sp>
      <p:pic>
        <p:nvPicPr>
          <p:cNvPr id="5" name="Picture 4" descr="diagram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131440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566160"/>
          <a:ext cx="84124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2011680"/>
              </a:tblGrid>
              <a:tr h="2377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Optimisation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Fichier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MLX (Metal GPU)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3× plus rapide que CPU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detector.py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ReIDWorker async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Re-ID non-bloquant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reid_worker.py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Annotation ROI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-27 ms/frame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processor.py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DINOv2 FP16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2× plus rapide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reid.py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Installation et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18288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4023360" cy="7315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72C4"/>
                </a:solidFill>
                <a:latin typeface="Calibri"/>
              </a:defRPr>
            </a:pPr>
            <a:r>
              <a:t>Prérequis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Python 3.10+</a:t>
            </a:r>
            <a:br/>
            <a:r>
              <a:t>Rust + Cargo 1.97+</a:t>
            </a:r>
            <a:br/>
            <a:r>
              <a:t>Xcode CLT (Mac)</a:t>
            </a:r>
            <a:br/>
            <a:br/>
            <a:r>
              <a:t>Dépendances Python :</a:t>
            </a:r>
            <a:br/>
            <a:r>
              <a:t>torch, ultralytics, opencv,</a:t>
            </a:r>
            <a:br/>
            <a:r>
              <a:t>transformers, flask, mlx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4023360" cy="18288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822960"/>
            <a:ext cx="4023360" cy="731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9601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Lancement rapide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32588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# Worker Python</a:t>
            </a:r>
            <a:br/>
            <a:r>
              <a:t>python app.py --mlx</a:t>
            </a:r>
            <a:br/>
            <a:r>
              <a:t>→ http://localhost:8100</a:t>
            </a:r>
            <a:br/>
            <a:br/>
            <a:r>
              <a:t># App desktop</a:t>
            </a:r>
            <a:br/>
            <a:r>
              <a:t>cargo tauri dev</a:t>
            </a:r>
            <a:br/>
            <a:br/>
            <a:r>
              <a:t># Build production</a:t>
            </a:r>
            <a:br/>
            <a:r>
              <a:t>./build.sh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34640"/>
          <a:ext cx="8412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475488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Argument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Défaut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--source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Fichier vidéo ou webcam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--mlx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Accélération Metal (Mac)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--port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8100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Port serveur web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--threshold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Seuil similarité Re-ID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--imgsz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Taille inférence YOLO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Fichiers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11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126480"/>
              </a:tblGrid>
              <a:tr h="2895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Fichier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Rôle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app.py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Worker Flask (API + UI statique)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processor.py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Boucle de détection principale (cœur du système)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detector.py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Détection YOLO (MLX + PyTorch)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reid.py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Re-ID DINOv2 (embeddings + comparaison)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reid_worker.py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Thread asynchrone pour le Re-ID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breed.py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Classification de race (SigLIP-2 zero-shot)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database.py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Base d'embeddings (pickle, persistante)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names.py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Générateur de noms + compteur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analytics.py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Collecteur de stats (FPS, races, heatmap)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web/public/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Interface web (HTML/CSS/JS)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src-tauri/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Application desktop (Rust/Tauri)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Glossaire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126480"/>
              </a:tblGrid>
              <a:tr h="33250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Définition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YOLO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Réseau de détection d'objets en temps réel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DINOv2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Modèle self-supervised produisant des embeddings visuels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SigLIP-2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Modèle vision-langage pour classification zero-shot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Vecteur numérique représentant une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Cosine similarity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Similarité entre vecteurs (0=différent, 1=identique)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Re-ID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Re-identification d'un individu à travers les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Intersection over Union (chevauchement de boîtes)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MLX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Framework ML Apple pour GPU Metal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Classification sans entraînement spécifique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Carte de densité spatiale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