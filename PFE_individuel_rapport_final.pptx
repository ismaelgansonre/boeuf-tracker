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20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HIVER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Rapport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B57"/>
                </a:solidFill>
                <a:latin typeface="Calibri"/>
              </a:defRPr>
            </a:pPr>
            <a:r>
              <a:t>Système de Surveillance Bovine en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par Vision par 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Baccalauréat en Génie Électrique  |  GEI1052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Détection · Identification · Classification de race ·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Contexte et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Calibri"/>
              </a:defRPr>
            </a:pPr>
            <a:r>
              <a:t>Les méthodes traditionnelles de surveillance reposent sur l'observation manuelle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2560320" cy="73152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Calibri"/>
              </a:defRPr>
            </a:pPr>
            <a:r>
              <a:t>Comptage manuel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Le dénombrement visuel par l'éleveur est lent, sujet aux erreurs et impossible à grande échelle.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560320" cy="7315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alibri"/>
              </a:defRPr>
            </a:pPr>
            <a:r>
              <a:t>Densité difficile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Identifier les zones de surpeuplement nécessite une observation constante.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560320" cy="73152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Calibri"/>
              </a:defRPr>
            </a:pPr>
            <a:r>
              <a:t>Sans mémoire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Difficile de savoir si telle vache était présente hier.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26080"/>
            <a:ext cx="8412480" cy="64008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Objectif : Automatiser la surveillance visuelle pour un comptage fiable, une identification individuelle et une analyse de densité en temps réel.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48640" cy="5486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Détection automatique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88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Identifier chaque bovin avec précision &gt; 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45920"/>
            <a:ext cx="548640" cy="54864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Comptage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Dénombrement instantané des animaux visibles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77440"/>
            <a:ext cx="54864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Carte de densité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Visualiser les zones d'occupation (heatmap)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108960"/>
            <a:ext cx="548640" cy="5486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Calibri"/>
              </a:defRPr>
            </a:pPr>
            <a:r>
              <a:t>Interface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83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4444"/>
                </a:solidFill>
                <a:latin typeface="Calibri"/>
              </a:defRPr>
            </a:pPr>
            <a:r>
              <a:t>Dashboard affichant résultats et statistiques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23360"/>
            <a:ext cx="8412480" cy="64008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Calibri"/>
              </a:defRPr>
            </a:pPr>
            <a:r>
              <a:t>Critères : &gt; 15 FPS (temps réel)  ·  &gt; 90% précision  ·  24/7 disponibilité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Positionnement dans l'État de l'Art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04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  <a:gridCol w="292608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Vitesse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Précision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Faster R-CNN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~5 FPS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Très bonne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Trop lent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Précision insuffisante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YOLO (v8/v11/v26)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&gt; 25 FPS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Bonne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Retenu — meilleur compromis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329184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3291840"/>
            <a:ext cx="256032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Re-ID (identification)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DINOv2 (Meta AI) : embeddings robustes aux variations de pose et d'éclairage. État de l'art self-supervised.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29184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3291840"/>
            <a:ext cx="256032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Classification de 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794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SigLIP-2 So400m (Google 2025) : 84.1% zero-shot ImageNet. Aucun modèle public pour races européennes.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40"/>
            <a:ext cx="2560320" cy="13716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291840"/>
            <a:ext cx="2560320" cy="7315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D7D31"/>
                </a:solidFill>
                <a:latin typeface="Calibri"/>
              </a:defRPr>
            </a:pPr>
            <a:r>
              <a:t>Edge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94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Traitement local (MLX Metal sur Mac M1). Aucune dépendance réseau, latence minimale.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Solution Proposée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05 / 10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51953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Worker Python (Flask, port 8100) : IA + API + UI  ·  App Tauri : fenêtre native cross-platform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Pipeline IA &amp;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06 / 10</a:t>
            </a:r>
          </a:p>
        </p:txBody>
      </p:sp>
      <p:pic>
        <p:nvPicPr>
          <p:cNvPr id="5" name="Picture 4" descr="diagr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685800"/>
            <a:ext cx="4441371" cy="1828800"/>
          </a:xfrm>
          <a:prstGeom prst="rect">
            <a:avLst/>
          </a:prstGeom>
        </p:spPr>
      </p:pic>
      <p:pic>
        <p:nvPicPr>
          <p:cNvPr id="6" name="Picture 5" descr="diagram_re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668" y="2651760"/>
            <a:ext cx="306866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Classification de Race &amp;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07 / 10</a:t>
            </a:r>
          </a:p>
        </p:txBody>
      </p:sp>
      <p:pic>
        <p:nvPicPr>
          <p:cNvPr id="5" name="Picture 4" descr="diagram_br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668" y="685800"/>
            <a:ext cx="3068664" cy="1828800"/>
          </a:xfrm>
          <a:prstGeom prst="rect">
            <a:avLst/>
          </a:prstGeom>
        </p:spPr>
      </p:pic>
      <p:pic>
        <p:nvPicPr>
          <p:cNvPr id="6" name="Picture 5" descr="diagram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685800"/>
            <a:ext cx="3840480" cy="16725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" y="2743200"/>
            <a:ext cx="4023360" cy="18288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402336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472C4"/>
                </a:solidFill>
                <a:latin typeface="Calibri"/>
              </a:defRPr>
            </a:pPr>
            <a:r>
              <a:t>SigLIP-2 zero-shot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Les races sont définies en langage naturel (prompts descriptifs).</a:t>
            </a:r>
            <a:br/>
            <a:br/>
            <a:r>
              <a:t>Aucune image de référence nécessaire.</a:t>
            </a:r>
            <a:br/>
            <a:br/>
            <a:r>
              <a:t>Seuil honnête : marge &lt; 0.15 → « Indéterminée ».</a:t>
            </a:r>
            <a:br/>
            <a:br/>
            <a:r>
              <a:t>10 races couvertes (Charolaise, Holstein, Salers...).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43200"/>
            <a:ext cx="4023360" cy="18288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743200"/>
            <a:ext cx="4023360" cy="73152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B57"/>
                </a:solidFill>
                <a:latin typeface="Calibri"/>
              </a:defRPr>
            </a:pPr>
            <a:r>
              <a:t>Carte de densité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246120"/>
            <a:ext cx="3749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Grille 20×20 normalisée.</a:t>
            </a:r>
            <a:br/>
            <a:br/>
            <a:r>
              <a:t>Rouge = zone d'attroupement (mangeoire).</a:t>
            </a:r>
            <a:br/>
            <a:r>
              <a:t>Jaune = zone de passage.</a:t>
            </a:r>
            <a:br/>
            <a:r>
              <a:t>Noir = zone inoccupée.</a:t>
            </a:r>
            <a:br/>
            <a:br/>
            <a:r>
              <a:t>Mise à jour temps réel (3 secondes).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08 / 10</a:t>
            </a:r>
          </a:p>
        </p:txBody>
      </p:sp>
      <p:pic>
        <p:nvPicPr>
          <p:cNvPr id="5" name="Picture 4" descr="diagram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029200" cy="85049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731520"/>
          <a:ext cx="3474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28016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Métrique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Résultat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FPS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&gt; 15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23-26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Précision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&gt;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Disponibilité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24/7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Continue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Calibri"/>
              </a:defRPr>
            </a:pPr>
            <a:r>
              <a:t>Fonctionnalités livrées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Détection YOLO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Comptage automatique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Identification individuelle (Re-ID)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Classification de race (SigLIP-2)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Noms propres uniques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Carte de densité (heatmap)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Dashboard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840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Timeline des événements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Statistiques par bovin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Application desktop (Tauri)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Interface dark/light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8B57"/>
                </a:solidFill>
                <a:latin typeface="Calibri"/>
              </a:defRPr>
            </a:pPr>
            <a:r>
              <a:t>✓  Cross-platform (Mac/Win/Linux)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 Light"/>
              </a:defRPr>
            </a:pPr>
            <a:r>
              <a:t>Dépassement des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731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09 /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82296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Proposition initiale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Réalisation finale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Détection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YOLOv8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YOLOv26 + MLX Metal GPU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Non prévue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Re-ID DINOv2 + noms propres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Classification de race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Non prévue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SigLIP-2 zero-shot (10 races)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Accumulation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Grille 20×20 + par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Flask simple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Dashboard + app desktop Tauri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Plateforme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Raspberry Pi / Jetson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Mac M1 Pro + cross-platform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3566160"/>
            <a:ext cx="8412480" cy="100584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Innovations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44"/>
                </a:solidFill>
                <a:latin typeface="Calibri"/>
              </a:defRPr>
            </a:pPr>
            <a:r>
              <a:t>• Découplage asynchrone du Re-ID (thread séparé)</a:t>
            </a:r>
            <a:br/>
            <a:r>
              <a:t>• Compteur global de noms (unicité garantie)</a:t>
            </a:r>
            <a:br/>
            <a:r>
              <a:t>• Classification zero-shot honnête (seuil de marge)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Ce projet a permis de développer un système complet de surveillance bovine en temps réel, allant au-delà des objectifs initialement fixés.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FPS : 23-26 (objectif &gt; 15) — temps réel garanti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12 fonctionnalités livrées (4 prévues initialement)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~5600 lignes de code (Python + JavaScript + Rust)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•  Cross-platform : macOS, Windows, 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B57"/>
                </a:solidFill>
                <a:latin typeface="Calibri"/>
              </a:defRPr>
            </a:pPr>
            <a:r>
              <a:t>COMPÉTENCES MOBILISÉES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Intelligence artificielle · Traitement d'image · Développement logiciel · Optimisation de performance · Architecture système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B57"/>
                </a:solidFill>
                <a:latin typeface="Calibri"/>
              </a:defRPr>
            </a:pPr>
            <a: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