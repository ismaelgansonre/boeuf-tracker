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D26215-9C4A-4E34-8625-660486F90B62}" v="7" dt="2026-01-30T20:51:09.3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07" d="100"/>
          <a:sy n="207" d="100"/>
        </p:scale>
        <p:origin x="792"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uedraogo, Wendpaguidgdé Mike Andrew Livaid" userId="657501d1-fae0-45e0-aaf8-421b1a6c4560" providerId="ADAL" clId="{F3D42503-4681-4B6F-B981-3C3CE49453E4}"/>
    <pc:docChg chg="undo custSel addSld delSld modSld sldOrd addMainMaster delMainMaster">
      <pc:chgData name="Ouedraogo, Wendpaguidgdé Mike Andrew Livaid" userId="657501d1-fae0-45e0-aaf8-421b1a6c4560" providerId="ADAL" clId="{F3D42503-4681-4B6F-B981-3C3CE49453E4}" dt="2026-01-30T20:52:04.527" v="248" actId="47"/>
      <pc:docMkLst>
        <pc:docMk/>
      </pc:docMkLst>
      <pc:sldChg chg="modSp mod">
        <pc:chgData name="Ouedraogo, Wendpaguidgdé Mike Andrew Livaid" userId="657501d1-fae0-45e0-aaf8-421b1a6c4560" providerId="ADAL" clId="{F3D42503-4681-4B6F-B981-3C3CE49453E4}" dt="2026-01-30T16:00:19.276" v="113" actId="113"/>
        <pc:sldMkLst>
          <pc:docMk/>
          <pc:sldMk cId="0" sldId="256"/>
        </pc:sldMkLst>
        <pc:spChg chg="mod">
          <ac:chgData name="Ouedraogo, Wendpaguidgdé Mike Andrew Livaid" userId="657501d1-fae0-45e0-aaf8-421b1a6c4560" providerId="ADAL" clId="{F3D42503-4681-4B6F-B981-3C3CE49453E4}" dt="2026-01-30T07:10:50.249" v="6" actId="1076"/>
          <ac:spMkLst>
            <pc:docMk/>
            <pc:sldMk cId="0" sldId="256"/>
            <ac:spMk id="4" creationId="{00000000-0000-0000-0000-000000000000}"/>
          </ac:spMkLst>
        </pc:spChg>
        <pc:spChg chg="mod">
          <ac:chgData name="Ouedraogo, Wendpaguidgdé Mike Andrew Livaid" userId="657501d1-fae0-45e0-aaf8-421b1a6c4560" providerId="ADAL" clId="{F3D42503-4681-4B6F-B981-3C3CE49453E4}" dt="2026-01-30T07:10:21.822" v="1"/>
          <ac:spMkLst>
            <pc:docMk/>
            <pc:sldMk cId="0" sldId="256"/>
            <ac:spMk id="7" creationId="{00000000-0000-0000-0000-000000000000}"/>
          </ac:spMkLst>
        </pc:spChg>
        <pc:spChg chg="mod">
          <ac:chgData name="Ouedraogo, Wendpaguidgdé Mike Andrew Livaid" userId="657501d1-fae0-45e0-aaf8-421b1a6c4560" providerId="ADAL" clId="{F3D42503-4681-4B6F-B981-3C3CE49453E4}" dt="2026-01-30T16:00:19.276" v="113" actId="113"/>
          <ac:spMkLst>
            <pc:docMk/>
            <pc:sldMk cId="0" sldId="256"/>
            <ac:spMk id="8" creationId="{00000000-0000-0000-0000-000000000000}"/>
          </ac:spMkLst>
        </pc:spChg>
        <pc:spChg chg="mod">
          <ac:chgData name="Ouedraogo, Wendpaguidgdé Mike Andrew Livaid" userId="657501d1-fae0-45e0-aaf8-421b1a6c4560" providerId="ADAL" clId="{F3D42503-4681-4B6F-B981-3C3CE49453E4}" dt="2026-01-30T07:11:29.388" v="57"/>
          <ac:spMkLst>
            <pc:docMk/>
            <pc:sldMk cId="0" sldId="256"/>
            <ac:spMk id="9" creationId="{00000000-0000-0000-0000-000000000000}"/>
          </ac:spMkLst>
        </pc:spChg>
        <pc:spChg chg="mod">
          <ac:chgData name="Ouedraogo, Wendpaguidgdé Mike Andrew Livaid" userId="657501d1-fae0-45e0-aaf8-421b1a6c4560" providerId="ADAL" clId="{F3D42503-4681-4B6F-B981-3C3CE49453E4}" dt="2026-01-30T15:49:59.829" v="110" actId="20577"/>
          <ac:spMkLst>
            <pc:docMk/>
            <pc:sldMk cId="0" sldId="256"/>
            <ac:spMk id="10" creationId="{00000000-0000-0000-0000-000000000000}"/>
          </ac:spMkLst>
        </pc:spChg>
      </pc:sldChg>
      <pc:sldChg chg="addSp delSp modSp mod">
        <pc:chgData name="Ouedraogo, Wendpaguidgdé Mike Andrew Livaid" userId="657501d1-fae0-45e0-aaf8-421b1a6c4560" providerId="ADAL" clId="{F3D42503-4681-4B6F-B981-3C3CE49453E4}" dt="2026-01-30T20:43:49.288" v="166" actId="20577"/>
        <pc:sldMkLst>
          <pc:docMk/>
          <pc:sldMk cId="0" sldId="262"/>
        </pc:sldMkLst>
        <pc:spChg chg="mod">
          <ac:chgData name="Ouedraogo, Wendpaguidgdé Mike Andrew Livaid" userId="657501d1-fae0-45e0-aaf8-421b1a6c4560" providerId="ADAL" clId="{F3D42503-4681-4B6F-B981-3C3CE49453E4}" dt="2026-01-30T20:40:29.404" v="119" actId="20577"/>
          <ac:spMkLst>
            <pc:docMk/>
            <pc:sldMk cId="0" sldId="262"/>
            <ac:spMk id="14" creationId="{00000000-0000-0000-0000-000000000000}"/>
          </ac:spMkLst>
        </pc:spChg>
        <pc:spChg chg="add del">
          <ac:chgData name="Ouedraogo, Wendpaguidgdé Mike Andrew Livaid" userId="657501d1-fae0-45e0-aaf8-421b1a6c4560" providerId="ADAL" clId="{F3D42503-4681-4B6F-B981-3C3CE49453E4}" dt="2026-01-30T20:40:59.519" v="123" actId="478"/>
          <ac:spMkLst>
            <pc:docMk/>
            <pc:sldMk cId="0" sldId="262"/>
            <ac:spMk id="22" creationId="{00000000-0000-0000-0000-000000000000}"/>
          </ac:spMkLst>
        </pc:spChg>
        <pc:spChg chg="mod">
          <ac:chgData name="Ouedraogo, Wendpaguidgdé Mike Andrew Livaid" userId="657501d1-fae0-45e0-aaf8-421b1a6c4560" providerId="ADAL" clId="{F3D42503-4681-4B6F-B981-3C3CE49453E4}" dt="2026-01-30T20:42:18.532" v="139" actId="20577"/>
          <ac:spMkLst>
            <pc:docMk/>
            <pc:sldMk cId="0" sldId="262"/>
            <ac:spMk id="23" creationId="{00000000-0000-0000-0000-000000000000}"/>
          </ac:spMkLst>
        </pc:spChg>
        <pc:spChg chg="mod">
          <ac:chgData name="Ouedraogo, Wendpaguidgdé Mike Andrew Livaid" userId="657501d1-fae0-45e0-aaf8-421b1a6c4560" providerId="ADAL" clId="{F3D42503-4681-4B6F-B981-3C3CE49453E4}" dt="2026-01-30T20:43:19.593" v="153" actId="20577"/>
          <ac:spMkLst>
            <pc:docMk/>
            <pc:sldMk cId="0" sldId="262"/>
            <ac:spMk id="32" creationId="{00000000-0000-0000-0000-000000000000}"/>
          </ac:spMkLst>
        </pc:spChg>
        <pc:spChg chg="mod">
          <ac:chgData name="Ouedraogo, Wendpaguidgdé Mike Andrew Livaid" userId="657501d1-fae0-45e0-aaf8-421b1a6c4560" providerId="ADAL" clId="{F3D42503-4681-4B6F-B981-3C3CE49453E4}" dt="2026-01-30T20:42:42.234" v="147" actId="1037"/>
          <ac:spMkLst>
            <pc:docMk/>
            <pc:sldMk cId="0" sldId="262"/>
            <ac:spMk id="40" creationId="{00000000-0000-0000-0000-000000000000}"/>
          </ac:spMkLst>
        </pc:spChg>
        <pc:spChg chg="mod">
          <ac:chgData name="Ouedraogo, Wendpaguidgdé Mike Andrew Livaid" userId="657501d1-fae0-45e0-aaf8-421b1a6c4560" providerId="ADAL" clId="{F3D42503-4681-4B6F-B981-3C3CE49453E4}" dt="2026-01-30T20:43:29.556" v="158" actId="20577"/>
          <ac:spMkLst>
            <pc:docMk/>
            <pc:sldMk cId="0" sldId="262"/>
            <ac:spMk id="41" creationId="{00000000-0000-0000-0000-000000000000}"/>
          </ac:spMkLst>
        </pc:spChg>
        <pc:spChg chg="mod">
          <ac:chgData name="Ouedraogo, Wendpaguidgdé Mike Andrew Livaid" userId="657501d1-fae0-45e0-aaf8-421b1a6c4560" providerId="ADAL" clId="{F3D42503-4681-4B6F-B981-3C3CE49453E4}" dt="2026-01-30T20:43:49.288" v="166" actId="20577"/>
          <ac:spMkLst>
            <pc:docMk/>
            <pc:sldMk cId="0" sldId="262"/>
            <ac:spMk id="50" creationId="{00000000-0000-0000-0000-000000000000}"/>
          </ac:spMkLst>
        </pc:spChg>
        <pc:spChg chg="mod">
          <ac:chgData name="Ouedraogo, Wendpaguidgdé Mike Andrew Livaid" userId="657501d1-fae0-45e0-aaf8-421b1a6c4560" providerId="ADAL" clId="{F3D42503-4681-4B6F-B981-3C3CE49453E4}" dt="2026-01-30T20:40:09.056" v="117" actId="20577"/>
          <ac:spMkLst>
            <pc:docMk/>
            <pc:sldMk cId="0" sldId="262"/>
            <ac:spMk id="53" creationId="{00000000-0000-0000-0000-000000000000}"/>
          </ac:spMkLst>
        </pc:spChg>
      </pc:sldChg>
      <pc:sldChg chg="modSp mod">
        <pc:chgData name="Ouedraogo, Wendpaguidgdé Mike Andrew Livaid" userId="657501d1-fae0-45e0-aaf8-421b1a6c4560" providerId="ADAL" clId="{F3D42503-4681-4B6F-B981-3C3CE49453E4}" dt="2026-01-30T20:44:37.808" v="180" actId="1036"/>
        <pc:sldMkLst>
          <pc:docMk/>
          <pc:sldMk cId="0" sldId="263"/>
        </pc:sldMkLst>
        <pc:spChg chg="mod">
          <ac:chgData name="Ouedraogo, Wendpaguidgdé Mike Andrew Livaid" userId="657501d1-fae0-45e0-aaf8-421b1a6c4560" providerId="ADAL" clId="{F3D42503-4681-4B6F-B981-3C3CE49453E4}" dt="2026-01-30T20:44:25.269" v="176" actId="20577"/>
          <ac:spMkLst>
            <pc:docMk/>
            <pc:sldMk cId="0" sldId="263"/>
            <ac:spMk id="48" creationId="{00000000-0000-0000-0000-000000000000}"/>
          </ac:spMkLst>
        </pc:spChg>
        <pc:spChg chg="mod">
          <ac:chgData name="Ouedraogo, Wendpaguidgdé Mike Andrew Livaid" userId="657501d1-fae0-45e0-aaf8-421b1a6c4560" providerId="ADAL" clId="{F3D42503-4681-4B6F-B981-3C3CE49453E4}" dt="2026-01-30T20:44:16.017" v="173" actId="20577"/>
          <ac:spMkLst>
            <pc:docMk/>
            <pc:sldMk cId="0" sldId="263"/>
            <ac:spMk id="51" creationId="{00000000-0000-0000-0000-000000000000}"/>
          </ac:spMkLst>
        </pc:spChg>
        <pc:spChg chg="mod">
          <ac:chgData name="Ouedraogo, Wendpaguidgdé Mike Andrew Livaid" userId="657501d1-fae0-45e0-aaf8-421b1a6c4560" providerId="ADAL" clId="{F3D42503-4681-4B6F-B981-3C3CE49453E4}" dt="2026-01-30T20:44:06.522" v="170" actId="20577"/>
          <ac:spMkLst>
            <pc:docMk/>
            <pc:sldMk cId="0" sldId="263"/>
            <ac:spMk id="54" creationId="{00000000-0000-0000-0000-000000000000}"/>
          </ac:spMkLst>
        </pc:spChg>
        <pc:picChg chg="mod">
          <ac:chgData name="Ouedraogo, Wendpaguidgdé Mike Andrew Livaid" userId="657501d1-fae0-45e0-aaf8-421b1a6c4560" providerId="ADAL" clId="{F3D42503-4681-4B6F-B981-3C3CE49453E4}" dt="2026-01-30T20:44:37.808" v="180" actId="1036"/>
          <ac:picMkLst>
            <pc:docMk/>
            <pc:sldMk cId="0" sldId="263"/>
            <ac:picMk id="3" creationId="{00000000-0000-0000-0000-000000000000}"/>
          </ac:picMkLst>
        </pc:picChg>
      </pc:sldChg>
      <pc:sldChg chg="modSp mod">
        <pc:chgData name="Ouedraogo, Wendpaguidgdé Mike Andrew Livaid" userId="657501d1-fae0-45e0-aaf8-421b1a6c4560" providerId="ADAL" clId="{F3D42503-4681-4B6F-B981-3C3CE49453E4}" dt="2026-01-30T20:51:09.310" v="247"/>
        <pc:sldMkLst>
          <pc:docMk/>
          <pc:sldMk cId="0" sldId="264"/>
        </pc:sldMkLst>
        <pc:spChg chg="mod">
          <ac:chgData name="Ouedraogo, Wendpaguidgdé Mike Andrew Livaid" userId="657501d1-fae0-45e0-aaf8-421b1a6c4560" providerId="ADAL" clId="{F3D42503-4681-4B6F-B981-3C3CE49453E4}" dt="2026-01-30T20:48:35.778" v="240" actId="1076"/>
          <ac:spMkLst>
            <pc:docMk/>
            <pc:sldMk cId="0" sldId="264"/>
            <ac:spMk id="54" creationId="{00000000-0000-0000-0000-000000000000}"/>
          </ac:spMkLst>
        </pc:spChg>
        <pc:spChg chg="mod">
          <ac:chgData name="Ouedraogo, Wendpaguidgdé Mike Andrew Livaid" userId="657501d1-fae0-45e0-aaf8-421b1a6c4560" providerId="ADAL" clId="{F3D42503-4681-4B6F-B981-3C3CE49453E4}" dt="2026-01-30T20:51:09.310" v="247"/>
          <ac:spMkLst>
            <pc:docMk/>
            <pc:sldMk cId="0" sldId="264"/>
            <ac:spMk id="55" creationId="{00000000-0000-0000-0000-000000000000}"/>
          </ac:spMkLst>
        </pc:spChg>
      </pc:sldChg>
      <pc:sldChg chg="modSp mod">
        <pc:chgData name="Ouedraogo, Wendpaguidgdé Mike Andrew Livaid" userId="657501d1-fae0-45e0-aaf8-421b1a6c4560" providerId="ADAL" clId="{F3D42503-4681-4B6F-B981-3C3CE49453E4}" dt="2026-01-30T07:19:58.184" v="70" actId="20577"/>
        <pc:sldMkLst>
          <pc:docMk/>
          <pc:sldMk cId="0" sldId="265"/>
        </pc:sldMkLst>
        <pc:spChg chg="mod">
          <ac:chgData name="Ouedraogo, Wendpaguidgdé Mike Andrew Livaid" userId="657501d1-fae0-45e0-aaf8-421b1a6c4560" providerId="ADAL" clId="{F3D42503-4681-4B6F-B981-3C3CE49453E4}" dt="2026-01-30T07:19:58.184" v="70" actId="20577"/>
          <ac:spMkLst>
            <pc:docMk/>
            <pc:sldMk cId="0" sldId="265"/>
            <ac:spMk id="40" creationId="{00000000-0000-0000-0000-000000000000}"/>
          </ac:spMkLst>
        </pc:spChg>
        <pc:picChg chg="mod">
          <ac:chgData name="Ouedraogo, Wendpaguidgdé Mike Andrew Livaid" userId="657501d1-fae0-45e0-aaf8-421b1a6c4560" providerId="ADAL" clId="{F3D42503-4681-4B6F-B981-3C3CE49453E4}" dt="2026-01-30T07:12:04.272" v="59" actId="1076"/>
          <ac:picMkLst>
            <pc:docMk/>
            <pc:sldMk cId="0" sldId="265"/>
            <ac:picMk id="3" creationId="{00000000-0000-0000-0000-000000000000}"/>
          </ac:picMkLst>
        </pc:picChg>
      </pc:sldChg>
      <pc:sldChg chg="add del">
        <pc:chgData name="Ouedraogo, Wendpaguidgdé Mike Andrew Livaid" userId="657501d1-fae0-45e0-aaf8-421b1a6c4560" providerId="ADAL" clId="{F3D42503-4681-4B6F-B981-3C3CE49453E4}" dt="2026-01-30T20:52:04.527" v="248" actId="47"/>
        <pc:sldMkLst>
          <pc:docMk/>
          <pc:sldMk cId="0" sldId="266"/>
        </pc:sldMkLst>
      </pc:sldChg>
      <pc:sldChg chg="modSp add del mod ord">
        <pc:chgData name="Ouedraogo, Wendpaguidgdé Mike Andrew Livaid" userId="657501d1-fae0-45e0-aaf8-421b1a6c4560" providerId="ADAL" clId="{F3D42503-4681-4B6F-B981-3C3CE49453E4}" dt="2026-01-30T07:19:34.696" v="69" actId="47"/>
        <pc:sldMkLst>
          <pc:docMk/>
          <pc:sldMk cId="2073133599" sldId="266"/>
        </pc:sldMkLst>
        <pc:spChg chg="mod">
          <ac:chgData name="Ouedraogo, Wendpaguidgdé Mike Andrew Livaid" userId="657501d1-fae0-45e0-aaf8-421b1a6c4560" providerId="ADAL" clId="{F3D42503-4681-4B6F-B981-3C3CE49453E4}" dt="2026-01-30T07:15:31.049" v="68" actId="20577"/>
          <ac:spMkLst>
            <pc:docMk/>
            <pc:sldMk cId="2073133599" sldId="266"/>
            <ac:spMk id="9" creationId="{EC7A68EF-A894-48FB-B346-C0D61E6D59CA}"/>
          </ac:spMkLst>
        </pc:spChg>
        <pc:graphicFrameChg chg="mod modGraphic">
          <ac:chgData name="Ouedraogo, Wendpaguidgdé Mike Andrew Livaid" userId="657501d1-fae0-45e0-aaf8-421b1a6c4560" providerId="ADAL" clId="{F3D42503-4681-4B6F-B981-3C3CE49453E4}" dt="2026-01-30T07:15:25.525" v="67" actId="20577"/>
          <ac:graphicFrameMkLst>
            <pc:docMk/>
            <pc:sldMk cId="2073133599" sldId="266"/>
            <ac:graphicFrameMk id="3" creationId="{3BB0909F-DC07-B455-8110-ABE512717AF3}"/>
          </ac:graphicFrameMkLst>
        </pc:graphicFrameChg>
      </pc:sldChg>
      <pc:sldMasterChg chg="add del addSldLayout delSldLayout">
        <pc:chgData name="Ouedraogo, Wendpaguidgdé Mike Andrew Livaid" userId="657501d1-fae0-45e0-aaf8-421b1a6c4560" providerId="ADAL" clId="{F3D42503-4681-4B6F-B981-3C3CE49453E4}" dt="2026-01-30T07:19:34.696" v="69" actId="47"/>
        <pc:sldMasterMkLst>
          <pc:docMk/>
          <pc:sldMasterMk cId="1506455966" sldId="2147483660"/>
        </pc:sldMasterMkLst>
        <pc:sldLayoutChg chg="add del">
          <pc:chgData name="Ouedraogo, Wendpaguidgdé Mike Andrew Livaid" userId="657501d1-fae0-45e0-aaf8-421b1a6c4560" providerId="ADAL" clId="{F3D42503-4681-4B6F-B981-3C3CE49453E4}" dt="2026-01-30T07:19:34.696" v="69" actId="47"/>
          <pc:sldLayoutMkLst>
            <pc:docMk/>
            <pc:sldMasterMk cId="1506455966" sldId="2147483660"/>
            <pc:sldLayoutMk cId="26855102"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1156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suis ravi de vous présenter aujourd'hui mon Projet de Fin d'Études, intitulé "Système de Détection et Comptage de Bovins par Vision par Ordinateur". Ce projet s'inscrit dans une démarche essentielle de modernisation de l'agriculture, visant à améliorer l'efficacité opérationnelle des élevages. Nous allons explorer comment l'intégration du Génie Électrique et de l'Intelligence Artificielle peut transformer la surveillance traditionnelle. Mon objectif est de vous démontrer la faisabilité et la pertinence d'un tel système de vision de précision. Commençons par le contexte qui a motivé cette recherche.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partons d'un constat simple : l'élevage moderne fait face à des défis critiques liés à la surveillance manuelle. Le dénombrement visuel par l'éleveur est lent, sujet aux erreurs et impossible à grande échelle. Il est tout simplement impossible de surveiller en permanence chaque animal, ce qui conduit à une densité difficile à évaluer. Notre opportunité technologique réside dans la Vision par Ordinateur. Nous pouvons automatiser la surveillance visuelle pour obtenir un comptage précis et instantané. Cela nous permet de générer une carte de densité, ou heatmap, pour une meilleure gestion spatiale. Mais concrètement, quels sont les objectifs précis de ce système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établi le contexte, définissons les objectifs précis de ce projet. Notre but est de développer un système de vision par ordinateur capable de fournir des données quantifiables sur le troupeau en temps réel. Cela se décline en trois objectifs majeurs. Premièrement, nous devons identifier chaque bovin présent dans le champ de vision avec une précision supérieure à 90%. Deuxièmement, le système doit dénombrer automatiquement les animaux et générer une carte de densité pour identifier les attroupements. Enfin, toute cette information doit être présentée sur un dashboard web avec une disponibilité 24/7. Ces objectifs nous obligent à faire des choix technologiques très précis, que nous allons détailler.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atteindre ces objectifs ambitieux, nous avons dû positionner notre solution dans l'état de l'art actuel de la Vision par Ordinateur. Nous avons opté pour YOLOv8, car c'est le modèle le plus performant pour le temps réel sur des plateformes embarquées, offrant le meilleur compromis entre vitesse et précision. Nous avons écarté des modèles plus lourds, qui ne seraient pas adaptés à l'Edge Computing. Le traitement local sur une plateforme comme la Jetson Nano est essentiel pour garantir une latence minimale et une autonomie totale. Notre innovation réside dans la visualisation : nous ne fournissons pas un simple compteur, mais une carte de densité générée par l'accumulation des positions détectées. Ces choix nous mènent à l'architecture simplifiée que voici.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simplifiée de notre solution, qui repose entièrement sur l'Edge Computing. Le principe est de garantir une autonomie totale et une latence minimale. Le système fonctionne en trois étapes. D'abord, l'Acquisition, où la caméra IP fournit le flux vidéo en continu. Ensuite, le Traitement IA, qui est le cœur du système. Une unité comme une Jetson exécute le modèle YOLOv8 pour l'inférence, assurant la détection et le comptage. Enfin, la Visualisation est assurée par une interface web locale, affichant le flux annoté et la heatmap interactive. L'avantage majeur de cette architecture est qu'elle est 100% locale, assurant une robustesse essentielle dans un environnement agricole. Maintenant, regardons les technologies spécifiques qui composent ce système.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concrétiser notre architecture, nous avons sélectionné un ensemble de technologies robustes et entièrement open source. Ce choix est fondamental pour garantir la flexibilité et minimiser les coûts de développement. Nous nous appuyons sur YOLOv8 pour la vision par ordinateur, qui est l'état de l'art pour la détection en temps réel avec une grande précision. OpenCV est essentiel pour le prétraitement des images et la génération des cartes thermiques de densité. L'ensemble du système est développé en Python, profitant de son écosystème riche pour l'IA. Enfin, Flask nous permet de créer un tableau de bord web léger pour la visualisation locale des résultats. Ces technologies forment la base solide et évolutive de notre système. Maintenant, voyons comment nous allons organiser le travail pour respecter les délais.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méthodologie est structurée en cinq phases distinctes sur une période de dix-neuf semaines, ce qui assure une progression logique et mesurable. La première phase est dédiée à la conception et à la mise en place de l'environnement de travail. Ensuite, la phase cruciale d'acquisition de données nous permettra de créer un dataset spécifique à notre contexte d'élevage. Les phases trois et quatre sont centrées sur l'entraînement du modèle d'IA et l'intégration de tous les composants, notamment le développement du tableau de bord. Enfin, la dernière phase est consacrée aux tests rigoureux en conditions réelles et à la documentation finale. Ce planning est validé et nous permet d'atteindre notre cible d'implémentation dans les temps. Voyons concrètement ce que nous allons produire.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méthodologie structurée aboutit à des livrables précis, divisés en deux catégories essentielles : les livrables techniques et les livrables académiques. Sur le plan technique, nous fournirons le modèle YOLOv8 entraîné et optimisé, ainsi que le script Python complet pour l'inférence, le comptage et la génération de heatmap. Un tableau de bord web fonctionnel sera également livré pour la visualisation en temps réel. Sur le plan académique, le rapport de PFE détaillé et le dataset annoté constituent les documents officiels. L'ensemble du code sera hébergé sur GitHub, garantissant la traçabilité et la reproductibilité de notre travail. Mais comme tout projet d'envergure, nous devons anticiper les difficultés.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projet d'ingénierie comporte des risques, et nous avons identifié quatre obstacles majeurs avec des stratégies de mitigation claires. Le risque le plus critique concerne l'accès aux données réelles de la ferme, que nous atténuerons en utilisant des datasets publics et des vidéos pour l'entraînement initial. Si la performance de l'unité de calcul est insuffisante, nous basculerons sur une version plus légère du modèle YOLOv8 ou réduirons la résolution d'entrée. Un risque élevé est le manque de temps pour l'annotation, que nous allons accélérer avec des outils d'annotation assistée par IA. Enfin, nous avons des solutions de rechange pour le matériel en cas de dépassement budgétaire. Cette approche proactive nous permet de naviguer avec confiance vers la conclusion.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ce projet de fin d'études est à la fois réaliste, utile et complet, mobilisant l'ensemble des compétences acquises durant notre baccalauréat. Nous proposons une architecture Edge Computing autonome qui répond directement aux besoins de l'élevage moderne en matière de surveillance et d'analyse de densité. Le planning est validé, le budget est optimisé, et nous sommes prêts à démarrer l'implémentation. Ce travail démontre notre capacité à intégrer des technologies de pointe, de la vision par ordinateur aux systèmes embarqués, pour résoudre un problème concret de l'industrie. Je vous remercie de votre attention. Je suis maintenant disponible pour répondre à toutes vos questions concernant ce projet.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492369" y="84406"/>
            <a:ext cx="4572000" cy="5143500"/>
          </a:xfrm>
          <a:prstGeom prst="rect">
            <a:avLst/>
          </a:prstGeom>
          <a:solidFill>
            <a:srgbClr val="FFFFFF"/>
          </a:solidFill>
          <a:ln/>
        </p:spPr>
        <p:txBody>
          <a:bodyPr/>
          <a:lstStyle/>
          <a:p>
            <a:endParaRPr lang="fr-CA" dirty="0"/>
          </a:p>
        </p:txBody>
      </p:sp>
      <p:sp>
        <p:nvSpPr>
          <p:cNvPr id="5" name="Shape 1"/>
          <p:cNvSpPr/>
          <p:nvPr/>
        </p:nvSpPr>
        <p:spPr>
          <a:xfrm>
            <a:off x="3500354" y="285750"/>
            <a:ext cx="785896" cy="250031"/>
          </a:xfrm>
          <a:prstGeom prst="rect">
            <a:avLst/>
          </a:prstGeom>
          <a:solidFill>
            <a:srgbClr val="F0F0F0"/>
          </a:solidFill>
          <a:ln/>
        </p:spPr>
        <p:txBody>
          <a:bodyPr/>
          <a:lstStyle/>
          <a:p>
            <a:endParaRPr lang="fr-CA"/>
          </a:p>
        </p:txBody>
      </p:sp>
      <p:sp>
        <p:nvSpPr>
          <p:cNvPr id="6" name="Text 2"/>
          <p:cNvSpPr/>
          <p:nvPr/>
        </p:nvSpPr>
        <p:spPr>
          <a:xfrm>
            <a:off x="3500354" y="285750"/>
            <a:ext cx="785896" cy="250031"/>
          </a:xfrm>
          <a:prstGeom prst="rect">
            <a:avLst/>
          </a:prstGeom>
          <a:noFill/>
          <a:ln/>
        </p:spPr>
        <p:txBody>
          <a:bodyPr wrap="square" lIns="136017" tIns="68072" rIns="136017" bIns="68072" rtlCol="0" anchor="t">
            <a:spAutoFit/>
          </a:bodyPr>
          <a:lstStyle/>
          <a:p>
            <a:pPr marL="0" indent="0" algn="l">
              <a:lnSpc>
                <a:spcPts val="900"/>
              </a:lnSpc>
              <a:buNone/>
            </a:pPr>
            <a:r>
              <a:rPr lang="en-US" sz="683" b="1" dirty="0">
                <a:solidFill>
                  <a:srgbClr val="003366"/>
                </a:solidFill>
              </a:rPr>
              <a:t>HIVER 2026</a:t>
            </a:r>
            <a:endParaRPr lang="en-US" sz="683" dirty="0"/>
          </a:p>
        </p:txBody>
      </p:sp>
      <p:sp>
        <p:nvSpPr>
          <p:cNvPr id="7" name="Text 3"/>
          <p:cNvSpPr/>
          <p:nvPr/>
        </p:nvSpPr>
        <p:spPr>
          <a:xfrm>
            <a:off x="428625" y="914400"/>
            <a:ext cx="3714750" cy="1210973"/>
          </a:xfrm>
          <a:prstGeom prst="rect">
            <a:avLst/>
          </a:prstGeom>
          <a:noFill/>
          <a:ln/>
        </p:spPr>
        <p:txBody>
          <a:bodyPr wrap="square" lIns="0" tIns="0" rIns="0" bIns="0" rtlCol="0" anchor="t">
            <a:spAutoFit/>
          </a:bodyPr>
          <a:lstStyle/>
          <a:p>
            <a:pPr>
              <a:lnSpc>
                <a:spcPts val="3200"/>
              </a:lnSpc>
            </a:pPr>
            <a:r>
              <a:rPr lang="en-US" sz="2436" b="1" dirty="0">
                <a:solidFill>
                  <a:srgbClr val="003366"/>
                </a:solidFill>
              </a:rPr>
              <a:t>Système de Surveillance Bovine </a:t>
            </a:r>
            <a:r>
              <a:rPr lang="en-US" sz="2436" b="1" dirty="0" err="1">
                <a:solidFill>
                  <a:srgbClr val="003366"/>
                </a:solidFill>
              </a:rPr>
              <a:t>en</a:t>
            </a:r>
            <a:r>
              <a:rPr lang="en-US" sz="2436" b="1" dirty="0">
                <a:solidFill>
                  <a:srgbClr val="003366"/>
                </a:solidFill>
              </a:rPr>
              <a:t> Temps </a:t>
            </a:r>
            <a:r>
              <a:rPr lang="en-US" sz="2436" b="1" dirty="0" err="1">
                <a:solidFill>
                  <a:srgbClr val="003366"/>
                </a:solidFill>
              </a:rPr>
              <a:t>Réel</a:t>
            </a:r>
            <a:endParaRPr lang="en-US" sz="2436" dirty="0"/>
          </a:p>
          <a:p>
            <a:pPr marL="0" indent="0" algn="l">
              <a:lnSpc>
                <a:spcPts val="3200"/>
              </a:lnSpc>
              <a:buNone/>
            </a:pPr>
            <a:endParaRPr lang="en-US" sz="2436" dirty="0"/>
          </a:p>
        </p:txBody>
      </p:sp>
      <p:sp>
        <p:nvSpPr>
          <p:cNvPr id="8" name="Text 4"/>
          <p:cNvSpPr/>
          <p:nvPr/>
        </p:nvSpPr>
        <p:spPr>
          <a:xfrm>
            <a:off x="428624" y="3114591"/>
            <a:ext cx="2680335" cy="402033"/>
          </a:xfrm>
          <a:prstGeom prst="rect">
            <a:avLst/>
          </a:prstGeom>
          <a:noFill/>
          <a:ln/>
        </p:spPr>
        <p:txBody>
          <a:bodyPr wrap="square" lIns="0" tIns="0" rIns="0" bIns="0" rtlCol="0" anchor="t">
            <a:spAutoFit/>
          </a:bodyPr>
          <a:lstStyle/>
          <a:p>
            <a:pPr>
              <a:lnSpc>
                <a:spcPts val="1600"/>
              </a:lnSpc>
            </a:pPr>
            <a:r>
              <a:rPr lang="en-US" sz="1269" b="1" dirty="0"/>
              <a:t>GEI1052 </a:t>
            </a:r>
            <a:r>
              <a:rPr lang="en-US" sz="1269" b="1" dirty="0" err="1"/>
              <a:t>Activités</a:t>
            </a:r>
            <a:r>
              <a:rPr lang="en-US" sz="1269" b="1" dirty="0"/>
              <a:t> de </a:t>
            </a:r>
            <a:r>
              <a:rPr lang="en-US" sz="1269" b="1" dirty="0" err="1"/>
              <a:t>synthèse</a:t>
            </a:r>
            <a:endParaRPr lang="en-US" sz="1269" b="1" dirty="0"/>
          </a:p>
          <a:p>
            <a:pPr marL="0" indent="0" algn="l">
              <a:lnSpc>
                <a:spcPts val="1600"/>
              </a:lnSpc>
              <a:buNone/>
            </a:pPr>
            <a:endParaRPr lang="en-US" sz="1269" dirty="0"/>
          </a:p>
        </p:txBody>
      </p:sp>
      <p:sp>
        <p:nvSpPr>
          <p:cNvPr id="9" name="Text 5"/>
          <p:cNvSpPr/>
          <p:nvPr/>
        </p:nvSpPr>
        <p:spPr>
          <a:xfrm>
            <a:off x="600075" y="4186238"/>
            <a:ext cx="732573" cy="168059"/>
          </a:xfrm>
          <a:prstGeom prst="rect">
            <a:avLst/>
          </a:prstGeom>
          <a:noFill/>
          <a:ln/>
        </p:spPr>
        <p:txBody>
          <a:bodyPr wrap="none" lIns="0" tIns="0" rIns="0" bIns="0" rtlCol="0" anchor="t">
            <a:spAutoFit/>
          </a:bodyPr>
          <a:lstStyle/>
          <a:p>
            <a:pPr>
              <a:lnSpc>
                <a:spcPts val="1400"/>
              </a:lnSpc>
            </a:pPr>
            <a:r>
              <a:rPr lang="en-US" sz="987" b="1" dirty="0">
                <a:solidFill>
                  <a:srgbClr val="333333"/>
                </a:solidFill>
              </a:rPr>
              <a:t>Présenté par :</a:t>
            </a:r>
            <a:endParaRPr lang="en-US" sz="987" dirty="0"/>
          </a:p>
        </p:txBody>
      </p:sp>
      <p:sp>
        <p:nvSpPr>
          <p:cNvPr id="10" name="Text 6"/>
          <p:cNvSpPr/>
          <p:nvPr/>
        </p:nvSpPr>
        <p:spPr>
          <a:xfrm>
            <a:off x="600075" y="4416623"/>
            <a:ext cx="1428276" cy="698333"/>
          </a:xfrm>
          <a:prstGeom prst="rect">
            <a:avLst/>
          </a:prstGeom>
          <a:noFill/>
          <a:ln/>
        </p:spPr>
        <p:txBody>
          <a:bodyPr wrap="none" lIns="0" tIns="0" rIns="0" bIns="0" rtlCol="0" anchor="t">
            <a:spAutoFit/>
          </a:bodyPr>
          <a:lstStyle/>
          <a:p>
            <a:pPr marL="0" indent="0" algn="l">
              <a:lnSpc>
                <a:spcPts val="1100"/>
              </a:lnSpc>
              <a:buNone/>
            </a:pPr>
            <a:r>
              <a:rPr lang="en-US" sz="834" dirty="0">
                <a:solidFill>
                  <a:srgbClr val="666666"/>
                </a:solidFill>
              </a:rPr>
              <a:t>Baccalauréat en Génie </a:t>
            </a:r>
            <a:r>
              <a:rPr lang="en-US" sz="834" dirty="0" err="1">
                <a:solidFill>
                  <a:srgbClr val="666666"/>
                </a:solidFill>
              </a:rPr>
              <a:t>Électrique</a:t>
            </a:r>
            <a:endParaRPr lang="en-US" sz="834" dirty="0">
              <a:solidFill>
                <a:srgbClr val="666666"/>
              </a:solidFill>
            </a:endParaRPr>
          </a:p>
          <a:p>
            <a:pPr marL="0" indent="0" algn="l">
              <a:lnSpc>
                <a:spcPts val="1100"/>
              </a:lnSpc>
              <a:buNone/>
            </a:pPr>
            <a:endParaRPr lang="en-US" sz="834" dirty="0">
              <a:solidFill>
                <a:srgbClr val="666666"/>
              </a:solidFill>
            </a:endParaRPr>
          </a:p>
          <a:p>
            <a:pPr>
              <a:lnSpc>
                <a:spcPts val="1100"/>
              </a:lnSpc>
            </a:pPr>
            <a:r>
              <a:rPr lang="en-US" sz="900" b="1" dirty="0" err="1">
                <a:solidFill>
                  <a:srgbClr val="333333"/>
                </a:solidFill>
              </a:rPr>
              <a:t>Professeur</a:t>
            </a:r>
            <a:r>
              <a:rPr lang="en-US" sz="900" b="1">
                <a:solidFill>
                  <a:srgbClr val="333333"/>
                </a:solidFill>
              </a:rPr>
              <a:t> :</a:t>
            </a:r>
            <a:endParaRPr lang="en-US" sz="834" dirty="0">
              <a:solidFill>
                <a:srgbClr val="666666"/>
              </a:solidFill>
            </a:endParaRPr>
          </a:p>
          <a:p>
            <a:pPr marL="0" indent="0" algn="l">
              <a:lnSpc>
                <a:spcPts val="1100"/>
              </a:lnSpc>
              <a:buNone/>
            </a:pPr>
            <a:endParaRPr lang="en-US" sz="834" dirty="0">
              <a:solidFill>
                <a:srgbClr val="666666"/>
              </a:solidFill>
            </a:endParaRPr>
          </a:p>
          <a:p>
            <a:pPr marL="0" indent="0" algn="l">
              <a:lnSpc>
                <a:spcPts val="1100"/>
              </a:lnSpc>
              <a:buNone/>
            </a:pPr>
            <a:endParaRPr lang="en-US" sz="834" dirty="0"/>
          </a:p>
        </p:txBody>
      </p:sp>
      <p:sp>
        <p:nvSpPr>
          <p:cNvPr id="11" name="Shape 7"/>
          <p:cNvSpPr/>
          <p:nvPr/>
        </p:nvSpPr>
        <p:spPr>
          <a:xfrm>
            <a:off x="4572000" y="0"/>
            <a:ext cx="4572000" cy="3462933"/>
          </a:xfrm>
          <a:prstGeom prst="rect">
            <a:avLst/>
          </a:prstGeom>
          <a:solidFill>
            <a:srgbClr val="000000"/>
          </a:solidFill>
          <a:ln/>
        </p:spPr>
        <p:txBody>
          <a:bodyPr/>
          <a:lstStyle/>
          <a:p>
            <a:endParaRPr lang="fr-CA"/>
          </a:p>
        </p:txBody>
      </p:sp>
      <p:pic>
        <p:nvPicPr>
          <p:cNvPr id="12" name="Image 1" descr="preencoded.png"/>
          <p:cNvPicPr>
            <a:picLocks noChangeAspect="1"/>
          </p:cNvPicPr>
          <p:nvPr/>
        </p:nvPicPr>
        <p:blipFill>
          <a:blip r:embed="rId4">
            <a:alphaModFix amt="80000"/>
          </a:blip>
          <a:stretch>
            <a:fillRect/>
          </a:stretch>
        </p:blipFill>
        <p:spPr>
          <a:xfrm>
            <a:off x="4572000" y="0"/>
            <a:ext cx="4572000" cy="3429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41164"/>
          </a:xfrm>
          <a:prstGeom prst="rect">
            <a:avLst/>
          </a:prstGeom>
          <a:solidFill>
            <a:srgbClr val="003366"/>
          </a:solidFill>
          <a:ln/>
        </p:spPr>
        <p:txBody>
          <a:bodyPr/>
          <a:lstStyle/>
          <a:p>
            <a:endParaRPr lang="fr-CA"/>
          </a:p>
        </p:txBody>
      </p:sp>
      <p:sp>
        <p:nvSpPr>
          <p:cNvPr id="5" name="Text 1"/>
          <p:cNvSpPr/>
          <p:nvPr/>
        </p:nvSpPr>
        <p:spPr>
          <a:xfrm>
            <a:off x="428625" y="214313"/>
            <a:ext cx="3081998"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Contexte et Problématique</a:t>
            </a:r>
            <a:endParaRPr lang="en-US" sz="1602" dirty="0"/>
          </a:p>
        </p:txBody>
      </p:sp>
      <p:sp>
        <p:nvSpPr>
          <p:cNvPr id="6" name="Text 2"/>
          <p:cNvSpPr/>
          <p:nvPr/>
        </p:nvSpPr>
        <p:spPr>
          <a:xfrm>
            <a:off x="8351881" y="292894"/>
            <a:ext cx="363494"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2E8B57"/>
                </a:solidFill>
              </a:rPr>
              <a:t>02 / 10</a:t>
            </a:r>
            <a:endParaRPr lang="en-US" sz="834" dirty="0"/>
          </a:p>
        </p:txBody>
      </p:sp>
      <p:pic>
        <p:nvPicPr>
          <p:cNvPr id="7" name="Image 1" descr="preencoded.png"/>
          <p:cNvPicPr>
            <a:picLocks noChangeAspect="1"/>
          </p:cNvPicPr>
          <p:nvPr/>
        </p:nvPicPr>
        <p:blipFill>
          <a:blip r:embed="rId4"/>
          <a:stretch>
            <a:fillRect/>
          </a:stretch>
        </p:blipFill>
        <p:spPr>
          <a:xfrm>
            <a:off x="428625" y="915293"/>
            <a:ext cx="171450" cy="171450"/>
          </a:xfrm>
          <a:prstGeom prst="rect">
            <a:avLst/>
          </a:prstGeom>
        </p:spPr>
      </p:pic>
      <p:sp>
        <p:nvSpPr>
          <p:cNvPr id="8" name="Text 3"/>
          <p:cNvSpPr/>
          <p:nvPr/>
        </p:nvSpPr>
        <p:spPr>
          <a:xfrm>
            <a:off x="707231" y="884039"/>
            <a:ext cx="1108956"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CC0000"/>
                </a:solidFill>
              </a:rPr>
              <a:t>Défis Actuels</a:t>
            </a:r>
            <a:endParaRPr lang="en-US" sz="1193" dirty="0"/>
          </a:p>
        </p:txBody>
      </p:sp>
      <p:sp>
        <p:nvSpPr>
          <p:cNvPr id="9" name="Shape 4"/>
          <p:cNvSpPr/>
          <p:nvPr/>
        </p:nvSpPr>
        <p:spPr>
          <a:xfrm>
            <a:off x="428625" y="1260872"/>
            <a:ext cx="3929063" cy="744345"/>
          </a:xfrm>
          <a:prstGeom prst="rect">
            <a:avLst/>
          </a:prstGeom>
          <a:solidFill>
            <a:srgbClr val="F9F9F9"/>
          </a:solidFill>
          <a:ln/>
        </p:spPr>
        <p:txBody>
          <a:bodyPr/>
          <a:lstStyle/>
          <a:p>
            <a:endParaRPr lang="fr-CA"/>
          </a:p>
        </p:txBody>
      </p:sp>
      <p:sp>
        <p:nvSpPr>
          <p:cNvPr id="10" name="Shape 5"/>
          <p:cNvSpPr/>
          <p:nvPr/>
        </p:nvSpPr>
        <p:spPr>
          <a:xfrm>
            <a:off x="428625" y="1260872"/>
            <a:ext cx="28575" cy="744345"/>
          </a:xfrm>
          <a:prstGeom prst="rect">
            <a:avLst/>
          </a:prstGeom>
          <a:solidFill>
            <a:srgbClr val="CC0000"/>
          </a:solidFill>
          <a:ln/>
        </p:spPr>
        <p:txBody>
          <a:bodyPr/>
          <a:lstStyle/>
          <a:p>
            <a:endParaRPr lang="fr-CA"/>
          </a:p>
        </p:txBody>
      </p:sp>
      <p:pic>
        <p:nvPicPr>
          <p:cNvPr id="11" name="Image 2" descr="preencoded.png"/>
          <p:cNvPicPr>
            <a:picLocks noChangeAspect="1"/>
          </p:cNvPicPr>
          <p:nvPr/>
        </p:nvPicPr>
        <p:blipFill>
          <a:blip r:embed="rId5"/>
          <a:stretch>
            <a:fillRect/>
          </a:stretch>
        </p:blipFill>
        <p:spPr>
          <a:xfrm>
            <a:off x="542925" y="1396603"/>
            <a:ext cx="178594" cy="142875"/>
          </a:xfrm>
          <a:prstGeom prst="rect">
            <a:avLst/>
          </a:prstGeom>
        </p:spPr>
      </p:pic>
      <p:sp>
        <p:nvSpPr>
          <p:cNvPr id="12" name="Text 6"/>
          <p:cNvSpPr/>
          <p:nvPr/>
        </p:nvSpPr>
        <p:spPr>
          <a:xfrm>
            <a:off x="828675" y="1375172"/>
            <a:ext cx="3414713" cy="160009"/>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222222"/>
                </a:solidFill>
              </a:rPr>
              <a:t>Comptage Manuel Fastidieux</a:t>
            </a:r>
            <a:endParaRPr lang="en-US" sz="784" dirty="0"/>
          </a:p>
        </p:txBody>
      </p:sp>
      <p:sp>
        <p:nvSpPr>
          <p:cNvPr id="13" name="Text 7"/>
          <p:cNvSpPr/>
          <p:nvPr/>
        </p:nvSpPr>
        <p:spPr>
          <a:xfrm>
            <a:off x="828675" y="1572685"/>
            <a:ext cx="2992617" cy="15537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44444"/>
                </a:solidFill>
              </a:rPr>
              <a:t>Le dénombrement visuel par l'éleveur est lent, sujet aux</a:t>
            </a:r>
            <a:endParaRPr lang="en-US" sz="834" dirty="0"/>
          </a:p>
        </p:txBody>
      </p:sp>
      <p:sp>
        <p:nvSpPr>
          <p:cNvPr id="14" name="Text 8"/>
          <p:cNvSpPr/>
          <p:nvPr/>
        </p:nvSpPr>
        <p:spPr>
          <a:xfrm>
            <a:off x="828675" y="1732694"/>
            <a:ext cx="2084384" cy="15537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44444"/>
                </a:solidFill>
              </a:rPr>
              <a:t>erreurs et impossible à grande échelle.</a:t>
            </a:r>
            <a:endParaRPr lang="en-US" sz="834" dirty="0"/>
          </a:p>
        </p:txBody>
      </p:sp>
      <p:sp>
        <p:nvSpPr>
          <p:cNvPr id="15" name="Shape 9"/>
          <p:cNvSpPr/>
          <p:nvPr/>
        </p:nvSpPr>
        <p:spPr>
          <a:xfrm>
            <a:off x="428625" y="2090942"/>
            <a:ext cx="3929063" cy="744345"/>
          </a:xfrm>
          <a:prstGeom prst="rect">
            <a:avLst/>
          </a:prstGeom>
          <a:solidFill>
            <a:srgbClr val="F9F9F9"/>
          </a:solidFill>
          <a:ln/>
        </p:spPr>
        <p:txBody>
          <a:bodyPr/>
          <a:lstStyle/>
          <a:p>
            <a:endParaRPr lang="fr-CA"/>
          </a:p>
        </p:txBody>
      </p:sp>
      <p:sp>
        <p:nvSpPr>
          <p:cNvPr id="16" name="Shape 10"/>
          <p:cNvSpPr/>
          <p:nvPr/>
        </p:nvSpPr>
        <p:spPr>
          <a:xfrm>
            <a:off x="428625" y="2090942"/>
            <a:ext cx="28575" cy="744345"/>
          </a:xfrm>
          <a:prstGeom prst="rect">
            <a:avLst/>
          </a:prstGeom>
          <a:solidFill>
            <a:srgbClr val="CC0000"/>
          </a:solidFill>
          <a:ln/>
        </p:spPr>
        <p:txBody>
          <a:bodyPr/>
          <a:lstStyle/>
          <a:p>
            <a:endParaRPr lang="fr-CA"/>
          </a:p>
        </p:txBody>
      </p:sp>
      <p:pic>
        <p:nvPicPr>
          <p:cNvPr id="17" name="Image 3" descr="preencoded.png"/>
          <p:cNvPicPr>
            <a:picLocks noChangeAspect="1"/>
          </p:cNvPicPr>
          <p:nvPr/>
        </p:nvPicPr>
        <p:blipFill>
          <a:blip r:embed="rId6"/>
          <a:stretch>
            <a:fillRect/>
          </a:stretch>
        </p:blipFill>
        <p:spPr>
          <a:xfrm>
            <a:off x="542925" y="2226673"/>
            <a:ext cx="178594" cy="142875"/>
          </a:xfrm>
          <a:prstGeom prst="rect">
            <a:avLst/>
          </a:prstGeom>
        </p:spPr>
      </p:pic>
      <p:sp>
        <p:nvSpPr>
          <p:cNvPr id="18" name="Text 11"/>
          <p:cNvSpPr/>
          <p:nvPr/>
        </p:nvSpPr>
        <p:spPr>
          <a:xfrm>
            <a:off x="828675" y="2205242"/>
            <a:ext cx="3414713" cy="160009"/>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222222"/>
                </a:solidFill>
              </a:rPr>
              <a:t>Densité Difficile à Évaluer</a:t>
            </a:r>
            <a:endParaRPr lang="en-US" sz="784" dirty="0"/>
          </a:p>
        </p:txBody>
      </p:sp>
      <p:sp>
        <p:nvSpPr>
          <p:cNvPr id="19" name="Text 12"/>
          <p:cNvSpPr/>
          <p:nvPr/>
        </p:nvSpPr>
        <p:spPr>
          <a:xfrm>
            <a:off x="828675" y="2402756"/>
            <a:ext cx="3075942" cy="15537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44444"/>
                </a:solidFill>
              </a:rPr>
              <a:t>Identifier les zones de surpeuplement ou d'attroupement</a:t>
            </a:r>
            <a:endParaRPr lang="en-US" sz="834" dirty="0"/>
          </a:p>
        </p:txBody>
      </p:sp>
      <p:sp>
        <p:nvSpPr>
          <p:cNvPr id="20" name="Text 13"/>
          <p:cNvSpPr/>
          <p:nvPr/>
        </p:nvSpPr>
        <p:spPr>
          <a:xfrm>
            <a:off x="828675" y="2562765"/>
            <a:ext cx="2475756" cy="15537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44444"/>
                </a:solidFill>
              </a:rPr>
              <a:t>anormal nécessite une observation constante.</a:t>
            </a:r>
            <a:endParaRPr lang="en-US" sz="834" dirty="0"/>
          </a:p>
        </p:txBody>
      </p:sp>
      <p:pic>
        <p:nvPicPr>
          <p:cNvPr id="21" name="Image 4" descr="preencoded.png"/>
          <p:cNvPicPr>
            <a:picLocks noChangeAspect="1"/>
          </p:cNvPicPr>
          <p:nvPr/>
        </p:nvPicPr>
        <p:blipFill>
          <a:blip r:embed="rId7"/>
          <a:stretch>
            <a:fillRect/>
          </a:stretch>
        </p:blipFill>
        <p:spPr>
          <a:xfrm>
            <a:off x="435769" y="3056744"/>
            <a:ext cx="3914775" cy="842963"/>
          </a:xfrm>
          <a:prstGeom prst="rect">
            <a:avLst/>
          </a:prstGeom>
        </p:spPr>
      </p:pic>
      <p:sp>
        <p:nvSpPr>
          <p:cNvPr id="22" name="Shape 14"/>
          <p:cNvSpPr/>
          <p:nvPr/>
        </p:nvSpPr>
        <p:spPr>
          <a:xfrm>
            <a:off x="435769" y="3712183"/>
            <a:ext cx="1744498" cy="187523"/>
          </a:xfrm>
          <a:prstGeom prst="rect">
            <a:avLst/>
          </a:prstGeom>
          <a:solidFill>
            <a:srgbClr val="000000">
              <a:alpha val="70000"/>
            </a:srgbClr>
          </a:solidFill>
          <a:ln/>
        </p:spPr>
        <p:txBody>
          <a:bodyPr/>
          <a:lstStyle/>
          <a:p>
            <a:endParaRPr lang="fr-CA"/>
          </a:p>
        </p:txBody>
      </p:sp>
      <p:sp>
        <p:nvSpPr>
          <p:cNvPr id="23" name="Text 15"/>
          <p:cNvSpPr/>
          <p:nvPr/>
        </p:nvSpPr>
        <p:spPr>
          <a:xfrm>
            <a:off x="435769" y="3712183"/>
            <a:ext cx="1744498" cy="187523"/>
          </a:xfrm>
          <a:prstGeom prst="rect">
            <a:avLst/>
          </a:prstGeom>
          <a:noFill/>
          <a:ln/>
        </p:spPr>
        <p:txBody>
          <a:bodyPr wrap="square" lIns="85090" tIns="42545" rIns="85090" bIns="42545" rtlCol="0" anchor="t">
            <a:spAutoFit/>
          </a:bodyPr>
          <a:lstStyle/>
          <a:p>
            <a:pPr marL="0" indent="0" algn="l">
              <a:lnSpc>
                <a:spcPts val="800"/>
              </a:lnSpc>
              <a:buNone/>
            </a:pPr>
            <a:r>
              <a:rPr lang="en-US" sz="621" dirty="0">
                <a:solidFill>
                  <a:srgbClr val="FFFFFF"/>
                </a:solidFill>
              </a:rPr>
              <a:t>ENVIRONNEMENT COMPLEXE ET DENSE</a:t>
            </a:r>
            <a:endParaRPr lang="en-US" sz="621" dirty="0"/>
          </a:p>
        </p:txBody>
      </p:sp>
      <p:pic>
        <p:nvPicPr>
          <p:cNvPr id="24" name="Image 5" descr="preencoded.png"/>
          <p:cNvPicPr>
            <a:picLocks noChangeAspect="1"/>
          </p:cNvPicPr>
          <p:nvPr/>
        </p:nvPicPr>
        <p:blipFill>
          <a:blip r:embed="rId8"/>
          <a:stretch>
            <a:fillRect/>
          </a:stretch>
        </p:blipFill>
        <p:spPr>
          <a:xfrm>
            <a:off x="4786313" y="915293"/>
            <a:ext cx="128588" cy="171450"/>
          </a:xfrm>
          <a:prstGeom prst="rect">
            <a:avLst/>
          </a:prstGeom>
        </p:spPr>
      </p:pic>
      <p:sp>
        <p:nvSpPr>
          <p:cNvPr id="25" name="Text 16"/>
          <p:cNvSpPr/>
          <p:nvPr/>
        </p:nvSpPr>
        <p:spPr>
          <a:xfrm>
            <a:off x="5022056" y="884039"/>
            <a:ext cx="235967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E8B57"/>
                </a:solidFill>
              </a:rPr>
              <a:t>Opportunité Technologique</a:t>
            </a:r>
            <a:endParaRPr lang="en-US" sz="1193" dirty="0"/>
          </a:p>
        </p:txBody>
      </p:sp>
      <p:sp>
        <p:nvSpPr>
          <p:cNvPr id="26" name="Shape 17"/>
          <p:cNvSpPr/>
          <p:nvPr/>
        </p:nvSpPr>
        <p:spPr>
          <a:xfrm>
            <a:off x="4786313" y="1260872"/>
            <a:ext cx="3929063" cy="744345"/>
          </a:xfrm>
          <a:prstGeom prst="rect">
            <a:avLst/>
          </a:prstGeom>
          <a:solidFill>
            <a:srgbClr val="F9F9F9"/>
          </a:solidFill>
          <a:ln/>
        </p:spPr>
        <p:txBody>
          <a:bodyPr/>
          <a:lstStyle/>
          <a:p>
            <a:endParaRPr lang="fr-CA"/>
          </a:p>
        </p:txBody>
      </p:sp>
      <p:sp>
        <p:nvSpPr>
          <p:cNvPr id="27" name="Shape 18"/>
          <p:cNvSpPr/>
          <p:nvPr/>
        </p:nvSpPr>
        <p:spPr>
          <a:xfrm>
            <a:off x="4786313" y="1260872"/>
            <a:ext cx="28575" cy="744345"/>
          </a:xfrm>
          <a:prstGeom prst="rect">
            <a:avLst/>
          </a:prstGeom>
          <a:solidFill>
            <a:srgbClr val="2E8B57"/>
          </a:solidFill>
          <a:ln/>
        </p:spPr>
        <p:txBody>
          <a:bodyPr/>
          <a:lstStyle/>
          <a:p>
            <a:endParaRPr lang="fr-CA"/>
          </a:p>
        </p:txBody>
      </p:sp>
      <p:pic>
        <p:nvPicPr>
          <p:cNvPr id="28" name="Image 6" descr="preencoded.png"/>
          <p:cNvPicPr>
            <a:picLocks noChangeAspect="1"/>
          </p:cNvPicPr>
          <p:nvPr/>
        </p:nvPicPr>
        <p:blipFill>
          <a:blip r:embed="rId9"/>
          <a:stretch>
            <a:fillRect/>
          </a:stretch>
        </p:blipFill>
        <p:spPr>
          <a:xfrm>
            <a:off x="4900613" y="1396603"/>
            <a:ext cx="142875" cy="142875"/>
          </a:xfrm>
          <a:prstGeom prst="rect">
            <a:avLst/>
          </a:prstGeom>
        </p:spPr>
      </p:pic>
      <p:sp>
        <p:nvSpPr>
          <p:cNvPr id="29" name="Text 19"/>
          <p:cNvSpPr/>
          <p:nvPr/>
        </p:nvSpPr>
        <p:spPr>
          <a:xfrm>
            <a:off x="5150644" y="1375172"/>
            <a:ext cx="3450431" cy="160009"/>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222222"/>
                </a:solidFill>
              </a:rPr>
              <a:t>Vision par Ordinateur</a:t>
            </a:r>
            <a:endParaRPr lang="en-US" sz="784" dirty="0"/>
          </a:p>
        </p:txBody>
      </p:sp>
      <p:sp>
        <p:nvSpPr>
          <p:cNvPr id="30" name="Text 20"/>
          <p:cNvSpPr/>
          <p:nvPr/>
        </p:nvSpPr>
        <p:spPr>
          <a:xfrm>
            <a:off x="5150644" y="1572685"/>
            <a:ext cx="3414936" cy="15537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44444"/>
                </a:solidFill>
              </a:rPr>
              <a:t>Détection automatique et en temps réel de chaque animal dans</a:t>
            </a:r>
            <a:endParaRPr lang="en-US" sz="834" dirty="0"/>
          </a:p>
        </p:txBody>
      </p:sp>
      <p:sp>
        <p:nvSpPr>
          <p:cNvPr id="31" name="Text 21"/>
          <p:cNvSpPr/>
          <p:nvPr/>
        </p:nvSpPr>
        <p:spPr>
          <a:xfrm>
            <a:off x="5150644" y="1732694"/>
            <a:ext cx="1026886" cy="15537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44444"/>
                </a:solidFill>
              </a:rPr>
              <a:t>le champ de vision.</a:t>
            </a:r>
            <a:endParaRPr lang="en-US" sz="834" dirty="0"/>
          </a:p>
        </p:txBody>
      </p:sp>
      <p:sp>
        <p:nvSpPr>
          <p:cNvPr id="32" name="Shape 22"/>
          <p:cNvSpPr/>
          <p:nvPr/>
        </p:nvSpPr>
        <p:spPr>
          <a:xfrm>
            <a:off x="4786313" y="2090942"/>
            <a:ext cx="3929063" cy="584336"/>
          </a:xfrm>
          <a:prstGeom prst="rect">
            <a:avLst/>
          </a:prstGeom>
          <a:solidFill>
            <a:srgbClr val="F9F9F9"/>
          </a:solidFill>
          <a:ln/>
        </p:spPr>
        <p:txBody>
          <a:bodyPr/>
          <a:lstStyle/>
          <a:p>
            <a:endParaRPr lang="fr-CA"/>
          </a:p>
        </p:txBody>
      </p:sp>
      <p:sp>
        <p:nvSpPr>
          <p:cNvPr id="33" name="Shape 23"/>
          <p:cNvSpPr/>
          <p:nvPr/>
        </p:nvSpPr>
        <p:spPr>
          <a:xfrm>
            <a:off x="4786313" y="2090942"/>
            <a:ext cx="28575" cy="584336"/>
          </a:xfrm>
          <a:prstGeom prst="rect">
            <a:avLst/>
          </a:prstGeom>
          <a:solidFill>
            <a:srgbClr val="2E8B57"/>
          </a:solidFill>
          <a:ln/>
        </p:spPr>
        <p:txBody>
          <a:bodyPr/>
          <a:lstStyle/>
          <a:p>
            <a:endParaRPr lang="fr-CA"/>
          </a:p>
        </p:txBody>
      </p:sp>
      <p:pic>
        <p:nvPicPr>
          <p:cNvPr id="34" name="Image 7" descr="preencoded.png"/>
          <p:cNvPicPr>
            <a:picLocks noChangeAspect="1"/>
          </p:cNvPicPr>
          <p:nvPr/>
        </p:nvPicPr>
        <p:blipFill>
          <a:blip r:embed="rId10"/>
          <a:stretch>
            <a:fillRect/>
          </a:stretch>
        </p:blipFill>
        <p:spPr>
          <a:xfrm>
            <a:off x="4900613" y="2226673"/>
            <a:ext cx="107156" cy="142875"/>
          </a:xfrm>
          <a:prstGeom prst="rect">
            <a:avLst/>
          </a:prstGeom>
        </p:spPr>
      </p:pic>
      <p:sp>
        <p:nvSpPr>
          <p:cNvPr id="35" name="Text 24"/>
          <p:cNvSpPr/>
          <p:nvPr/>
        </p:nvSpPr>
        <p:spPr>
          <a:xfrm>
            <a:off x="5114925" y="2205242"/>
            <a:ext cx="3440218" cy="160009"/>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222222"/>
                </a:solidFill>
              </a:rPr>
              <a:t>Comptage Automatisé</a:t>
            </a:r>
            <a:endParaRPr lang="en-US" sz="784" dirty="0"/>
          </a:p>
        </p:txBody>
      </p:sp>
      <p:sp>
        <p:nvSpPr>
          <p:cNvPr id="36" name="Text 25"/>
          <p:cNvSpPr/>
          <p:nvPr/>
        </p:nvSpPr>
        <p:spPr>
          <a:xfrm>
            <a:off x="5114925" y="2402756"/>
            <a:ext cx="3440218" cy="15537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44444"/>
                </a:solidFill>
              </a:rPr>
              <a:t>Dénombrement précis et instantané sans intervention humaine.</a:t>
            </a:r>
            <a:endParaRPr lang="en-US" sz="834" dirty="0"/>
          </a:p>
        </p:txBody>
      </p:sp>
      <p:sp>
        <p:nvSpPr>
          <p:cNvPr id="37" name="Shape 26"/>
          <p:cNvSpPr/>
          <p:nvPr/>
        </p:nvSpPr>
        <p:spPr>
          <a:xfrm>
            <a:off x="4786313" y="2761004"/>
            <a:ext cx="3929063" cy="744345"/>
          </a:xfrm>
          <a:prstGeom prst="rect">
            <a:avLst/>
          </a:prstGeom>
          <a:solidFill>
            <a:srgbClr val="F9F9F9"/>
          </a:solidFill>
          <a:ln/>
        </p:spPr>
        <p:txBody>
          <a:bodyPr/>
          <a:lstStyle/>
          <a:p>
            <a:endParaRPr lang="fr-CA"/>
          </a:p>
        </p:txBody>
      </p:sp>
      <p:sp>
        <p:nvSpPr>
          <p:cNvPr id="38" name="Shape 27"/>
          <p:cNvSpPr/>
          <p:nvPr/>
        </p:nvSpPr>
        <p:spPr>
          <a:xfrm>
            <a:off x="4786313" y="2761004"/>
            <a:ext cx="28575" cy="744345"/>
          </a:xfrm>
          <a:prstGeom prst="rect">
            <a:avLst/>
          </a:prstGeom>
          <a:solidFill>
            <a:srgbClr val="2E8B57"/>
          </a:solidFill>
          <a:ln/>
        </p:spPr>
        <p:txBody>
          <a:bodyPr/>
          <a:lstStyle/>
          <a:p>
            <a:endParaRPr lang="fr-CA"/>
          </a:p>
        </p:txBody>
      </p:sp>
      <p:pic>
        <p:nvPicPr>
          <p:cNvPr id="39" name="Image 8" descr="preencoded.png"/>
          <p:cNvPicPr>
            <a:picLocks noChangeAspect="1"/>
          </p:cNvPicPr>
          <p:nvPr/>
        </p:nvPicPr>
        <p:blipFill>
          <a:blip r:embed="rId11"/>
          <a:stretch>
            <a:fillRect/>
          </a:stretch>
        </p:blipFill>
        <p:spPr>
          <a:xfrm>
            <a:off x="4900613" y="2896735"/>
            <a:ext cx="160734" cy="142875"/>
          </a:xfrm>
          <a:prstGeom prst="rect">
            <a:avLst/>
          </a:prstGeom>
        </p:spPr>
      </p:pic>
      <p:sp>
        <p:nvSpPr>
          <p:cNvPr id="40" name="Text 28"/>
          <p:cNvSpPr/>
          <p:nvPr/>
        </p:nvSpPr>
        <p:spPr>
          <a:xfrm>
            <a:off x="5168503" y="2875304"/>
            <a:ext cx="3432572" cy="160009"/>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222222"/>
                </a:solidFill>
              </a:rPr>
              <a:t>Carte de Densité (Heatmap)</a:t>
            </a:r>
            <a:endParaRPr lang="en-US" sz="784" dirty="0"/>
          </a:p>
        </p:txBody>
      </p:sp>
      <p:sp>
        <p:nvSpPr>
          <p:cNvPr id="41" name="Text 29"/>
          <p:cNvSpPr/>
          <p:nvPr/>
        </p:nvSpPr>
        <p:spPr>
          <a:xfrm>
            <a:off x="5168503" y="3072817"/>
            <a:ext cx="3007463" cy="15537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44444"/>
                </a:solidFill>
              </a:rPr>
              <a:t>Visualisation des zones d'occupation pour une meilleure</a:t>
            </a:r>
            <a:endParaRPr lang="en-US" sz="834" dirty="0"/>
          </a:p>
        </p:txBody>
      </p:sp>
      <p:sp>
        <p:nvSpPr>
          <p:cNvPr id="42" name="Text 30"/>
          <p:cNvSpPr/>
          <p:nvPr/>
        </p:nvSpPr>
        <p:spPr>
          <a:xfrm>
            <a:off x="5168503" y="3232826"/>
            <a:ext cx="1046197" cy="15537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44444"/>
                </a:solidFill>
              </a:rPr>
              <a:t>gestion de l'espace.</a:t>
            </a:r>
            <a:endParaRPr lang="en-US" sz="834" dirty="0"/>
          </a:p>
        </p:txBody>
      </p:sp>
      <p:sp>
        <p:nvSpPr>
          <p:cNvPr id="43" name="Shape 31"/>
          <p:cNvSpPr/>
          <p:nvPr/>
        </p:nvSpPr>
        <p:spPr>
          <a:xfrm>
            <a:off x="428625" y="4568428"/>
            <a:ext cx="8286750" cy="432197"/>
          </a:xfrm>
          <a:prstGeom prst="rect">
            <a:avLst/>
          </a:prstGeom>
          <a:solidFill>
            <a:srgbClr val="003366"/>
          </a:solidFill>
          <a:ln/>
        </p:spPr>
        <p:txBody>
          <a:bodyPr/>
          <a:lstStyle/>
          <a:p>
            <a:endParaRPr lang="fr-CA"/>
          </a:p>
        </p:txBody>
      </p:sp>
      <p:sp>
        <p:nvSpPr>
          <p:cNvPr id="44" name="Text 32"/>
          <p:cNvSpPr/>
          <p:nvPr/>
        </p:nvSpPr>
        <p:spPr>
          <a:xfrm>
            <a:off x="428625" y="4568428"/>
            <a:ext cx="8286750" cy="432197"/>
          </a:xfrm>
          <a:prstGeom prst="rect">
            <a:avLst/>
          </a:prstGeom>
          <a:noFill/>
          <a:ln/>
        </p:spPr>
        <p:txBody>
          <a:bodyPr wrap="square" lIns="153035" tIns="153035" rIns="153035" bIns="153035" rtlCol="0" anchor="t">
            <a:spAutoFit/>
          </a:bodyPr>
          <a:lstStyle/>
          <a:p>
            <a:pPr marL="0" indent="0" algn="ctr">
              <a:lnSpc>
                <a:spcPts val="1200"/>
              </a:lnSpc>
              <a:buNone/>
            </a:pPr>
            <a:r>
              <a:rPr lang="en-US" sz="885" b="1" dirty="0">
                <a:solidFill>
                  <a:srgbClr val="FFFFFF"/>
                </a:solidFill>
              </a:rPr>
              <a:t>Objectif : Automatiser la surveillance visuelle pour un comptage fiable et une analyse de densité en temps réel.</a:t>
            </a:r>
            <a:endParaRPr lang="en-US" sz="88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41164"/>
          </a:xfrm>
          <a:prstGeom prst="rect">
            <a:avLst/>
          </a:prstGeom>
          <a:solidFill>
            <a:srgbClr val="003366"/>
          </a:solidFill>
          <a:ln/>
        </p:spPr>
        <p:txBody>
          <a:bodyPr/>
          <a:lstStyle/>
          <a:p>
            <a:endParaRPr lang="fr-CA"/>
          </a:p>
        </p:txBody>
      </p:sp>
      <p:sp>
        <p:nvSpPr>
          <p:cNvPr id="5" name="Text 1"/>
          <p:cNvSpPr/>
          <p:nvPr/>
        </p:nvSpPr>
        <p:spPr>
          <a:xfrm>
            <a:off x="428625" y="214313"/>
            <a:ext cx="2122112"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Objectifs du Projet</a:t>
            </a:r>
            <a:endParaRPr lang="en-US" sz="1602" dirty="0"/>
          </a:p>
        </p:txBody>
      </p:sp>
      <p:sp>
        <p:nvSpPr>
          <p:cNvPr id="6" name="Text 2"/>
          <p:cNvSpPr/>
          <p:nvPr/>
        </p:nvSpPr>
        <p:spPr>
          <a:xfrm>
            <a:off x="8351881" y="292894"/>
            <a:ext cx="363494"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2E8B57"/>
                </a:solidFill>
              </a:rPr>
              <a:t>03 / 10</a:t>
            </a:r>
            <a:endParaRPr lang="en-US" sz="834" dirty="0"/>
          </a:p>
        </p:txBody>
      </p:sp>
      <p:sp>
        <p:nvSpPr>
          <p:cNvPr id="7" name="Shape 3"/>
          <p:cNvSpPr/>
          <p:nvPr/>
        </p:nvSpPr>
        <p:spPr>
          <a:xfrm>
            <a:off x="428625" y="1026914"/>
            <a:ext cx="8286750" cy="788659"/>
          </a:xfrm>
          <a:prstGeom prst="rect">
            <a:avLst/>
          </a:prstGeom>
          <a:solidFill>
            <a:srgbClr val="F0F8FF"/>
          </a:solidFill>
          <a:ln/>
        </p:spPr>
        <p:txBody>
          <a:bodyPr/>
          <a:lstStyle/>
          <a:p>
            <a:endParaRPr lang="fr-CA"/>
          </a:p>
        </p:txBody>
      </p:sp>
      <p:sp>
        <p:nvSpPr>
          <p:cNvPr id="8" name="Shape 4"/>
          <p:cNvSpPr/>
          <p:nvPr/>
        </p:nvSpPr>
        <p:spPr>
          <a:xfrm>
            <a:off x="428625" y="1026914"/>
            <a:ext cx="57150" cy="788659"/>
          </a:xfrm>
          <a:prstGeom prst="rect">
            <a:avLst/>
          </a:prstGeom>
          <a:solidFill>
            <a:srgbClr val="003366"/>
          </a:solidFill>
          <a:ln/>
        </p:spPr>
        <p:txBody>
          <a:bodyPr/>
          <a:lstStyle/>
          <a:p>
            <a:endParaRPr lang="fr-CA"/>
          </a:p>
        </p:txBody>
      </p:sp>
      <p:pic>
        <p:nvPicPr>
          <p:cNvPr id="9" name="Image 1" descr="preencoded.png"/>
          <p:cNvPicPr>
            <a:picLocks noChangeAspect="1"/>
          </p:cNvPicPr>
          <p:nvPr/>
        </p:nvPicPr>
        <p:blipFill>
          <a:blip r:embed="rId4"/>
          <a:stretch>
            <a:fillRect/>
          </a:stretch>
        </p:blipFill>
        <p:spPr>
          <a:xfrm>
            <a:off x="600075" y="1249793"/>
            <a:ext cx="342900" cy="342900"/>
          </a:xfrm>
          <a:prstGeom prst="rect">
            <a:avLst/>
          </a:prstGeom>
        </p:spPr>
      </p:pic>
      <p:sp>
        <p:nvSpPr>
          <p:cNvPr id="10" name="Text 5"/>
          <p:cNvSpPr/>
          <p:nvPr/>
        </p:nvSpPr>
        <p:spPr>
          <a:xfrm>
            <a:off x="1085850" y="1198364"/>
            <a:ext cx="7458075" cy="445759"/>
          </a:xfrm>
          <a:prstGeom prst="rect">
            <a:avLst/>
          </a:prstGeom>
          <a:noFill/>
          <a:ln/>
        </p:spPr>
        <p:txBody>
          <a:bodyPr wrap="square" lIns="0" tIns="0" rIns="0" bIns="0" rtlCol="0" anchor="t">
            <a:spAutoFit/>
          </a:bodyPr>
          <a:lstStyle/>
          <a:p>
            <a:pPr marL="0" indent="0" algn="l">
              <a:lnSpc>
                <a:spcPts val="1800"/>
              </a:lnSpc>
              <a:buNone/>
            </a:pPr>
            <a:r>
              <a:rPr lang="en-US" sz="1193" b="1" dirty="0">
                <a:solidFill>
                  <a:srgbClr val="003366"/>
                </a:solidFill>
              </a:rPr>
              <a:t>Développer un système de vision par ordinateur capable de détecter, compter et analyser la répartition des bovins en temps réel.</a:t>
            </a:r>
            <a:endParaRPr lang="en-US" sz="1193" dirty="0"/>
          </a:p>
        </p:txBody>
      </p:sp>
      <p:sp>
        <p:nvSpPr>
          <p:cNvPr id="11" name="Shape 6"/>
          <p:cNvSpPr/>
          <p:nvPr/>
        </p:nvSpPr>
        <p:spPr>
          <a:xfrm>
            <a:off x="428625" y="2044173"/>
            <a:ext cx="4054078" cy="796528"/>
          </a:xfrm>
          <a:prstGeom prst="rect">
            <a:avLst/>
          </a:prstGeom>
          <a:solidFill>
            <a:srgbClr val="F9F9F9"/>
          </a:solidFill>
          <a:ln/>
        </p:spPr>
        <p:txBody>
          <a:bodyPr/>
          <a:lstStyle/>
          <a:p>
            <a:endParaRPr lang="fr-CA"/>
          </a:p>
        </p:txBody>
      </p:sp>
      <p:sp>
        <p:nvSpPr>
          <p:cNvPr id="12" name="Shape 7"/>
          <p:cNvSpPr/>
          <p:nvPr/>
        </p:nvSpPr>
        <p:spPr>
          <a:xfrm>
            <a:off x="428625" y="2044173"/>
            <a:ext cx="28575" cy="796528"/>
          </a:xfrm>
          <a:prstGeom prst="rect">
            <a:avLst/>
          </a:prstGeom>
          <a:solidFill>
            <a:srgbClr val="2E8B57"/>
          </a:solidFill>
          <a:ln/>
        </p:spPr>
        <p:txBody>
          <a:bodyPr/>
          <a:lstStyle/>
          <a:p>
            <a:endParaRPr lang="fr-CA"/>
          </a:p>
        </p:txBody>
      </p:sp>
      <p:sp>
        <p:nvSpPr>
          <p:cNvPr id="13" name="Shape 8"/>
          <p:cNvSpPr/>
          <p:nvPr/>
        </p:nvSpPr>
        <p:spPr>
          <a:xfrm>
            <a:off x="571500" y="2187048"/>
            <a:ext cx="228600" cy="228600"/>
          </a:xfrm>
          <a:prstGeom prst="rect">
            <a:avLst/>
          </a:prstGeom>
          <a:solidFill>
            <a:srgbClr val="003366"/>
          </a:solidFill>
          <a:ln/>
        </p:spPr>
        <p:txBody>
          <a:bodyPr/>
          <a:lstStyle/>
          <a:p>
            <a:endParaRPr lang="fr-CA"/>
          </a:p>
        </p:txBody>
      </p:sp>
      <p:sp>
        <p:nvSpPr>
          <p:cNvPr id="14" name="Text 9"/>
          <p:cNvSpPr/>
          <p:nvPr/>
        </p:nvSpPr>
        <p:spPr>
          <a:xfrm>
            <a:off x="571500" y="2187048"/>
            <a:ext cx="228600" cy="228600"/>
          </a:xfrm>
          <a:prstGeom prst="rect">
            <a:avLst/>
          </a:prstGeom>
          <a:noFill/>
          <a:ln/>
        </p:spPr>
        <p:txBody>
          <a:bodyPr wrap="square" lIns="0" tIns="0" rIns="0" bIns="0" rtlCol="0" anchor="ctr">
            <a:spAutoFit/>
          </a:bodyPr>
          <a:lstStyle/>
          <a:p>
            <a:pPr marL="0" indent="0" algn="ctr">
              <a:lnSpc>
                <a:spcPts val="1100"/>
              </a:lnSpc>
              <a:buNone/>
            </a:pPr>
            <a:r>
              <a:rPr lang="en-US" sz="784" b="1" dirty="0">
                <a:solidFill>
                  <a:srgbClr val="FFFFFF"/>
                </a:solidFill>
              </a:rPr>
              <a:t>1</a:t>
            </a:r>
            <a:endParaRPr lang="en-US" sz="784" dirty="0"/>
          </a:p>
        </p:txBody>
      </p:sp>
      <p:sp>
        <p:nvSpPr>
          <p:cNvPr id="15" name="Text 10"/>
          <p:cNvSpPr/>
          <p:nvPr/>
        </p:nvSpPr>
        <p:spPr>
          <a:xfrm>
            <a:off x="907256" y="2187048"/>
            <a:ext cx="3432572"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333333"/>
                </a:solidFill>
              </a:rPr>
              <a:t>Détection Automatique</a:t>
            </a:r>
            <a:endParaRPr lang="en-US" sz="885" dirty="0"/>
          </a:p>
        </p:txBody>
      </p:sp>
      <p:sp>
        <p:nvSpPr>
          <p:cNvPr id="16" name="Text 11"/>
          <p:cNvSpPr/>
          <p:nvPr/>
        </p:nvSpPr>
        <p:spPr>
          <a:xfrm>
            <a:off x="907256" y="2397789"/>
            <a:ext cx="3432572"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555555"/>
                </a:solidFill>
              </a:rPr>
              <a:t>Identifier chaque bovin présent dans le champ de vision de la caméra avec une précision élevée.</a:t>
            </a:r>
            <a:endParaRPr lang="en-US" sz="780" dirty="0"/>
          </a:p>
        </p:txBody>
      </p:sp>
      <p:sp>
        <p:nvSpPr>
          <p:cNvPr id="17" name="Shape 12"/>
          <p:cNvSpPr/>
          <p:nvPr/>
        </p:nvSpPr>
        <p:spPr>
          <a:xfrm>
            <a:off x="4661297" y="2044173"/>
            <a:ext cx="4054078" cy="796528"/>
          </a:xfrm>
          <a:prstGeom prst="rect">
            <a:avLst/>
          </a:prstGeom>
          <a:solidFill>
            <a:srgbClr val="F9F9F9"/>
          </a:solidFill>
          <a:ln/>
        </p:spPr>
        <p:txBody>
          <a:bodyPr/>
          <a:lstStyle/>
          <a:p>
            <a:endParaRPr lang="fr-CA"/>
          </a:p>
        </p:txBody>
      </p:sp>
      <p:sp>
        <p:nvSpPr>
          <p:cNvPr id="18" name="Shape 13"/>
          <p:cNvSpPr/>
          <p:nvPr/>
        </p:nvSpPr>
        <p:spPr>
          <a:xfrm>
            <a:off x="4661297" y="2044173"/>
            <a:ext cx="28575" cy="796528"/>
          </a:xfrm>
          <a:prstGeom prst="rect">
            <a:avLst/>
          </a:prstGeom>
          <a:solidFill>
            <a:srgbClr val="2E8B57"/>
          </a:solidFill>
          <a:ln/>
        </p:spPr>
        <p:txBody>
          <a:bodyPr/>
          <a:lstStyle/>
          <a:p>
            <a:endParaRPr lang="fr-CA"/>
          </a:p>
        </p:txBody>
      </p:sp>
      <p:sp>
        <p:nvSpPr>
          <p:cNvPr id="19" name="Shape 14"/>
          <p:cNvSpPr/>
          <p:nvPr/>
        </p:nvSpPr>
        <p:spPr>
          <a:xfrm>
            <a:off x="4804172" y="2187048"/>
            <a:ext cx="228600" cy="228600"/>
          </a:xfrm>
          <a:prstGeom prst="rect">
            <a:avLst/>
          </a:prstGeom>
          <a:solidFill>
            <a:srgbClr val="003366"/>
          </a:solidFill>
          <a:ln/>
        </p:spPr>
        <p:txBody>
          <a:bodyPr/>
          <a:lstStyle/>
          <a:p>
            <a:endParaRPr lang="fr-CA"/>
          </a:p>
        </p:txBody>
      </p:sp>
      <p:sp>
        <p:nvSpPr>
          <p:cNvPr id="20" name="Text 15"/>
          <p:cNvSpPr/>
          <p:nvPr/>
        </p:nvSpPr>
        <p:spPr>
          <a:xfrm>
            <a:off x="4804172" y="2187048"/>
            <a:ext cx="228600" cy="228600"/>
          </a:xfrm>
          <a:prstGeom prst="rect">
            <a:avLst/>
          </a:prstGeom>
          <a:noFill/>
          <a:ln/>
        </p:spPr>
        <p:txBody>
          <a:bodyPr wrap="square" lIns="0" tIns="0" rIns="0" bIns="0" rtlCol="0" anchor="ctr">
            <a:spAutoFit/>
          </a:bodyPr>
          <a:lstStyle/>
          <a:p>
            <a:pPr marL="0" indent="0" algn="ctr">
              <a:lnSpc>
                <a:spcPts val="1100"/>
              </a:lnSpc>
              <a:buNone/>
            </a:pPr>
            <a:r>
              <a:rPr lang="en-US" sz="784" b="1" dirty="0">
                <a:solidFill>
                  <a:srgbClr val="FFFFFF"/>
                </a:solidFill>
              </a:rPr>
              <a:t>2</a:t>
            </a:r>
            <a:endParaRPr lang="en-US" sz="784" dirty="0"/>
          </a:p>
        </p:txBody>
      </p:sp>
      <p:sp>
        <p:nvSpPr>
          <p:cNvPr id="21" name="Text 16"/>
          <p:cNvSpPr/>
          <p:nvPr/>
        </p:nvSpPr>
        <p:spPr>
          <a:xfrm>
            <a:off x="5139928" y="2187048"/>
            <a:ext cx="3432572"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333333"/>
                </a:solidFill>
              </a:rPr>
              <a:t>Comptage en Temps Réel</a:t>
            </a:r>
            <a:endParaRPr lang="en-US" sz="885" dirty="0"/>
          </a:p>
        </p:txBody>
      </p:sp>
      <p:sp>
        <p:nvSpPr>
          <p:cNvPr id="22" name="Text 17"/>
          <p:cNvSpPr/>
          <p:nvPr/>
        </p:nvSpPr>
        <p:spPr>
          <a:xfrm>
            <a:off x="5139928" y="2397789"/>
            <a:ext cx="3432572"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555555"/>
                </a:solidFill>
              </a:rPr>
              <a:t>Dénombrer automatiquement le nombre total d'animaux visibles à chaque instant.</a:t>
            </a:r>
            <a:endParaRPr lang="en-US" sz="780" dirty="0"/>
          </a:p>
        </p:txBody>
      </p:sp>
      <p:sp>
        <p:nvSpPr>
          <p:cNvPr id="23" name="Shape 18"/>
          <p:cNvSpPr/>
          <p:nvPr/>
        </p:nvSpPr>
        <p:spPr>
          <a:xfrm>
            <a:off x="428625" y="3019295"/>
            <a:ext cx="4054078" cy="796528"/>
          </a:xfrm>
          <a:prstGeom prst="rect">
            <a:avLst/>
          </a:prstGeom>
          <a:solidFill>
            <a:srgbClr val="F9F9F9"/>
          </a:solidFill>
          <a:ln/>
        </p:spPr>
        <p:txBody>
          <a:bodyPr/>
          <a:lstStyle/>
          <a:p>
            <a:endParaRPr lang="fr-CA"/>
          </a:p>
        </p:txBody>
      </p:sp>
      <p:sp>
        <p:nvSpPr>
          <p:cNvPr id="24" name="Shape 19"/>
          <p:cNvSpPr/>
          <p:nvPr/>
        </p:nvSpPr>
        <p:spPr>
          <a:xfrm>
            <a:off x="428625" y="3019295"/>
            <a:ext cx="28575" cy="796528"/>
          </a:xfrm>
          <a:prstGeom prst="rect">
            <a:avLst/>
          </a:prstGeom>
          <a:solidFill>
            <a:srgbClr val="2E8B57"/>
          </a:solidFill>
          <a:ln/>
        </p:spPr>
        <p:txBody>
          <a:bodyPr/>
          <a:lstStyle/>
          <a:p>
            <a:endParaRPr lang="fr-CA"/>
          </a:p>
        </p:txBody>
      </p:sp>
      <p:sp>
        <p:nvSpPr>
          <p:cNvPr id="25" name="Shape 20"/>
          <p:cNvSpPr/>
          <p:nvPr/>
        </p:nvSpPr>
        <p:spPr>
          <a:xfrm>
            <a:off x="571500" y="3162170"/>
            <a:ext cx="228600" cy="228600"/>
          </a:xfrm>
          <a:prstGeom prst="rect">
            <a:avLst/>
          </a:prstGeom>
          <a:solidFill>
            <a:srgbClr val="003366"/>
          </a:solidFill>
          <a:ln/>
        </p:spPr>
        <p:txBody>
          <a:bodyPr/>
          <a:lstStyle/>
          <a:p>
            <a:endParaRPr lang="fr-CA"/>
          </a:p>
        </p:txBody>
      </p:sp>
      <p:sp>
        <p:nvSpPr>
          <p:cNvPr id="26" name="Text 21"/>
          <p:cNvSpPr/>
          <p:nvPr/>
        </p:nvSpPr>
        <p:spPr>
          <a:xfrm>
            <a:off x="571500" y="3162170"/>
            <a:ext cx="228600" cy="228600"/>
          </a:xfrm>
          <a:prstGeom prst="rect">
            <a:avLst/>
          </a:prstGeom>
          <a:noFill/>
          <a:ln/>
        </p:spPr>
        <p:txBody>
          <a:bodyPr wrap="square" lIns="0" tIns="0" rIns="0" bIns="0" rtlCol="0" anchor="ctr">
            <a:spAutoFit/>
          </a:bodyPr>
          <a:lstStyle/>
          <a:p>
            <a:pPr marL="0" indent="0" algn="ctr">
              <a:lnSpc>
                <a:spcPts val="1100"/>
              </a:lnSpc>
              <a:buNone/>
            </a:pPr>
            <a:r>
              <a:rPr lang="en-US" sz="784" b="1" dirty="0">
                <a:solidFill>
                  <a:srgbClr val="FFFFFF"/>
                </a:solidFill>
              </a:rPr>
              <a:t>3</a:t>
            </a:r>
            <a:endParaRPr lang="en-US" sz="784" dirty="0"/>
          </a:p>
        </p:txBody>
      </p:sp>
      <p:sp>
        <p:nvSpPr>
          <p:cNvPr id="27" name="Text 22"/>
          <p:cNvSpPr/>
          <p:nvPr/>
        </p:nvSpPr>
        <p:spPr>
          <a:xfrm>
            <a:off x="907256" y="3162170"/>
            <a:ext cx="3432572"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333333"/>
                </a:solidFill>
              </a:rPr>
              <a:t>Carte de Densité (Heatmap)</a:t>
            </a:r>
            <a:endParaRPr lang="en-US" sz="885" dirty="0"/>
          </a:p>
        </p:txBody>
      </p:sp>
      <p:sp>
        <p:nvSpPr>
          <p:cNvPr id="28" name="Text 23"/>
          <p:cNvSpPr/>
          <p:nvPr/>
        </p:nvSpPr>
        <p:spPr>
          <a:xfrm>
            <a:off x="907256" y="3372910"/>
            <a:ext cx="3432572"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555555"/>
                </a:solidFill>
              </a:rPr>
              <a:t>Générer une visualisation des zones d'occupation pour identifier les attroupements.</a:t>
            </a:r>
            <a:endParaRPr lang="en-US" sz="780" dirty="0"/>
          </a:p>
        </p:txBody>
      </p:sp>
      <p:sp>
        <p:nvSpPr>
          <p:cNvPr id="29" name="Shape 24"/>
          <p:cNvSpPr/>
          <p:nvPr/>
        </p:nvSpPr>
        <p:spPr>
          <a:xfrm>
            <a:off x="4661297" y="3019295"/>
            <a:ext cx="4054078" cy="796528"/>
          </a:xfrm>
          <a:prstGeom prst="rect">
            <a:avLst/>
          </a:prstGeom>
          <a:solidFill>
            <a:srgbClr val="F9F9F9"/>
          </a:solidFill>
          <a:ln/>
        </p:spPr>
        <p:txBody>
          <a:bodyPr/>
          <a:lstStyle/>
          <a:p>
            <a:endParaRPr lang="fr-CA"/>
          </a:p>
        </p:txBody>
      </p:sp>
      <p:sp>
        <p:nvSpPr>
          <p:cNvPr id="30" name="Shape 25"/>
          <p:cNvSpPr/>
          <p:nvPr/>
        </p:nvSpPr>
        <p:spPr>
          <a:xfrm>
            <a:off x="4661297" y="3019295"/>
            <a:ext cx="28575" cy="796528"/>
          </a:xfrm>
          <a:prstGeom prst="rect">
            <a:avLst/>
          </a:prstGeom>
          <a:solidFill>
            <a:srgbClr val="2E8B57"/>
          </a:solidFill>
          <a:ln/>
        </p:spPr>
        <p:txBody>
          <a:bodyPr/>
          <a:lstStyle/>
          <a:p>
            <a:endParaRPr lang="fr-CA"/>
          </a:p>
        </p:txBody>
      </p:sp>
      <p:sp>
        <p:nvSpPr>
          <p:cNvPr id="31" name="Shape 26"/>
          <p:cNvSpPr/>
          <p:nvPr/>
        </p:nvSpPr>
        <p:spPr>
          <a:xfrm>
            <a:off x="4804172" y="3162170"/>
            <a:ext cx="228600" cy="228600"/>
          </a:xfrm>
          <a:prstGeom prst="rect">
            <a:avLst/>
          </a:prstGeom>
          <a:solidFill>
            <a:srgbClr val="003366"/>
          </a:solidFill>
          <a:ln/>
        </p:spPr>
        <p:txBody>
          <a:bodyPr/>
          <a:lstStyle/>
          <a:p>
            <a:endParaRPr lang="fr-CA"/>
          </a:p>
        </p:txBody>
      </p:sp>
      <p:sp>
        <p:nvSpPr>
          <p:cNvPr id="32" name="Text 27"/>
          <p:cNvSpPr/>
          <p:nvPr/>
        </p:nvSpPr>
        <p:spPr>
          <a:xfrm>
            <a:off x="4804172" y="3162170"/>
            <a:ext cx="228600" cy="228600"/>
          </a:xfrm>
          <a:prstGeom prst="rect">
            <a:avLst/>
          </a:prstGeom>
          <a:noFill/>
          <a:ln/>
        </p:spPr>
        <p:txBody>
          <a:bodyPr wrap="square" lIns="0" tIns="0" rIns="0" bIns="0" rtlCol="0" anchor="ctr">
            <a:spAutoFit/>
          </a:bodyPr>
          <a:lstStyle/>
          <a:p>
            <a:pPr marL="0" indent="0" algn="ctr">
              <a:lnSpc>
                <a:spcPts val="1100"/>
              </a:lnSpc>
              <a:buNone/>
            </a:pPr>
            <a:r>
              <a:rPr lang="en-US" sz="784" b="1" dirty="0">
                <a:solidFill>
                  <a:srgbClr val="FFFFFF"/>
                </a:solidFill>
              </a:rPr>
              <a:t>4</a:t>
            </a:r>
            <a:endParaRPr lang="en-US" sz="784" dirty="0"/>
          </a:p>
        </p:txBody>
      </p:sp>
      <p:sp>
        <p:nvSpPr>
          <p:cNvPr id="33" name="Text 28"/>
          <p:cNvSpPr/>
          <p:nvPr/>
        </p:nvSpPr>
        <p:spPr>
          <a:xfrm>
            <a:off x="5139928" y="3162170"/>
            <a:ext cx="3432572"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333333"/>
                </a:solidFill>
              </a:rPr>
              <a:t>Interface de Visualisation</a:t>
            </a:r>
            <a:endParaRPr lang="en-US" sz="885" dirty="0"/>
          </a:p>
        </p:txBody>
      </p:sp>
      <p:sp>
        <p:nvSpPr>
          <p:cNvPr id="34" name="Text 29"/>
          <p:cNvSpPr/>
          <p:nvPr/>
        </p:nvSpPr>
        <p:spPr>
          <a:xfrm>
            <a:off x="5139928" y="3372910"/>
            <a:ext cx="3432572"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555555"/>
                </a:solidFill>
              </a:rPr>
              <a:t>Créer un dashboard web affichant les résultats de détection et les statistiques en direct.</a:t>
            </a:r>
            <a:endParaRPr lang="en-US" sz="780" dirty="0"/>
          </a:p>
        </p:txBody>
      </p:sp>
      <p:sp>
        <p:nvSpPr>
          <p:cNvPr id="35" name="Shape 30"/>
          <p:cNvSpPr/>
          <p:nvPr/>
        </p:nvSpPr>
        <p:spPr>
          <a:xfrm>
            <a:off x="428625" y="4095155"/>
            <a:ext cx="8286750" cy="791170"/>
          </a:xfrm>
          <a:prstGeom prst="rect">
            <a:avLst/>
          </a:prstGeom>
          <a:solidFill>
            <a:srgbClr val="2E8B57"/>
          </a:solidFill>
          <a:ln/>
        </p:spPr>
        <p:txBody>
          <a:bodyPr/>
          <a:lstStyle/>
          <a:p>
            <a:endParaRPr lang="fr-CA"/>
          </a:p>
        </p:txBody>
      </p:sp>
      <p:sp>
        <p:nvSpPr>
          <p:cNvPr id="36" name="Text 31"/>
          <p:cNvSpPr/>
          <p:nvPr/>
        </p:nvSpPr>
        <p:spPr>
          <a:xfrm>
            <a:off x="1530688" y="4238030"/>
            <a:ext cx="1091040" cy="350044"/>
          </a:xfrm>
          <a:prstGeom prst="rect">
            <a:avLst/>
          </a:prstGeom>
          <a:noFill/>
          <a:ln/>
        </p:spPr>
        <p:txBody>
          <a:bodyPr wrap="none" lIns="0" tIns="0" rIns="0" bIns="0" rtlCol="0" anchor="t">
            <a:spAutoFit/>
          </a:bodyPr>
          <a:lstStyle/>
          <a:p>
            <a:pPr marL="0" indent="0" algn="ctr">
              <a:lnSpc>
                <a:spcPts val="2400"/>
              </a:lnSpc>
              <a:buNone/>
            </a:pPr>
            <a:r>
              <a:rPr lang="en-US" sz="1808" b="1" dirty="0">
                <a:solidFill>
                  <a:srgbClr val="FFFFFF"/>
                </a:solidFill>
              </a:rPr>
              <a:t>&gt; 90%</a:t>
            </a:r>
            <a:endParaRPr lang="en-US" sz="1808" dirty="0"/>
          </a:p>
        </p:txBody>
      </p:sp>
      <p:sp>
        <p:nvSpPr>
          <p:cNvPr id="37" name="Text 32"/>
          <p:cNvSpPr/>
          <p:nvPr/>
        </p:nvSpPr>
        <p:spPr>
          <a:xfrm>
            <a:off x="1530688" y="4604147"/>
            <a:ext cx="1091040" cy="13573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FFFFFF">
                    <a:alpha val="90000"/>
                  </a:srgbClr>
                </a:solidFill>
              </a:rPr>
              <a:t>Précision Détection</a:t>
            </a:r>
            <a:endParaRPr lang="en-US" sz="727" dirty="0"/>
          </a:p>
        </p:txBody>
      </p:sp>
      <p:sp>
        <p:nvSpPr>
          <p:cNvPr id="38" name="Text 33"/>
          <p:cNvSpPr/>
          <p:nvPr/>
        </p:nvSpPr>
        <p:spPr>
          <a:xfrm>
            <a:off x="4254354" y="4238030"/>
            <a:ext cx="1019463" cy="350044"/>
          </a:xfrm>
          <a:prstGeom prst="rect">
            <a:avLst/>
          </a:prstGeom>
          <a:noFill/>
          <a:ln/>
        </p:spPr>
        <p:txBody>
          <a:bodyPr wrap="none" lIns="0" tIns="0" rIns="0" bIns="0" rtlCol="0" anchor="t">
            <a:spAutoFit/>
          </a:bodyPr>
          <a:lstStyle/>
          <a:p>
            <a:pPr marL="0" indent="0" algn="ctr">
              <a:lnSpc>
                <a:spcPts val="2400"/>
              </a:lnSpc>
              <a:buNone/>
            </a:pPr>
            <a:r>
              <a:rPr lang="en-US" sz="1808" b="1" dirty="0">
                <a:solidFill>
                  <a:srgbClr val="FFFFFF"/>
                </a:solidFill>
              </a:rPr>
              <a:t>&gt; 15 FPS</a:t>
            </a:r>
            <a:endParaRPr lang="en-US" sz="1808" dirty="0"/>
          </a:p>
        </p:txBody>
      </p:sp>
      <p:sp>
        <p:nvSpPr>
          <p:cNvPr id="39" name="Text 34"/>
          <p:cNvSpPr/>
          <p:nvPr/>
        </p:nvSpPr>
        <p:spPr>
          <a:xfrm>
            <a:off x="4479494" y="4604147"/>
            <a:ext cx="569184" cy="13573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FFFFFF">
                    <a:alpha val="90000"/>
                  </a:srgbClr>
                </a:solidFill>
              </a:rPr>
              <a:t>Temps Réel</a:t>
            </a:r>
            <a:endParaRPr lang="en-US" sz="727" dirty="0"/>
          </a:p>
        </p:txBody>
      </p:sp>
      <p:sp>
        <p:nvSpPr>
          <p:cNvPr id="40" name="Text 35"/>
          <p:cNvSpPr/>
          <p:nvPr/>
        </p:nvSpPr>
        <p:spPr>
          <a:xfrm>
            <a:off x="6906444" y="4238030"/>
            <a:ext cx="706813" cy="350044"/>
          </a:xfrm>
          <a:prstGeom prst="rect">
            <a:avLst/>
          </a:prstGeom>
          <a:noFill/>
          <a:ln/>
        </p:spPr>
        <p:txBody>
          <a:bodyPr wrap="none" lIns="0" tIns="0" rIns="0" bIns="0" rtlCol="0" anchor="t">
            <a:spAutoFit/>
          </a:bodyPr>
          <a:lstStyle/>
          <a:p>
            <a:pPr marL="0" indent="0" algn="ctr">
              <a:lnSpc>
                <a:spcPts val="2400"/>
              </a:lnSpc>
              <a:buNone/>
            </a:pPr>
            <a:r>
              <a:rPr lang="en-US" sz="1808" b="1" dirty="0">
                <a:solidFill>
                  <a:srgbClr val="FFFFFF"/>
                </a:solidFill>
              </a:rPr>
              <a:t>24/7</a:t>
            </a:r>
            <a:endParaRPr lang="en-US" sz="1808" dirty="0"/>
          </a:p>
        </p:txBody>
      </p:sp>
      <p:sp>
        <p:nvSpPr>
          <p:cNvPr id="41" name="Text 36"/>
          <p:cNvSpPr/>
          <p:nvPr/>
        </p:nvSpPr>
        <p:spPr>
          <a:xfrm>
            <a:off x="6906444" y="4604147"/>
            <a:ext cx="706813" cy="13573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FFFFFF">
                    <a:alpha val="90000"/>
                  </a:srgbClr>
                </a:solidFill>
              </a:rPr>
              <a:t>Disponibilité</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375672"/>
          </a:xfrm>
          <a:prstGeom prst="rect">
            <a:avLst/>
          </a:prstGeom>
        </p:spPr>
      </p:pic>
      <p:sp>
        <p:nvSpPr>
          <p:cNvPr id="4" name="Shape 0"/>
          <p:cNvSpPr/>
          <p:nvPr/>
        </p:nvSpPr>
        <p:spPr>
          <a:xfrm>
            <a:off x="0" y="0"/>
            <a:ext cx="9144000" cy="741164"/>
          </a:xfrm>
          <a:prstGeom prst="rect">
            <a:avLst/>
          </a:prstGeom>
          <a:solidFill>
            <a:srgbClr val="003366"/>
          </a:solidFill>
          <a:ln/>
        </p:spPr>
        <p:txBody>
          <a:bodyPr/>
          <a:lstStyle/>
          <a:p>
            <a:endParaRPr lang="fr-CA"/>
          </a:p>
        </p:txBody>
      </p:sp>
      <p:sp>
        <p:nvSpPr>
          <p:cNvPr id="5" name="Text 1"/>
          <p:cNvSpPr/>
          <p:nvPr/>
        </p:nvSpPr>
        <p:spPr>
          <a:xfrm>
            <a:off x="428625" y="214313"/>
            <a:ext cx="3957777"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Positionnement dans l'État de l'Art</a:t>
            </a:r>
            <a:endParaRPr lang="en-US" sz="1602" dirty="0"/>
          </a:p>
        </p:txBody>
      </p:sp>
      <p:sp>
        <p:nvSpPr>
          <p:cNvPr id="6" name="Text 2"/>
          <p:cNvSpPr/>
          <p:nvPr/>
        </p:nvSpPr>
        <p:spPr>
          <a:xfrm>
            <a:off x="8351881" y="292894"/>
            <a:ext cx="363494"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2E8B57"/>
                </a:solidFill>
              </a:rPr>
              <a:t>04 / 10</a:t>
            </a:r>
            <a:endParaRPr lang="en-US" sz="834" dirty="0"/>
          </a:p>
        </p:txBody>
      </p:sp>
      <p:sp>
        <p:nvSpPr>
          <p:cNvPr id="7" name="Shape 3"/>
          <p:cNvSpPr/>
          <p:nvPr/>
        </p:nvSpPr>
        <p:spPr>
          <a:xfrm>
            <a:off x="428625" y="969764"/>
            <a:ext cx="2857500" cy="3214688"/>
          </a:xfrm>
          <a:prstGeom prst="rect">
            <a:avLst/>
          </a:prstGeom>
          <a:solidFill>
            <a:srgbClr val="F9F9F9"/>
          </a:solidFill>
          <a:ln w="9144">
            <a:solidFill>
              <a:srgbClr val="DDDDDD"/>
            </a:solidFill>
            <a:prstDash val="solid"/>
          </a:ln>
        </p:spPr>
        <p:txBody>
          <a:bodyPr/>
          <a:lstStyle/>
          <a:p>
            <a:endParaRPr lang="fr-CA"/>
          </a:p>
        </p:txBody>
      </p:sp>
      <p:pic>
        <p:nvPicPr>
          <p:cNvPr id="8" name="Image 1" descr="preencoded.png"/>
          <p:cNvPicPr>
            <a:picLocks noChangeAspect="1"/>
          </p:cNvPicPr>
          <p:nvPr/>
        </p:nvPicPr>
        <p:blipFill>
          <a:blip r:embed="rId4"/>
          <a:stretch>
            <a:fillRect/>
          </a:stretch>
        </p:blipFill>
        <p:spPr>
          <a:xfrm>
            <a:off x="464344" y="1005483"/>
            <a:ext cx="2786063" cy="3143250"/>
          </a:xfrm>
          <a:prstGeom prst="rect">
            <a:avLst/>
          </a:prstGeom>
        </p:spPr>
      </p:pic>
      <p:sp>
        <p:nvSpPr>
          <p:cNvPr id="9" name="Text 4"/>
          <p:cNvSpPr/>
          <p:nvPr/>
        </p:nvSpPr>
        <p:spPr>
          <a:xfrm>
            <a:off x="428625" y="4291608"/>
            <a:ext cx="2857500" cy="271463"/>
          </a:xfrm>
          <a:prstGeom prst="rect">
            <a:avLst/>
          </a:prstGeom>
          <a:noFill/>
          <a:ln/>
        </p:spPr>
        <p:txBody>
          <a:bodyPr wrap="square" lIns="0" tIns="0" rIns="0" bIns="0" rtlCol="0" anchor="t">
            <a:spAutoFit/>
          </a:bodyPr>
          <a:lstStyle/>
          <a:p>
            <a:pPr marL="0" indent="0" algn="ctr">
              <a:lnSpc>
                <a:spcPts val="900"/>
              </a:lnSpc>
              <a:buNone/>
            </a:pPr>
            <a:r>
              <a:rPr lang="en-US" sz="727" i="1" dirty="0">
                <a:solidFill>
                  <a:srgbClr val="666666"/>
                </a:solidFill>
              </a:rPr>
              <a:t>Figure 1: Écosystème complet de l'élevage de précision (Source: État de l'art)</a:t>
            </a:r>
            <a:endParaRPr lang="en-US" sz="727" dirty="0"/>
          </a:p>
        </p:txBody>
      </p:sp>
      <p:sp>
        <p:nvSpPr>
          <p:cNvPr id="10" name="Text 5"/>
          <p:cNvSpPr/>
          <p:nvPr/>
        </p:nvSpPr>
        <p:spPr>
          <a:xfrm>
            <a:off x="3643313" y="969764"/>
            <a:ext cx="5072063" cy="350044"/>
          </a:xfrm>
          <a:prstGeom prst="rect">
            <a:avLst/>
          </a:prstGeom>
          <a:noFill/>
          <a:ln/>
        </p:spPr>
        <p:txBody>
          <a:bodyPr wrap="square" lIns="127508" tIns="0" rIns="0" bIns="0" rtlCol="0" anchor="t">
            <a:spAutoFit/>
          </a:bodyPr>
          <a:lstStyle/>
          <a:p>
            <a:pPr marL="0" indent="0" algn="l">
              <a:lnSpc>
                <a:spcPts val="1200"/>
              </a:lnSpc>
              <a:buNone/>
            </a:pPr>
            <a:r>
              <a:rPr lang="en-US" sz="942" dirty="0">
                <a:solidFill>
                  <a:srgbClr val="444444"/>
                </a:solidFill>
              </a:rPr>
              <a:t>Sélection stratégique des technologies de vision par ordinateur pour une détection optimale.</a:t>
            </a:r>
            <a:endParaRPr lang="en-US" sz="942" dirty="0"/>
          </a:p>
        </p:txBody>
      </p:sp>
      <p:sp>
        <p:nvSpPr>
          <p:cNvPr id="11" name="Shape 6"/>
          <p:cNvSpPr/>
          <p:nvPr/>
        </p:nvSpPr>
        <p:spPr>
          <a:xfrm>
            <a:off x="3643313" y="1569839"/>
            <a:ext cx="5072063" cy="1073348"/>
          </a:xfrm>
          <a:prstGeom prst="rect">
            <a:avLst/>
          </a:prstGeom>
          <a:solidFill>
            <a:srgbClr val="F0FFF4"/>
          </a:solidFill>
          <a:ln w="9144">
            <a:solidFill>
              <a:srgbClr val="C0E0C0"/>
            </a:solidFill>
            <a:prstDash val="solid"/>
          </a:ln>
        </p:spPr>
        <p:txBody>
          <a:bodyPr/>
          <a:lstStyle/>
          <a:p>
            <a:endParaRPr lang="fr-CA"/>
          </a:p>
        </p:txBody>
      </p:sp>
      <p:sp>
        <p:nvSpPr>
          <p:cNvPr id="12" name="Text 7"/>
          <p:cNvSpPr/>
          <p:nvPr/>
        </p:nvSpPr>
        <p:spPr>
          <a:xfrm>
            <a:off x="3786188" y="1722537"/>
            <a:ext cx="1330133"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3366"/>
                </a:solidFill>
              </a:rPr>
              <a:t>Modèle de Détection</a:t>
            </a:r>
            <a:endParaRPr lang="en-US" sz="784" dirty="0"/>
          </a:p>
        </p:txBody>
      </p:sp>
      <p:pic>
        <p:nvPicPr>
          <p:cNvPr id="13" name="Image 2" descr="preencoded.png"/>
          <p:cNvPicPr>
            <a:picLocks noChangeAspect="1"/>
          </p:cNvPicPr>
          <p:nvPr/>
        </p:nvPicPr>
        <p:blipFill>
          <a:blip r:embed="rId5"/>
          <a:stretch>
            <a:fillRect/>
          </a:stretch>
        </p:blipFill>
        <p:spPr>
          <a:xfrm>
            <a:off x="7887565" y="1735931"/>
            <a:ext cx="128588" cy="128588"/>
          </a:xfrm>
          <a:prstGeom prst="rect">
            <a:avLst/>
          </a:prstGeom>
        </p:spPr>
      </p:pic>
      <p:sp>
        <p:nvSpPr>
          <p:cNvPr id="14" name="Text 8"/>
          <p:cNvSpPr/>
          <p:nvPr/>
        </p:nvSpPr>
        <p:spPr>
          <a:xfrm>
            <a:off x="8073303" y="1712714"/>
            <a:ext cx="499197"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E8B57"/>
                </a:solidFill>
              </a:rPr>
              <a:t>YOLOv8</a:t>
            </a:r>
            <a:endParaRPr lang="en-US" sz="885" dirty="0"/>
          </a:p>
        </p:txBody>
      </p:sp>
      <p:sp>
        <p:nvSpPr>
          <p:cNvPr id="15" name="Text 9"/>
          <p:cNvSpPr/>
          <p:nvPr/>
        </p:nvSpPr>
        <p:spPr>
          <a:xfrm>
            <a:off x="3786188" y="2023467"/>
            <a:ext cx="4786313"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555555"/>
                </a:solidFill>
              </a:rPr>
              <a:t>Architecture SOTA (State-of-the-Art) offrant le meilleur compromis vitesse/précision pour le temps réel.</a:t>
            </a:r>
            <a:endParaRPr lang="en-US" sz="780" dirty="0"/>
          </a:p>
        </p:txBody>
      </p:sp>
      <p:sp>
        <p:nvSpPr>
          <p:cNvPr id="16" name="Text 10"/>
          <p:cNvSpPr/>
          <p:nvPr/>
        </p:nvSpPr>
        <p:spPr>
          <a:xfrm>
            <a:off x="3786188" y="2359223"/>
            <a:ext cx="4786313" cy="126802"/>
          </a:xfrm>
          <a:prstGeom prst="rect">
            <a:avLst/>
          </a:prstGeom>
          <a:noFill/>
          <a:ln/>
        </p:spPr>
        <p:txBody>
          <a:bodyPr wrap="none" lIns="0" tIns="0" rIns="0" bIns="0" rtlCol="0" anchor="t">
            <a:spAutoFit/>
          </a:bodyPr>
          <a:lstStyle/>
          <a:p>
            <a:pPr marL="0" indent="0" algn="l">
              <a:lnSpc>
                <a:spcPts val="900"/>
              </a:lnSpc>
              <a:buNone/>
            </a:pPr>
            <a:r>
              <a:rPr lang="en-US" sz="674" i="1" dirty="0">
                <a:solidFill>
                  <a:srgbClr val="888888"/>
                </a:solidFill>
              </a:rPr>
              <a:t>vs Faster R-CNN (Trop lent) ou SSD (Moins précis sur petits objets)</a:t>
            </a:r>
            <a:endParaRPr lang="en-US" sz="674" dirty="0"/>
          </a:p>
        </p:txBody>
      </p:sp>
      <p:sp>
        <p:nvSpPr>
          <p:cNvPr id="17" name="Shape 11"/>
          <p:cNvSpPr/>
          <p:nvPr/>
        </p:nvSpPr>
        <p:spPr>
          <a:xfrm>
            <a:off x="3643313" y="2807494"/>
            <a:ext cx="5072063" cy="1073348"/>
          </a:xfrm>
          <a:prstGeom prst="rect">
            <a:avLst/>
          </a:prstGeom>
          <a:solidFill>
            <a:srgbClr val="F5F9FF"/>
          </a:solidFill>
          <a:ln w="9144">
            <a:solidFill>
              <a:srgbClr val="D0E0F0"/>
            </a:solidFill>
            <a:prstDash val="solid"/>
          </a:ln>
        </p:spPr>
        <p:txBody>
          <a:bodyPr/>
          <a:lstStyle/>
          <a:p>
            <a:endParaRPr lang="fr-CA"/>
          </a:p>
        </p:txBody>
      </p:sp>
      <p:sp>
        <p:nvSpPr>
          <p:cNvPr id="18" name="Text 12"/>
          <p:cNvSpPr/>
          <p:nvPr/>
        </p:nvSpPr>
        <p:spPr>
          <a:xfrm>
            <a:off x="3786188" y="2960191"/>
            <a:ext cx="1672447"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3366"/>
                </a:solidFill>
              </a:rPr>
              <a:t>Plateforme de Traitement</a:t>
            </a:r>
            <a:endParaRPr lang="en-US" sz="784" dirty="0"/>
          </a:p>
        </p:txBody>
      </p:sp>
      <p:pic>
        <p:nvPicPr>
          <p:cNvPr id="19" name="Image 3" descr="preencoded.png"/>
          <p:cNvPicPr>
            <a:picLocks noChangeAspect="1"/>
          </p:cNvPicPr>
          <p:nvPr/>
        </p:nvPicPr>
        <p:blipFill>
          <a:blip r:embed="rId6"/>
          <a:stretch>
            <a:fillRect/>
          </a:stretch>
        </p:blipFill>
        <p:spPr>
          <a:xfrm>
            <a:off x="7327953" y="2973586"/>
            <a:ext cx="128588" cy="128588"/>
          </a:xfrm>
          <a:prstGeom prst="rect">
            <a:avLst/>
          </a:prstGeom>
        </p:spPr>
      </p:pic>
      <p:sp>
        <p:nvSpPr>
          <p:cNvPr id="20" name="Text 13"/>
          <p:cNvSpPr/>
          <p:nvPr/>
        </p:nvSpPr>
        <p:spPr>
          <a:xfrm>
            <a:off x="7513690" y="2950369"/>
            <a:ext cx="1058810"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E8B57"/>
                </a:solidFill>
              </a:rPr>
              <a:t>Edge Computing</a:t>
            </a:r>
            <a:endParaRPr lang="en-US" sz="885" dirty="0"/>
          </a:p>
        </p:txBody>
      </p:sp>
      <p:sp>
        <p:nvSpPr>
          <p:cNvPr id="21" name="Text 14"/>
          <p:cNvSpPr/>
          <p:nvPr/>
        </p:nvSpPr>
        <p:spPr>
          <a:xfrm>
            <a:off x="3786188" y="3261122"/>
            <a:ext cx="4786313"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555555"/>
                </a:solidFill>
              </a:rPr>
              <a:t>Traitement local sur Raspberry Pi ou Jetson Nano pour une latence minimale et une autonomie totale.</a:t>
            </a:r>
            <a:endParaRPr lang="en-US" sz="780" dirty="0"/>
          </a:p>
        </p:txBody>
      </p:sp>
      <p:sp>
        <p:nvSpPr>
          <p:cNvPr id="22" name="Text 15"/>
          <p:cNvSpPr/>
          <p:nvPr/>
        </p:nvSpPr>
        <p:spPr>
          <a:xfrm>
            <a:off x="3786188" y="3596878"/>
            <a:ext cx="4786313" cy="126802"/>
          </a:xfrm>
          <a:prstGeom prst="rect">
            <a:avLst/>
          </a:prstGeom>
          <a:noFill/>
          <a:ln/>
        </p:spPr>
        <p:txBody>
          <a:bodyPr wrap="none" lIns="0" tIns="0" rIns="0" bIns="0" rtlCol="0" anchor="t">
            <a:spAutoFit/>
          </a:bodyPr>
          <a:lstStyle/>
          <a:p>
            <a:pPr marL="0" indent="0" algn="l">
              <a:lnSpc>
                <a:spcPts val="900"/>
              </a:lnSpc>
              <a:buNone/>
            </a:pPr>
            <a:r>
              <a:rPr lang="en-US" sz="674" i="1" dirty="0">
                <a:solidFill>
                  <a:srgbClr val="888888"/>
                </a:solidFill>
              </a:rPr>
              <a:t>vs Cloud (Dépendance réseau, latence) ou PC dédié (Coût élevé)</a:t>
            </a:r>
            <a:endParaRPr lang="en-US" sz="674" dirty="0"/>
          </a:p>
        </p:txBody>
      </p:sp>
      <p:sp>
        <p:nvSpPr>
          <p:cNvPr id="23" name="Shape 16"/>
          <p:cNvSpPr/>
          <p:nvPr/>
        </p:nvSpPr>
        <p:spPr>
          <a:xfrm>
            <a:off x="3643313" y="4045148"/>
            <a:ext cx="5072063" cy="1073348"/>
          </a:xfrm>
          <a:prstGeom prst="rect">
            <a:avLst/>
          </a:prstGeom>
          <a:solidFill>
            <a:srgbClr val="F5F9FF"/>
          </a:solidFill>
          <a:ln w="9144">
            <a:solidFill>
              <a:srgbClr val="D0E0F0"/>
            </a:solidFill>
            <a:prstDash val="solid"/>
          </a:ln>
        </p:spPr>
        <p:txBody>
          <a:bodyPr/>
          <a:lstStyle/>
          <a:p>
            <a:endParaRPr lang="fr-CA"/>
          </a:p>
        </p:txBody>
      </p:sp>
      <p:sp>
        <p:nvSpPr>
          <p:cNvPr id="24" name="Text 17"/>
          <p:cNvSpPr/>
          <p:nvPr/>
        </p:nvSpPr>
        <p:spPr>
          <a:xfrm>
            <a:off x="3786188" y="4197846"/>
            <a:ext cx="883314"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3366"/>
                </a:solidFill>
              </a:rPr>
              <a:t>Visualisation</a:t>
            </a:r>
            <a:endParaRPr lang="en-US" sz="784" dirty="0"/>
          </a:p>
        </p:txBody>
      </p:sp>
      <p:pic>
        <p:nvPicPr>
          <p:cNvPr id="25" name="Image 4" descr="preencoded.png"/>
          <p:cNvPicPr>
            <a:picLocks noChangeAspect="1"/>
          </p:cNvPicPr>
          <p:nvPr/>
        </p:nvPicPr>
        <p:blipFill>
          <a:blip r:embed="rId7"/>
          <a:stretch>
            <a:fillRect/>
          </a:stretch>
        </p:blipFill>
        <p:spPr>
          <a:xfrm>
            <a:off x="6956087" y="4211241"/>
            <a:ext cx="128588" cy="128588"/>
          </a:xfrm>
          <a:prstGeom prst="rect">
            <a:avLst/>
          </a:prstGeom>
        </p:spPr>
      </p:pic>
      <p:sp>
        <p:nvSpPr>
          <p:cNvPr id="26" name="Text 18"/>
          <p:cNvSpPr/>
          <p:nvPr/>
        </p:nvSpPr>
        <p:spPr>
          <a:xfrm>
            <a:off x="7141825" y="4188023"/>
            <a:ext cx="1430675"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E8B57"/>
                </a:solidFill>
              </a:rPr>
              <a:t>Heatmap + Dashboard</a:t>
            </a:r>
            <a:endParaRPr lang="en-US" sz="885" dirty="0"/>
          </a:p>
        </p:txBody>
      </p:sp>
      <p:sp>
        <p:nvSpPr>
          <p:cNvPr id="27" name="Text 19"/>
          <p:cNvSpPr/>
          <p:nvPr/>
        </p:nvSpPr>
        <p:spPr>
          <a:xfrm>
            <a:off x="3786188" y="4498777"/>
            <a:ext cx="4786313"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555555"/>
                </a:solidFill>
              </a:rPr>
              <a:t>Carte de densité générée par accumulation des positions détectées, affichée via interface web Flask.</a:t>
            </a:r>
            <a:endParaRPr lang="en-US" sz="780" dirty="0"/>
          </a:p>
        </p:txBody>
      </p:sp>
      <p:sp>
        <p:nvSpPr>
          <p:cNvPr id="28" name="Text 20"/>
          <p:cNvSpPr/>
          <p:nvPr/>
        </p:nvSpPr>
        <p:spPr>
          <a:xfrm>
            <a:off x="3786188" y="4834533"/>
            <a:ext cx="4786313" cy="126802"/>
          </a:xfrm>
          <a:prstGeom prst="rect">
            <a:avLst/>
          </a:prstGeom>
          <a:noFill/>
          <a:ln/>
        </p:spPr>
        <p:txBody>
          <a:bodyPr wrap="none" lIns="0" tIns="0" rIns="0" bIns="0" rtlCol="0" anchor="t">
            <a:spAutoFit/>
          </a:bodyPr>
          <a:lstStyle/>
          <a:p>
            <a:pPr marL="0" indent="0" algn="l">
              <a:lnSpc>
                <a:spcPts val="900"/>
              </a:lnSpc>
              <a:buNone/>
            </a:pPr>
            <a:r>
              <a:rPr lang="en-US" sz="674" i="1" dirty="0">
                <a:solidFill>
                  <a:srgbClr val="888888"/>
                </a:solidFill>
              </a:rPr>
              <a:t>vs Simple compteur (Pas d'analyse spatiale) ou Logs texte (Peu exploitable)</a:t>
            </a:r>
            <a:endParaRPr lang="en-US" sz="67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41164"/>
          </a:xfrm>
          <a:prstGeom prst="rect">
            <a:avLst/>
          </a:prstGeom>
          <a:solidFill>
            <a:srgbClr val="003366"/>
          </a:solidFill>
          <a:ln/>
        </p:spPr>
        <p:txBody>
          <a:bodyPr/>
          <a:lstStyle/>
          <a:p>
            <a:endParaRPr lang="fr-CA"/>
          </a:p>
        </p:txBody>
      </p:sp>
      <p:sp>
        <p:nvSpPr>
          <p:cNvPr id="5" name="Text 1"/>
          <p:cNvSpPr/>
          <p:nvPr/>
        </p:nvSpPr>
        <p:spPr>
          <a:xfrm>
            <a:off x="428625" y="214313"/>
            <a:ext cx="2061753"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Solution Proposée</a:t>
            </a:r>
            <a:endParaRPr lang="en-US" sz="1602" dirty="0"/>
          </a:p>
        </p:txBody>
      </p:sp>
      <p:sp>
        <p:nvSpPr>
          <p:cNvPr id="6" name="Text 2"/>
          <p:cNvSpPr/>
          <p:nvPr/>
        </p:nvSpPr>
        <p:spPr>
          <a:xfrm>
            <a:off x="8351881" y="292894"/>
            <a:ext cx="363494"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2E8B57"/>
                </a:solidFill>
              </a:rPr>
              <a:t>05 / 10</a:t>
            </a:r>
            <a:endParaRPr lang="en-US" sz="834" dirty="0"/>
          </a:p>
        </p:txBody>
      </p:sp>
      <p:sp>
        <p:nvSpPr>
          <p:cNvPr id="7" name="Text 3"/>
          <p:cNvSpPr/>
          <p:nvPr/>
        </p:nvSpPr>
        <p:spPr>
          <a:xfrm>
            <a:off x="428625" y="1026914"/>
            <a:ext cx="8286750" cy="319683"/>
          </a:xfrm>
          <a:prstGeom prst="rect">
            <a:avLst/>
          </a:prstGeom>
          <a:noFill/>
          <a:ln/>
        </p:spPr>
        <p:txBody>
          <a:bodyPr wrap="square" lIns="0" tIns="0" rIns="0" bIns="85090" rtlCol="0" anchor="t">
            <a:spAutoFit/>
          </a:bodyPr>
          <a:lstStyle/>
          <a:p>
            <a:pPr marL="0" indent="0" algn="l">
              <a:lnSpc>
                <a:spcPts val="1600"/>
              </a:lnSpc>
              <a:buNone/>
            </a:pPr>
            <a:r>
              <a:rPr lang="en-US" sz="1193" b="1" dirty="0">
                <a:solidFill>
                  <a:srgbClr val="003366"/>
                </a:solidFill>
              </a:rPr>
              <a:t>Architecture du Système de Vision</a:t>
            </a:r>
            <a:endParaRPr lang="en-US" sz="1193" dirty="0"/>
          </a:p>
        </p:txBody>
      </p:sp>
      <p:sp>
        <p:nvSpPr>
          <p:cNvPr id="8" name="Shape 4"/>
          <p:cNvSpPr/>
          <p:nvPr/>
        </p:nvSpPr>
        <p:spPr>
          <a:xfrm>
            <a:off x="428625" y="1560909"/>
            <a:ext cx="2500313" cy="2571750"/>
          </a:xfrm>
          <a:prstGeom prst="rect">
            <a:avLst/>
          </a:prstGeom>
          <a:solidFill>
            <a:srgbClr val="F9F9F9"/>
          </a:solidFill>
          <a:ln/>
        </p:spPr>
        <p:txBody>
          <a:bodyPr/>
          <a:lstStyle/>
          <a:p>
            <a:endParaRPr lang="fr-CA"/>
          </a:p>
        </p:txBody>
      </p:sp>
      <p:sp>
        <p:nvSpPr>
          <p:cNvPr id="9" name="Shape 5"/>
          <p:cNvSpPr/>
          <p:nvPr/>
        </p:nvSpPr>
        <p:spPr>
          <a:xfrm>
            <a:off x="428625" y="1560909"/>
            <a:ext cx="2500313" cy="28575"/>
          </a:xfrm>
          <a:prstGeom prst="rect">
            <a:avLst/>
          </a:prstGeom>
          <a:solidFill>
            <a:srgbClr val="003366"/>
          </a:solidFill>
          <a:ln/>
        </p:spPr>
        <p:txBody>
          <a:bodyPr/>
          <a:lstStyle/>
          <a:p>
            <a:endParaRPr lang="fr-CA"/>
          </a:p>
        </p:txBody>
      </p:sp>
      <p:sp>
        <p:nvSpPr>
          <p:cNvPr id="10" name="Shape 6"/>
          <p:cNvSpPr/>
          <p:nvPr/>
        </p:nvSpPr>
        <p:spPr>
          <a:xfrm>
            <a:off x="2921794" y="1560909"/>
            <a:ext cx="7144" cy="2571750"/>
          </a:xfrm>
          <a:prstGeom prst="rect">
            <a:avLst/>
          </a:prstGeom>
          <a:solidFill>
            <a:srgbClr val="DDDDDD"/>
          </a:solidFill>
          <a:ln/>
        </p:spPr>
        <p:txBody>
          <a:bodyPr/>
          <a:lstStyle/>
          <a:p>
            <a:endParaRPr lang="fr-CA"/>
          </a:p>
        </p:txBody>
      </p:sp>
      <p:sp>
        <p:nvSpPr>
          <p:cNvPr id="11" name="Shape 7"/>
          <p:cNvSpPr/>
          <p:nvPr/>
        </p:nvSpPr>
        <p:spPr>
          <a:xfrm>
            <a:off x="428625" y="4125516"/>
            <a:ext cx="2500313" cy="7144"/>
          </a:xfrm>
          <a:prstGeom prst="rect">
            <a:avLst/>
          </a:prstGeom>
          <a:solidFill>
            <a:srgbClr val="DDDDDD"/>
          </a:solidFill>
          <a:ln/>
        </p:spPr>
        <p:txBody>
          <a:bodyPr/>
          <a:lstStyle/>
          <a:p>
            <a:endParaRPr lang="fr-CA"/>
          </a:p>
        </p:txBody>
      </p:sp>
      <p:sp>
        <p:nvSpPr>
          <p:cNvPr id="12" name="Shape 8"/>
          <p:cNvSpPr/>
          <p:nvPr/>
        </p:nvSpPr>
        <p:spPr>
          <a:xfrm>
            <a:off x="428625" y="1560909"/>
            <a:ext cx="7144" cy="2571750"/>
          </a:xfrm>
          <a:prstGeom prst="rect">
            <a:avLst/>
          </a:prstGeom>
          <a:solidFill>
            <a:srgbClr val="DDDDDD"/>
          </a:solidFill>
          <a:ln/>
        </p:spPr>
        <p:txBody>
          <a:bodyPr/>
          <a:lstStyle/>
          <a:p>
            <a:endParaRPr lang="fr-CA"/>
          </a:p>
        </p:txBody>
      </p:sp>
      <p:pic>
        <p:nvPicPr>
          <p:cNvPr id="13" name="Image 1" descr="preencoded.png"/>
          <p:cNvPicPr>
            <a:picLocks noChangeAspect="1"/>
          </p:cNvPicPr>
          <p:nvPr/>
        </p:nvPicPr>
        <p:blipFill>
          <a:blip r:embed="rId4"/>
          <a:stretch>
            <a:fillRect/>
          </a:stretch>
        </p:blipFill>
        <p:spPr>
          <a:xfrm>
            <a:off x="571500" y="1705570"/>
            <a:ext cx="192881" cy="171450"/>
          </a:xfrm>
          <a:prstGeom prst="rect">
            <a:avLst/>
          </a:prstGeom>
        </p:spPr>
      </p:pic>
      <p:sp>
        <p:nvSpPr>
          <p:cNvPr id="14" name="Text 9"/>
          <p:cNvSpPr/>
          <p:nvPr/>
        </p:nvSpPr>
        <p:spPr>
          <a:xfrm>
            <a:off x="835819" y="1703784"/>
            <a:ext cx="1259002"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333333"/>
                </a:solidFill>
              </a:rPr>
              <a:t>1. Acquisition Vidéo</a:t>
            </a:r>
            <a:endParaRPr lang="en-US" sz="885" dirty="0"/>
          </a:p>
        </p:txBody>
      </p:sp>
      <p:sp>
        <p:nvSpPr>
          <p:cNvPr id="15" name="Text 10"/>
          <p:cNvSpPr/>
          <p:nvPr/>
        </p:nvSpPr>
        <p:spPr>
          <a:xfrm>
            <a:off x="571500" y="1993106"/>
            <a:ext cx="2078775" cy="135731"/>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55555"/>
                </a:solidFill>
              </a:rPr>
              <a:t>Capture du flux vidéo en continu depuis une</a:t>
            </a:r>
            <a:endParaRPr lang="en-US" sz="727" dirty="0"/>
          </a:p>
        </p:txBody>
      </p:sp>
      <p:sp>
        <p:nvSpPr>
          <p:cNvPr id="16" name="Text 11"/>
          <p:cNvSpPr/>
          <p:nvPr/>
        </p:nvSpPr>
        <p:spPr>
          <a:xfrm>
            <a:off x="571500" y="2143125"/>
            <a:ext cx="1965257" cy="135731"/>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55555"/>
                </a:solidFill>
              </a:rPr>
              <a:t>caméra fixe positionnée dans le bâtiment.</a:t>
            </a:r>
            <a:endParaRPr lang="en-US" sz="727" dirty="0"/>
          </a:p>
        </p:txBody>
      </p:sp>
      <p:sp>
        <p:nvSpPr>
          <p:cNvPr id="17" name="Text 12"/>
          <p:cNvSpPr/>
          <p:nvPr/>
        </p:nvSpPr>
        <p:spPr>
          <a:xfrm>
            <a:off x="571500" y="2357438"/>
            <a:ext cx="2205047"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666666"/>
                </a:solidFill>
              </a:rPr>
              <a:t>Caméra IP (RTSP/USB)</a:t>
            </a:r>
            <a:endParaRPr lang="en-US" sz="621" dirty="0"/>
          </a:p>
        </p:txBody>
      </p:sp>
      <p:sp>
        <p:nvSpPr>
          <p:cNvPr id="18" name="Text 13"/>
          <p:cNvSpPr/>
          <p:nvPr/>
        </p:nvSpPr>
        <p:spPr>
          <a:xfrm>
            <a:off x="571500" y="2521744"/>
            <a:ext cx="2205047"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666666"/>
                </a:solidFill>
              </a:rPr>
              <a:t>Résolution 1080p</a:t>
            </a:r>
            <a:endParaRPr lang="en-US" sz="621" dirty="0"/>
          </a:p>
        </p:txBody>
      </p:sp>
      <p:sp>
        <p:nvSpPr>
          <p:cNvPr id="19" name="Text 14"/>
          <p:cNvSpPr/>
          <p:nvPr/>
        </p:nvSpPr>
        <p:spPr>
          <a:xfrm>
            <a:off x="571500" y="2686050"/>
            <a:ext cx="2205047"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666666"/>
                </a:solidFill>
              </a:rPr>
              <a:t>Flux continu 30 FPS</a:t>
            </a:r>
            <a:endParaRPr lang="en-US" sz="621" dirty="0"/>
          </a:p>
        </p:txBody>
      </p:sp>
      <p:pic>
        <p:nvPicPr>
          <p:cNvPr id="20" name="Image 2" descr="preencoded.png"/>
          <p:cNvPicPr>
            <a:picLocks noChangeAspect="1"/>
          </p:cNvPicPr>
          <p:nvPr/>
        </p:nvPicPr>
        <p:blipFill>
          <a:blip r:embed="rId5"/>
          <a:stretch>
            <a:fillRect/>
          </a:stretch>
        </p:blipFill>
        <p:spPr>
          <a:xfrm>
            <a:off x="578644" y="3139678"/>
            <a:ext cx="2190759" cy="842963"/>
          </a:xfrm>
          <a:prstGeom prst="rect">
            <a:avLst/>
          </a:prstGeom>
        </p:spPr>
      </p:pic>
      <p:pic>
        <p:nvPicPr>
          <p:cNvPr id="21" name="Image 3" descr="preencoded.png"/>
          <p:cNvPicPr>
            <a:picLocks noChangeAspect="1"/>
          </p:cNvPicPr>
          <p:nvPr/>
        </p:nvPicPr>
        <p:blipFill>
          <a:blip r:embed="rId6"/>
          <a:stretch>
            <a:fillRect/>
          </a:stretch>
        </p:blipFill>
        <p:spPr>
          <a:xfrm>
            <a:off x="3062297" y="2761059"/>
            <a:ext cx="107156" cy="171450"/>
          </a:xfrm>
          <a:prstGeom prst="rect">
            <a:avLst/>
          </a:prstGeom>
        </p:spPr>
      </p:pic>
      <p:sp>
        <p:nvSpPr>
          <p:cNvPr id="22" name="Shape 15"/>
          <p:cNvSpPr/>
          <p:nvPr/>
        </p:nvSpPr>
        <p:spPr>
          <a:xfrm>
            <a:off x="3312328" y="1560909"/>
            <a:ext cx="2505084" cy="2571750"/>
          </a:xfrm>
          <a:prstGeom prst="rect">
            <a:avLst/>
          </a:prstGeom>
          <a:solidFill>
            <a:srgbClr val="F9F9F9"/>
          </a:solidFill>
          <a:ln/>
        </p:spPr>
        <p:txBody>
          <a:bodyPr/>
          <a:lstStyle/>
          <a:p>
            <a:endParaRPr lang="fr-CA"/>
          </a:p>
        </p:txBody>
      </p:sp>
      <p:sp>
        <p:nvSpPr>
          <p:cNvPr id="23" name="Shape 16"/>
          <p:cNvSpPr/>
          <p:nvPr/>
        </p:nvSpPr>
        <p:spPr>
          <a:xfrm>
            <a:off x="3312328" y="1560909"/>
            <a:ext cx="2505084" cy="28575"/>
          </a:xfrm>
          <a:prstGeom prst="rect">
            <a:avLst/>
          </a:prstGeom>
          <a:solidFill>
            <a:srgbClr val="2E8B57"/>
          </a:solidFill>
          <a:ln/>
        </p:spPr>
        <p:txBody>
          <a:bodyPr/>
          <a:lstStyle/>
          <a:p>
            <a:endParaRPr lang="fr-CA"/>
          </a:p>
        </p:txBody>
      </p:sp>
      <p:sp>
        <p:nvSpPr>
          <p:cNvPr id="24" name="Shape 17"/>
          <p:cNvSpPr/>
          <p:nvPr/>
        </p:nvSpPr>
        <p:spPr>
          <a:xfrm>
            <a:off x="5810269" y="1560909"/>
            <a:ext cx="7144" cy="2571750"/>
          </a:xfrm>
          <a:prstGeom prst="rect">
            <a:avLst/>
          </a:prstGeom>
          <a:solidFill>
            <a:srgbClr val="DDDDDD"/>
          </a:solidFill>
          <a:ln/>
        </p:spPr>
        <p:txBody>
          <a:bodyPr/>
          <a:lstStyle/>
          <a:p>
            <a:endParaRPr lang="fr-CA"/>
          </a:p>
        </p:txBody>
      </p:sp>
      <p:sp>
        <p:nvSpPr>
          <p:cNvPr id="25" name="Shape 18"/>
          <p:cNvSpPr/>
          <p:nvPr/>
        </p:nvSpPr>
        <p:spPr>
          <a:xfrm>
            <a:off x="3312328" y="4125516"/>
            <a:ext cx="2505084" cy="7144"/>
          </a:xfrm>
          <a:prstGeom prst="rect">
            <a:avLst/>
          </a:prstGeom>
          <a:solidFill>
            <a:srgbClr val="DDDDDD"/>
          </a:solidFill>
          <a:ln/>
        </p:spPr>
        <p:txBody>
          <a:bodyPr/>
          <a:lstStyle/>
          <a:p>
            <a:endParaRPr lang="fr-CA"/>
          </a:p>
        </p:txBody>
      </p:sp>
      <p:sp>
        <p:nvSpPr>
          <p:cNvPr id="26" name="Shape 19"/>
          <p:cNvSpPr/>
          <p:nvPr/>
        </p:nvSpPr>
        <p:spPr>
          <a:xfrm>
            <a:off x="3312328" y="1560909"/>
            <a:ext cx="7144" cy="2571750"/>
          </a:xfrm>
          <a:prstGeom prst="rect">
            <a:avLst/>
          </a:prstGeom>
          <a:solidFill>
            <a:srgbClr val="DDDDDD"/>
          </a:solidFill>
          <a:ln/>
        </p:spPr>
        <p:txBody>
          <a:bodyPr/>
          <a:lstStyle/>
          <a:p>
            <a:endParaRPr lang="fr-CA"/>
          </a:p>
        </p:txBody>
      </p:sp>
      <p:pic>
        <p:nvPicPr>
          <p:cNvPr id="27" name="Image 4" descr="preencoded.png"/>
          <p:cNvPicPr>
            <a:picLocks noChangeAspect="1"/>
          </p:cNvPicPr>
          <p:nvPr/>
        </p:nvPicPr>
        <p:blipFill>
          <a:blip r:embed="rId7"/>
          <a:stretch>
            <a:fillRect/>
          </a:stretch>
        </p:blipFill>
        <p:spPr>
          <a:xfrm>
            <a:off x="3459947" y="1705570"/>
            <a:ext cx="171450" cy="171450"/>
          </a:xfrm>
          <a:prstGeom prst="rect">
            <a:avLst/>
          </a:prstGeom>
        </p:spPr>
      </p:pic>
      <p:sp>
        <p:nvSpPr>
          <p:cNvPr id="28" name="Text 20"/>
          <p:cNvSpPr/>
          <p:nvPr/>
        </p:nvSpPr>
        <p:spPr>
          <a:xfrm>
            <a:off x="3702834" y="1703784"/>
            <a:ext cx="1030905"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333333"/>
                </a:solidFill>
              </a:rPr>
              <a:t>2. Traitement IA</a:t>
            </a:r>
            <a:endParaRPr lang="en-US" sz="885" dirty="0"/>
          </a:p>
        </p:txBody>
      </p:sp>
      <p:sp>
        <p:nvSpPr>
          <p:cNvPr id="29" name="Text 21"/>
          <p:cNvSpPr/>
          <p:nvPr/>
        </p:nvSpPr>
        <p:spPr>
          <a:xfrm>
            <a:off x="3459947" y="1993106"/>
            <a:ext cx="2161096" cy="135731"/>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55555"/>
                </a:solidFill>
              </a:rPr>
              <a:t>Inférence du modèle YOLOv8 pour détecter et</a:t>
            </a:r>
            <a:endParaRPr lang="en-US" sz="727" dirty="0"/>
          </a:p>
        </p:txBody>
      </p:sp>
      <p:sp>
        <p:nvSpPr>
          <p:cNvPr id="30" name="Text 22"/>
          <p:cNvSpPr/>
          <p:nvPr/>
        </p:nvSpPr>
        <p:spPr>
          <a:xfrm>
            <a:off x="3459947" y="2143125"/>
            <a:ext cx="1400287" cy="135731"/>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55555"/>
                </a:solidFill>
              </a:rPr>
              <a:t>compter chaque bovin visible.</a:t>
            </a:r>
            <a:endParaRPr lang="en-US" sz="727" dirty="0"/>
          </a:p>
        </p:txBody>
      </p:sp>
      <p:sp>
        <p:nvSpPr>
          <p:cNvPr id="31" name="Text 23"/>
          <p:cNvSpPr/>
          <p:nvPr/>
        </p:nvSpPr>
        <p:spPr>
          <a:xfrm>
            <a:off x="3459947" y="2357438"/>
            <a:ext cx="2209791"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666666"/>
                </a:solidFill>
              </a:rPr>
              <a:t>YOLOv8 (Détection)</a:t>
            </a:r>
            <a:endParaRPr lang="en-US" sz="621" dirty="0"/>
          </a:p>
        </p:txBody>
      </p:sp>
      <p:sp>
        <p:nvSpPr>
          <p:cNvPr id="32" name="Text 24"/>
          <p:cNvSpPr/>
          <p:nvPr/>
        </p:nvSpPr>
        <p:spPr>
          <a:xfrm>
            <a:off x="3459947" y="2521744"/>
            <a:ext cx="2209791"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666666"/>
                </a:solidFill>
              </a:rPr>
              <a:t>OpenCV (Traitement)</a:t>
            </a:r>
            <a:endParaRPr lang="en-US" sz="621" dirty="0"/>
          </a:p>
        </p:txBody>
      </p:sp>
      <p:sp>
        <p:nvSpPr>
          <p:cNvPr id="33" name="Text 25"/>
          <p:cNvSpPr/>
          <p:nvPr/>
        </p:nvSpPr>
        <p:spPr>
          <a:xfrm>
            <a:off x="3459947" y="2686050"/>
            <a:ext cx="2209791"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666666"/>
                </a:solidFill>
              </a:rPr>
              <a:t>Génération Heatmap</a:t>
            </a:r>
            <a:endParaRPr lang="en-US" sz="621" dirty="0"/>
          </a:p>
        </p:txBody>
      </p:sp>
      <p:pic>
        <p:nvPicPr>
          <p:cNvPr id="34" name="Image 5" descr="preencoded.png"/>
          <p:cNvPicPr>
            <a:picLocks noChangeAspect="1"/>
          </p:cNvPicPr>
          <p:nvPr/>
        </p:nvPicPr>
        <p:blipFill>
          <a:blip r:embed="rId8"/>
          <a:stretch>
            <a:fillRect/>
          </a:stretch>
        </p:blipFill>
        <p:spPr>
          <a:xfrm>
            <a:off x="3467091" y="3139678"/>
            <a:ext cx="2195503" cy="842963"/>
          </a:xfrm>
          <a:prstGeom prst="rect">
            <a:avLst/>
          </a:prstGeom>
        </p:spPr>
      </p:pic>
      <p:pic>
        <p:nvPicPr>
          <p:cNvPr id="35" name="Image 6" descr="preencoded.png"/>
          <p:cNvPicPr>
            <a:picLocks noChangeAspect="1"/>
          </p:cNvPicPr>
          <p:nvPr/>
        </p:nvPicPr>
        <p:blipFill>
          <a:blip r:embed="rId6"/>
          <a:stretch>
            <a:fillRect/>
          </a:stretch>
        </p:blipFill>
        <p:spPr>
          <a:xfrm>
            <a:off x="5955488" y="2761059"/>
            <a:ext cx="107156" cy="171450"/>
          </a:xfrm>
          <a:prstGeom prst="rect">
            <a:avLst/>
          </a:prstGeom>
        </p:spPr>
      </p:pic>
      <p:sp>
        <p:nvSpPr>
          <p:cNvPr id="36" name="Shape 26"/>
          <p:cNvSpPr/>
          <p:nvPr/>
        </p:nvSpPr>
        <p:spPr>
          <a:xfrm>
            <a:off x="6205519" y="1560909"/>
            <a:ext cx="2509828" cy="2571750"/>
          </a:xfrm>
          <a:prstGeom prst="rect">
            <a:avLst/>
          </a:prstGeom>
          <a:solidFill>
            <a:srgbClr val="F9F9F9"/>
          </a:solidFill>
          <a:ln/>
        </p:spPr>
        <p:txBody>
          <a:bodyPr/>
          <a:lstStyle/>
          <a:p>
            <a:endParaRPr lang="fr-CA"/>
          </a:p>
        </p:txBody>
      </p:sp>
      <p:sp>
        <p:nvSpPr>
          <p:cNvPr id="37" name="Shape 27"/>
          <p:cNvSpPr/>
          <p:nvPr/>
        </p:nvSpPr>
        <p:spPr>
          <a:xfrm>
            <a:off x="6205519" y="1560909"/>
            <a:ext cx="2509828" cy="28575"/>
          </a:xfrm>
          <a:prstGeom prst="rect">
            <a:avLst/>
          </a:prstGeom>
          <a:solidFill>
            <a:srgbClr val="003366"/>
          </a:solidFill>
          <a:ln/>
        </p:spPr>
        <p:txBody>
          <a:bodyPr/>
          <a:lstStyle/>
          <a:p>
            <a:endParaRPr lang="fr-CA"/>
          </a:p>
        </p:txBody>
      </p:sp>
      <p:sp>
        <p:nvSpPr>
          <p:cNvPr id="38" name="Shape 28"/>
          <p:cNvSpPr/>
          <p:nvPr/>
        </p:nvSpPr>
        <p:spPr>
          <a:xfrm>
            <a:off x="8708203" y="1560909"/>
            <a:ext cx="7144" cy="2571750"/>
          </a:xfrm>
          <a:prstGeom prst="rect">
            <a:avLst/>
          </a:prstGeom>
          <a:solidFill>
            <a:srgbClr val="DDDDDD"/>
          </a:solidFill>
          <a:ln/>
        </p:spPr>
        <p:txBody>
          <a:bodyPr/>
          <a:lstStyle/>
          <a:p>
            <a:endParaRPr lang="fr-CA"/>
          </a:p>
        </p:txBody>
      </p:sp>
      <p:sp>
        <p:nvSpPr>
          <p:cNvPr id="39" name="Shape 29"/>
          <p:cNvSpPr/>
          <p:nvPr/>
        </p:nvSpPr>
        <p:spPr>
          <a:xfrm>
            <a:off x="6205519" y="4125516"/>
            <a:ext cx="2509828" cy="7144"/>
          </a:xfrm>
          <a:prstGeom prst="rect">
            <a:avLst/>
          </a:prstGeom>
          <a:solidFill>
            <a:srgbClr val="DDDDDD"/>
          </a:solidFill>
          <a:ln/>
        </p:spPr>
        <p:txBody>
          <a:bodyPr/>
          <a:lstStyle/>
          <a:p>
            <a:endParaRPr lang="fr-CA"/>
          </a:p>
        </p:txBody>
      </p:sp>
      <p:sp>
        <p:nvSpPr>
          <p:cNvPr id="40" name="Shape 30"/>
          <p:cNvSpPr/>
          <p:nvPr/>
        </p:nvSpPr>
        <p:spPr>
          <a:xfrm>
            <a:off x="6205519" y="1560909"/>
            <a:ext cx="7144" cy="2571750"/>
          </a:xfrm>
          <a:prstGeom prst="rect">
            <a:avLst/>
          </a:prstGeom>
          <a:solidFill>
            <a:srgbClr val="DDDDDD"/>
          </a:solidFill>
          <a:ln/>
        </p:spPr>
        <p:txBody>
          <a:bodyPr/>
          <a:lstStyle/>
          <a:p>
            <a:endParaRPr lang="fr-CA"/>
          </a:p>
        </p:txBody>
      </p:sp>
      <p:pic>
        <p:nvPicPr>
          <p:cNvPr id="41" name="Image 7" descr="preencoded.png"/>
          <p:cNvPicPr>
            <a:picLocks noChangeAspect="1"/>
          </p:cNvPicPr>
          <p:nvPr/>
        </p:nvPicPr>
        <p:blipFill>
          <a:blip r:embed="rId9"/>
          <a:stretch>
            <a:fillRect/>
          </a:stretch>
        </p:blipFill>
        <p:spPr>
          <a:xfrm>
            <a:off x="6357938" y="1705570"/>
            <a:ext cx="192881" cy="171450"/>
          </a:xfrm>
          <a:prstGeom prst="rect">
            <a:avLst/>
          </a:prstGeom>
        </p:spPr>
      </p:pic>
      <p:sp>
        <p:nvSpPr>
          <p:cNvPr id="42" name="Text 31"/>
          <p:cNvSpPr/>
          <p:nvPr/>
        </p:nvSpPr>
        <p:spPr>
          <a:xfrm>
            <a:off x="6622256" y="1703784"/>
            <a:ext cx="971634"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333333"/>
                </a:solidFill>
              </a:rPr>
              <a:t>3. Visualisation</a:t>
            </a:r>
            <a:endParaRPr lang="en-US" sz="885" dirty="0"/>
          </a:p>
        </p:txBody>
      </p:sp>
      <p:sp>
        <p:nvSpPr>
          <p:cNvPr id="43" name="Text 32"/>
          <p:cNvSpPr/>
          <p:nvPr/>
        </p:nvSpPr>
        <p:spPr>
          <a:xfrm>
            <a:off x="6357938" y="1993106"/>
            <a:ext cx="1890443" cy="135731"/>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55555"/>
                </a:solidFill>
              </a:rPr>
              <a:t>Interface web affichant le flux annoté, le</a:t>
            </a:r>
            <a:endParaRPr lang="en-US" sz="727" dirty="0"/>
          </a:p>
        </p:txBody>
      </p:sp>
      <p:sp>
        <p:nvSpPr>
          <p:cNvPr id="44" name="Text 33"/>
          <p:cNvSpPr/>
          <p:nvPr/>
        </p:nvSpPr>
        <p:spPr>
          <a:xfrm>
            <a:off x="6357938" y="2143125"/>
            <a:ext cx="1506689" cy="135731"/>
          </a:xfrm>
          <a:prstGeom prst="rect">
            <a:avLst/>
          </a:prstGeom>
          <a:noFill/>
          <a:ln/>
        </p:spPr>
        <p:txBody>
          <a:bodyPr wrap="none" lIns="0" tIns="0" rIns="0" bIns="0" rtlCol="0" anchor="t">
            <a:spAutoFit/>
          </a:bodyPr>
          <a:lstStyle/>
          <a:p>
            <a:pPr marL="0" indent="0" algn="l">
              <a:lnSpc>
                <a:spcPts val="1200"/>
              </a:lnSpc>
              <a:buNone/>
            </a:pPr>
            <a:r>
              <a:rPr lang="en-US" sz="727" dirty="0">
                <a:solidFill>
                  <a:srgbClr val="555555"/>
                </a:solidFill>
              </a:rPr>
              <a:t>comptage et la carte de densité.</a:t>
            </a:r>
            <a:endParaRPr lang="en-US" sz="727" dirty="0"/>
          </a:p>
        </p:txBody>
      </p:sp>
      <p:sp>
        <p:nvSpPr>
          <p:cNvPr id="45" name="Text 34"/>
          <p:cNvSpPr/>
          <p:nvPr/>
        </p:nvSpPr>
        <p:spPr>
          <a:xfrm>
            <a:off x="6357938" y="2357438"/>
            <a:ext cx="2214563"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666666"/>
                </a:solidFill>
              </a:rPr>
              <a:t>Serveur Flask (Web)</a:t>
            </a:r>
            <a:endParaRPr lang="en-US" sz="621" dirty="0"/>
          </a:p>
        </p:txBody>
      </p:sp>
      <p:sp>
        <p:nvSpPr>
          <p:cNvPr id="46" name="Text 35"/>
          <p:cNvSpPr/>
          <p:nvPr/>
        </p:nvSpPr>
        <p:spPr>
          <a:xfrm>
            <a:off x="6357938" y="2521744"/>
            <a:ext cx="2214563"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666666"/>
                </a:solidFill>
              </a:rPr>
              <a:t>Compteur temps réel</a:t>
            </a:r>
            <a:endParaRPr lang="en-US" sz="621" dirty="0"/>
          </a:p>
        </p:txBody>
      </p:sp>
      <p:sp>
        <p:nvSpPr>
          <p:cNvPr id="47" name="Text 36"/>
          <p:cNvSpPr/>
          <p:nvPr/>
        </p:nvSpPr>
        <p:spPr>
          <a:xfrm>
            <a:off x="6357938" y="2686050"/>
            <a:ext cx="2214563"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666666"/>
                </a:solidFill>
              </a:rPr>
              <a:t>Heatmap interactive</a:t>
            </a:r>
            <a:endParaRPr lang="en-US" sz="621" dirty="0"/>
          </a:p>
        </p:txBody>
      </p:sp>
      <p:sp>
        <p:nvSpPr>
          <p:cNvPr id="48" name="Shape 37"/>
          <p:cNvSpPr/>
          <p:nvPr/>
        </p:nvSpPr>
        <p:spPr>
          <a:xfrm>
            <a:off x="6357938" y="3132534"/>
            <a:ext cx="2214563" cy="857250"/>
          </a:xfrm>
          <a:prstGeom prst="rect">
            <a:avLst/>
          </a:prstGeom>
          <a:solidFill>
            <a:srgbClr val="F0F0F0"/>
          </a:solidFill>
          <a:ln w="9144">
            <a:solidFill>
              <a:srgbClr val="EEEEEE"/>
            </a:solidFill>
            <a:prstDash val="solid"/>
          </a:ln>
        </p:spPr>
        <p:txBody>
          <a:bodyPr/>
          <a:lstStyle/>
          <a:p>
            <a:endParaRPr lang="fr-CA"/>
          </a:p>
        </p:txBody>
      </p:sp>
      <p:pic>
        <p:nvPicPr>
          <p:cNvPr id="49" name="Image 8" descr="preencoded.png"/>
          <p:cNvPicPr>
            <a:picLocks noChangeAspect="1"/>
          </p:cNvPicPr>
          <p:nvPr/>
        </p:nvPicPr>
        <p:blipFill>
          <a:blip r:embed="rId10"/>
          <a:stretch>
            <a:fillRect/>
          </a:stretch>
        </p:blipFill>
        <p:spPr>
          <a:xfrm>
            <a:off x="7350891" y="3378101"/>
            <a:ext cx="228600" cy="228600"/>
          </a:xfrm>
          <a:prstGeom prst="rect">
            <a:avLst/>
          </a:prstGeom>
        </p:spPr>
      </p:pic>
      <p:sp>
        <p:nvSpPr>
          <p:cNvPr id="50" name="Text 38"/>
          <p:cNvSpPr/>
          <p:nvPr/>
        </p:nvSpPr>
        <p:spPr>
          <a:xfrm>
            <a:off x="7163116" y="3608487"/>
            <a:ext cx="604177" cy="13573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333333"/>
                </a:solidFill>
              </a:rPr>
              <a:t>DASHBOARD</a:t>
            </a:r>
            <a:endParaRPr lang="en-US" sz="727" dirty="0"/>
          </a:p>
        </p:txBody>
      </p:sp>
      <p:sp>
        <p:nvSpPr>
          <p:cNvPr id="51" name="Shape 39"/>
          <p:cNvSpPr/>
          <p:nvPr/>
        </p:nvSpPr>
        <p:spPr>
          <a:xfrm>
            <a:off x="428625" y="4346972"/>
            <a:ext cx="8286750" cy="383977"/>
          </a:xfrm>
          <a:prstGeom prst="rect">
            <a:avLst/>
          </a:prstGeom>
          <a:solidFill>
            <a:srgbClr val="E8F5E9"/>
          </a:solidFill>
          <a:ln w="9144">
            <a:solidFill>
              <a:srgbClr val="2E8B57"/>
            </a:solidFill>
            <a:prstDash val="solid"/>
          </a:ln>
        </p:spPr>
        <p:txBody>
          <a:bodyPr/>
          <a:lstStyle/>
          <a:p>
            <a:endParaRPr lang="fr-CA"/>
          </a:p>
        </p:txBody>
      </p:sp>
      <p:pic>
        <p:nvPicPr>
          <p:cNvPr id="52" name="Image 9" descr="preencoded.png"/>
          <p:cNvPicPr>
            <a:picLocks noChangeAspect="1"/>
          </p:cNvPicPr>
          <p:nvPr/>
        </p:nvPicPr>
        <p:blipFill>
          <a:blip r:embed="rId11"/>
          <a:stretch>
            <a:fillRect/>
          </a:stretch>
        </p:blipFill>
        <p:spPr>
          <a:xfrm>
            <a:off x="2260522" y="4474666"/>
            <a:ext cx="114300" cy="114300"/>
          </a:xfrm>
          <a:prstGeom prst="rect">
            <a:avLst/>
          </a:prstGeom>
        </p:spPr>
      </p:pic>
      <p:sp>
        <p:nvSpPr>
          <p:cNvPr id="53" name="Text 40"/>
          <p:cNvSpPr/>
          <p:nvPr/>
        </p:nvSpPr>
        <p:spPr>
          <a:xfrm>
            <a:off x="2481979" y="4454128"/>
            <a:ext cx="4401471" cy="155377"/>
          </a:xfrm>
          <a:prstGeom prst="rect">
            <a:avLst/>
          </a:prstGeom>
          <a:noFill/>
          <a:ln/>
        </p:spPr>
        <p:txBody>
          <a:bodyPr wrap="none" lIns="0" tIns="0" rIns="0" bIns="0" rtlCol="0" anchor="t">
            <a:spAutoFit/>
          </a:bodyPr>
          <a:lstStyle/>
          <a:p>
            <a:pPr marL="0" indent="0" algn="ctr">
              <a:lnSpc>
                <a:spcPts val="1100"/>
              </a:lnSpc>
              <a:buNone/>
            </a:pPr>
            <a:r>
              <a:rPr lang="en-US" sz="784" b="1" dirty="0">
                <a:solidFill>
                  <a:srgbClr val="1B5E20"/>
                </a:solidFill>
              </a:rPr>
              <a:t>TRAITEMENT 100% LOCAL - EDGE COMPUTING (RASPBERRY PI / JETSON NANO)</a:t>
            </a:r>
            <a:endParaRPr lang="en-US" sz="78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41164"/>
          </a:xfrm>
          <a:prstGeom prst="rect">
            <a:avLst/>
          </a:prstGeom>
          <a:solidFill>
            <a:srgbClr val="003366"/>
          </a:solidFill>
          <a:ln/>
        </p:spPr>
        <p:txBody>
          <a:bodyPr/>
          <a:lstStyle/>
          <a:p>
            <a:endParaRPr lang="fr-CA"/>
          </a:p>
        </p:txBody>
      </p:sp>
      <p:sp>
        <p:nvSpPr>
          <p:cNvPr id="5" name="Text 1"/>
          <p:cNvSpPr/>
          <p:nvPr/>
        </p:nvSpPr>
        <p:spPr>
          <a:xfrm>
            <a:off x="428625" y="214313"/>
            <a:ext cx="2008733"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Technologies Clés</a:t>
            </a:r>
            <a:endParaRPr lang="en-US" sz="1602" dirty="0"/>
          </a:p>
        </p:txBody>
      </p:sp>
      <p:sp>
        <p:nvSpPr>
          <p:cNvPr id="6" name="Text 2"/>
          <p:cNvSpPr/>
          <p:nvPr/>
        </p:nvSpPr>
        <p:spPr>
          <a:xfrm>
            <a:off x="8351881" y="292894"/>
            <a:ext cx="363494"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2E8B57"/>
                </a:solidFill>
              </a:rPr>
              <a:t>06 / 10</a:t>
            </a:r>
            <a:endParaRPr lang="en-US" sz="834" dirty="0"/>
          </a:p>
        </p:txBody>
      </p:sp>
      <p:sp>
        <p:nvSpPr>
          <p:cNvPr id="7" name="Text 3"/>
          <p:cNvSpPr/>
          <p:nvPr/>
        </p:nvSpPr>
        <p:spPr>
          <a:xfrm>
            <a:off x="428625" y="1026914"/>
            <a:ext cx="8286750" cy="300038"/>
          </a:xfrm>
          <a:prstGeom prst="rect">
            <a:avLst/>
          </a:prstGeom>
          <a:noFill/>
          <a:ln/>
        </p:spPr>
        <p:txBody>
          <a:bodyPr wrap="square" lIns="0" tIns="0" rIns="0" bIns="85090" rtlCol="0" anchor="t">
            <a:spAutoFit/>
          </a:bodyPr>
          <a:lstStyle/>
          <a:p>
            <a:pPr marL="0" indent="0" algn="l">
              <a:lnSpc>
                <a:spcPts val="1500"/>
              </a:lnSpc>
              <a:buNone/>
            </a:pPr>
            <a:r>
              <a:rPr lang="en-US" sz="1090" b="1" dirty="0">
                <a:solidFill>
                  <a:srgbClr val="003366"/>
                </a:solidFill>
              </a:rPr>
              <a:t>Stack Technologique du Système de Vision</a:t>
            </a:r>
            <a:endParaRPr lang="en-US" sz="1090" dirty="0"/>
          </a:p>
        </p:txBody>
      </p:sp>
      <p:sp>
        <p:nvSpPr>
          <p:cNvPr id="8" name="Shape 4"/>
          <p:cNvSpPr/>
          <p:nvPr/>
        </p:nvSpPr>
        <p:spPr>
          <a:xfrm>
            <a:off x="428625" y="1541264"/>
            <a:ext cx="1937742" cy="1364066"/>
          </a:xfrm>
          <a:prstGeom prst="rect">
            <a:avLst/>
          </a:prstGeom>
          <a:solidFill>
            <a:srgbClr val="F9F9F9"/>
          </a:solidFill>
          <a:ln/>
        </p:spPr>
        <p:txBody>
          <a:bodyPr/>
          <a:lstStyle/>
          <a:p>
            <a:endParaRPr lang="fr-CA"/>
          </a:p>
        </p:txBody>
      </p:sp>
      <p:sp>
        <p:nvSpPr>
          <p:cNvPr id="9" name="Shape 5"/>
          <p:cNvSpPr/>
          <p:nvPr/>
        </p:nvSpPr>
        <p:spPr>
          <a:xfrm>
            <a:off x="428625" y="1541264"/>
            <a:ext cx="1937742" cy="28575"/>
          </a:xfrm>
          <a:prstGeom prst="rect">
            <a:avLst/>
          </a:prstGeom>
          <a:solidFill>
            <a:srgbClr val="2E8B57"/>
          </a:solidFill>
          <a:ln/>
        </p:spPr>
        <p:txBody>
          <a:bodyPr/>
          <a:lstStyle/>
          <a:p>
            <a:endParaRPr lang="fr-CA"/>
          </a:p>
        </p:txBody>
      </p:sp>
      <p:sp>
        <p:nvSpPr>
          <p:cNvPr id="10" name="Shape 6"/>
          <p:cNvSpPr/>
          <p:nvPr/>
        </p:nvSpPr>
        <p:spPr>
          <a:xfrm>
            <a:off x="2359223" y="1541264"/>
            <a:ext cx="7144" cy="1364066"/>
          </a:xfrm>
          <a:prstGeom prst="rect">
            <a:avLst/>
          </a:prstGeom>
          <a:solidFill>
            <a:srgbClr val="DDDDDD"/>
          </a:solidFill>
          <a:ln/>
        </p:spPr>
        <p:txBody>
          <a:bodyPr/>
          <a:lstStyle/>
          <a:p>
            <a:endParaRPr lang="fr-CA"/>
          </a:p>
        </p:txBody>
      </p:sp>
      <p:sp>
        <p:nvSpPr>
          <p:cNvPr id="11" name="Shape 7"/>
          <p:cNvSpPr/>
          <p:nvPr/>
        </p:nvSpPr>
        <p:spPr>
          <a:xfrm>
            <a:off x="428625" y="2898186"/>
            <a:ext cx="1937742" cy="7144"/>
          </a:xfrm>
          <a:prstGeom prst="rect">
            <a:avLst/>
          </a:prstGeom>
          <a:solidFill>
            <a:srgbClr val="DDDDDD"/>
          </a:solidFill>
          <a:ln/>
        </p:spPr>
        <p:txBody>
          <a:bodyPr/>
          <a:lstStyle/>
          <a:p>
            <a:endParaRPr lang="fr-CA"/>
          </a:p>
        </p:txBody>
      </p:sp>
      <p:sp>
        <p:nvSpPr>
          <p:cNvPr id="12" name="Shape 8"/>
          <p:cNvSpPr/>
          <p:nvPr/>
        </p:nvSpPr>
        <p:spPr>
          <a:xfrm>
            <a:off x="428625" y="1541264"/>
            <a:ext cx="7144" cy="1364066"/>
          </a:xfrm>
          <a:prstGeom prst="rect">
            <a:avLst/>
          </a:prstGeom>
          <a:solidFill>
            <a:srgbClr val="DDDDDD"/>
          </a:solidFill>
          <a:ln/>
        </p:spPr>
        <p:txBody>
          <a:bodyPr/>
          <a:lstStyle/>
          <a:p>
            <a:endParaRPr lang="fr-CA"/>
          </a:p>
        </p:txBody>
      </p:sp>
      <p:pic>
        <p:nvPicPr>
          <p:cNvPr id="13" name="Image 1" descr="preencoded.png"/>
          <p:cNvPicPr>
            <a:picLocks noChangeAspect="1"/>
          </p:cNvPicPr>
          <p:nvPr/>
        </p:nvPicPr>
        <p:blipFill>
          <a:blip r:embed="rId4"/>
          <a:stretch>
            <a:fillRect/>
          </a:stretch>
        </p:blipFill>
        <p:spPr>
          <a:xfrm>
            <a:off x="571500" y="1684139"/>
            <a:ext cx="1651992" cy="257175"/>
          </a:xfrm>
          <a:prstGeom prst="rect">
            <a:avLst/>
          </a:prstGeom>
        </p:spPr>
      </p:pic>
      <p:sp>
        <p:nvSpPr>
          <p:cNvPr id="14" name="Text 9"/>
          <p:cNvSpPr/>
          <p:nvPr/>
        </p:nvSpPr>
        <p:spPr>
          <a:xfrm>
            <a:off x="571500" y="2012752"/>
            <a:ext cx="1651992"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333333"/>
                </a:solidFill>
              </a:rPr>
              <a:t>YOLOv8</a:t>
            </a:r>
            <a:endParaRPr lang="en-US" sz="885" dirty="0"/>
          </a:p>
        </p:txBody>
      </p:sp>
      <p:sp>
        <p:nvSpPr>
          <p:cNvPr id="15" name="Text 10"/>
          <p:cNvSpPr/>
          <p:nvPr/>
        </p:nvSpPr>
        <p:spPr>
          <a:xfrm>
            <a:off x="571500" y="2259211"/>
            <a:ext cx="1651992" cy="116086"/>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888888"/>
                </a:solidFill>
              </a:rPr>
              <a:t>Détection d'objets</a:t>
            </a:r>
            <a:endParaRPr lang="en-US" sz="621" dirty="0"/>
          </a:p>
        </p:txBody>
      </p:sp>
      <p:sp>
        <p:nvSpPr>
          <p:cNvPr id="16" name="Text 11"/>
          <p:cNvSpPr/>
          <p:nvPr/>
        </p:nvSpPr>
        <p:spPr>
          <a:xfrm>
            <a:off x="571500" y="2446734"/>
            <a:ext cx="1651992" cy="280002"/>
          </a:xfrm>
          <a:prstGeom prst="rect">
            <a:avLst/>
          </a:prstGeom>
          <a:noFill/>
          <a:ln/>
        </p:spPr>
        <p:txBody>
          <a:bodyPr wrap="square" lIns="0" tIns="0" rIns="0" bIns="0" rtlCol="0" anchor="t">
            <a:spAutoFit/>
          </a:bodyPr>
          <a:lstStyle/>
          <a:p>
            <a:pPr marL="0" indent="0" algn="ctr">
              <a:lnSpc>
                <a:spcPts val="1100"/>
              </a:lnSpc>
              <a:buNone/>
            </a:pPr>
            <a:r>
              <a:rPr lang="en-US" sz="727" dirty="0">
                <a:solidFill>
                  <a:srgbClr val="555555"/>
                </a:solidFill>
              </a:rPr>
              <a:t>Modèle SOTA pour la détection temps réel avec précision élevée.</a:t>
            </a:r>
            <a:endParaRPr lang="en-US" sz="727" dirty="0"/>
          </a:p>
        </p:txBody>
      </p:sp>
      <p:sp>
        <p:nvSpPr>
          <p:cNvPr id="17" name="Shape 12"/>
          <p:cNvSpPr/>
          <p:nvPr/>
        </p:nvSpPr>
        <p:spPr>
          <a:xfrm>
            <a:off x="2544961" y="1541264"/>
            <a:ext cx="1937742" cy="1364066"/>
          </a:xfrm>
          <a:prstGeom prst="rect">
            <a:avLst/>
          </a:prstGeom>
          <a:solidFill>
            <a:srgbClr val="F9F9F9"/>
          </a:solidFill>
          <a:ln/>
        </p:spPr>
        <p:txBody>
          <a:bodyPr/>
          <a:lstStyle/>
          <a:p>
            <a:endParaRPr lang="fr-CA"/>
          </a:p>
        </p:txBody>
      </p:sp>
      <p:sp>
        <p:nvSpPr>
          <p:cNvPr id="18" name="Shape 13"/>
          <p:cNvSpPr/>
          <p:nvPr/>
        </p:nvSpPr>
        <p:spPr>
          <a:xfrm>
            <a:off x="2544961" y="1541264"/>
            <a:ext cx="1937742" cy="28575"/>
          </a:xfrm>
          <a:prstGeom prst="rect">
            <a:avLst/>
          </a:prstGeom>
          <a:solidFill>
            <a:srgbClr val="003366"/>
          </a:solidFill>
          <a:ln/>
        </p:spPr>
        <p:txBody>
          <a:bodyPr/>
          <a:lstStyle/>
          <a:p>
            <a:endParaRPr lang="fr-CA"/>
          </a:p>
        </p:txBody>
      </p:sp>
      <p:sp>
        <p:nvSpPr>
          <p:cNvPr id="19" name="Shape 14"/>
          <p:cNvSpPr/>
          <p:nvPr/>
        </p:nvSpPr>
        <p:spPr>
          <a:xfrm>
            <a:off x="4475559" y="1541264"/>
            <a:ext cx="7144" cy="1364066"/>
          </a:xfrm>
          <a:prstGeom prst="rect">
            <a:avLst/>
          </a:prstGeom>
          <a:solidFill>
            <a:srgbClr val="DDDDDD"/>
          </a:solidFill>
          <a:ln/>
        </p:spPr>
        <p:txBody>
          <a:bodyPr/>
          <a:lstStyle/>
          <a:p>
            <a:endParaRPr lang="fr-CA"/>
          </a:p>
        </p:txBody>
      </p:sp>
      <p:sp>
        <p:nvSpPr>
          <p:cNvPr id="20" name="Shape 15"/>
          <p:cNvSpPr/>
          <p:nvPr/>
        </p:nvSpPr>
        <p:spPr>
          <a:xfrm>
            <a:off x="2544961" y="2898186"/>
            <a:ext cx="1937742" cy="7144"/>
          </a:xfrm>
          <a:prstGeom prst="rect">
            <a:avLst/>
          </a:prstGeom>
          <a:solidFill>
            <a:srgbClr val="DDDDDD"/>
          </a:solidFill>
          <a:ln/>
        </p:spPr>
        <p:txBody>
          <a:bodyPr/>
          <a:lstStyle/>
          <a:p>
            <a:endParaRPr lang="fr-CA"/>
          </a:p>
        </p:txBody>
      </p:sp>
      <p:sp>
        <p:nvSpPr>
          <p:cNvPr id="21" name="Shape 16"/>
          <p:cNvSpPr/>
          <p:nvPr/>
        </p:nvSpPr>
        <p:spPr>
          <a:xfrm>
            <a:off x="2544961" y="1541264"/>
            <a:ext cx="7144" cy="1364066"/>
          </a:xfrm>
          <a:prstGeom prst="rect">
            <a:avLst/>
          </a:prstGeom>
          <a:solidFill>
            <a:srgbClr val="DDDDDD"/>
          </a:solidFill>
          <a:ln/>
        </p:spPr>
        <p:txBody>
          <a:bodyPr/>
          <a:lstStyle/>
          <a:p>
            <a:endParaRPr lang="fr-CA"/>
          </a:p>
        </p:txBody>
      </p:sp>
      <p:pic>
        <p:nvPicPr>
          <p:cNvPr id="22" name="Image 2" descr="preencoded.png"/>
          <p:cNvPicPr>
            <a:picLocks noChangeAspect="1"/>
          </p:cNvPicPr>
          <p:nvPr/>
        </p:nvPicPr>
        <p:blipFill>
          <a:blip r:embed="rId5"/>
          <a:stretch>
            <a:fillRect/>
          </a:stretch>
        </p:blipFill>
        <p:spPr>
          <a:xfrm>
            <a:off x="2687836" y="1684139"/>
            <a:ext cx="1651992" cy="257175"/>
          </a:xfrm>
          <a:prstGeom prst="rect">
            <a:avLst/>
          </a:prstGeom>
        </p:spPr>
      </p:pic>
      <p:sp>
        <p:nvSpPr>
          <p:cNvPr id="23" name="Text 17"/>
          <p:cNvSpPr/>
          <p:nvPr/>
        </p:nvSpPr>
        <p:spPr>
          <a:xfrm>
            <a:off x="2687836" y="2012752"/>
            <a:ext cx="1651992"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333333"/>
                </a:solidFill>
              </a:rPr>
              <a:t>OpenCV</a:t>
            </a:r>
            <a:endParaRPr lang="en-US" sz="885" dirty="0"/>
          </a:p>
        </p:txBody>
      </p:sp>
      <p:sp>
        <p:nvSpPr>
          <p:cNvPr id="24" name="Text 18"/>
          <p:cNvSpPr/>
          <p:nvPr/>
        </p:nvSpPr>
        <p:spPr>
          <a:xfrm>
            <a:off x="2687836" y="2259211"/>
            <a:ext cx="1651992" cy="116086"/>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888888"/>
                </a:solidFill>
              </a:rPr>
              <a:t>Traitement d'image</a:t>
            </a:r>
            <a:endParaRPr lang="en-US" sz="621" dirty="0"/>
          </a:p>
        </p:txBody>
      </p:sp>
      <p:sp>
        <p:nvSpPr>
          <p:cNvPr id="25" name="Text 19"/>
          <p:cNvSpPr/>
          <p:nvPr/>
        </p:nvSpPr>
        <p:spPr>
          <a:xfrm>
            <a:off x="2687836" y="2446734"/>
            <a:ext cx="1651992" cy="280002"/>
          </a:xfrm>
          <a:prstGeom prst="rect">
            <a:avLst/>
          </a:prstGeom>
          <a:noFill/>
          <a:ln/>
        </p:spPr>
        <p:txBody>
          <a:bodyPr wrap="square" lIns="0" tIns="0" rIns="0" bIns="0" rtlCol="0" anchor="t">
            <a:spAutoFit/>
          </a:bodyPr>
          <a:lstStyle/>
          <a:p>
            <a:pPr marL="0" indent="0" algn="ctr">
              <a:lnSpc>
                <a:spcPts val="1100"/>
              </a:lnSpc>
              <a:buNone/>
            </a:pPr>
            <a:r>
              <a:rPr lang="en-US" sz="727" dirty="0">
                <a:solidFill>
                  <a:srgbClr val="555555"/>
                </a:solidFill>
              </a:rPr>
              <a:t>Capture vidéo, prétraitement et génération de heatmap.</a:t>
            </a:r>
            <a:endParaRPr lang="en-US" sz="727" dirty="0"/>
          </a:p>
        </p:txBody>
      </p:sp>
      <p:sp>
        <p:nvSpPr>
          <p:cNvPr id="26" name="Shape 20"/>
          <p:cNvSpPr/>
          <p:nvPr/>
        </p:nvSpPr>
        <p:spPr>
          <a:xfrm>
            <a:off x="4661297" y="1541264"/>
            <a:ext cx="1937742" cy="1364066"/>
          </a:xfrm>
          <a:prstGeom prst="rect">
            <a:avLst/>
          </a:prstGeom>
          <a:solidFill>
            <a:srgbClr val="F9F9F9"/>
          </a:solidFill>
          <a:ln/>
        </p:spPr>
        <p:txBody>
          <a:bodyPr/>
          <a:lstStyle/>
          <a:p>
            <a:endParaRPr lang="fr-CA"/>
          </a:p>
        </p:txBody>
      </p:sp>
      <p:sp>
        <p:nvSpPr>
          <p:cNvPr id="27" name="Shape 21"/>
          <p:cNvSpPr/>
          <p:nvPr/>
        </p:nvSpPr>
        <p:spPr>
          <a:xfrm>
            <a:off x="4661297" y="1541264"/>
            <a:ext cx="1937742" cy="28575"/>
          </a:xfrm>
          <a:prstGeom prst="rect">
            <a:avLst/>
          </a:prstGeom>
          <a:solidFill>
            <a:srgbClr val="003366"/>
          </a:solidFill>
          <a:ln/>
        </p:spPr>
        <p:txBody>
          <a:bodyPr/>
          <a:lstStyle/>
          <a:p>
            <a:endParaRPr lang="fr-CA"/>
          </a:p>
        </p:txBody>
      </p:sp>
      <p:sp>
        <p:nvSpPr>
          <p:cNvPr id="28" name="Shape 22"/>
          <p:cNvSpPr/>
          <p:nvPr/>
        </p:nvSpPr>
        <p:spPr>
          <a:xfrm>
            <a:off x="6591895" y="1541264"/>
            <a:ext cx="7144" cy="1364066"/>
          </a:xfrm>
          <a:prstGeom prst="rect">
            <a:avLst/>
          </a:prstGeom>
          <a:solidFill>
            <a:srgbClr val="DDDDDD"/>
          </a:solidFill>
          <a:ln/>
        </p:spPr>
        <p:txBody>
          <a:bodyPr/>
          <a:lstStyle/>
          <a:p>
            <a:endParaRPr lang="fr-CA"/>
          </a:p>
        </p:txBody>
      </p:sp>
      <p:sp>
        <p:nvSpPr>
          <p:cNvPr id="29" name="Shape 23"/>
          <p:cNvSpPr/>
          <p:nvPr/>
        </p:nvSpPr>
        <p:spPr>
          <a:xfrm>
            <a:off x="4661297" y="2898186"/>
            <a:ext cx="1937742" cy="7144"/>
          </a:xfrm>
          <a:prstGeom prst="rect">
            <a:avLst/>
          </a:prstGeom>
          <a:solidFill>
            <a:srgbClr val="DDDDDD"/>
          </a:solidFill>
          <a:ln/>
        </p:spPr>
        <p:txBody>
          <a:bodyPr/>
          <a:lstStyle/>
          <a:p>
            <a:endParaRPr lang="fr-CA"/>
          </a:p>
        </p:txBody>
      </p:sp>
      <p:sp>
        <p:nvSpPr>
          <p:cNvPr id="30" name="Shape 24"/>
          <p:cNvSpPr/>
          <p:nvPr/>
        </p:nvSpPr>
        <p:spPr>
          <a:xfrm>
            <a:off x="4661297" y="1541264"/>
            <a:ext cx="7144" cy="1364066"/>
          </a:xfrm>
          <a:prstGeom prst="rect">
            <a:avLst/>
          </a:prstGeom>
          <a:solidFill>
            <a:srgbClr val="DDDDDD"/>
          </a:solidFill>
          <a:ln/>
        </p:spPr>
        <p:txBody>
          <a:bodyPr/>
          <a:lstStyle/>
          <a:p>
            <a:endParaRPr lang="fr-CA"/>
          </a:p>
        </p:txBody>
      </p:sp>
      <p:pic>
        <p:nvPicPr>
          <p:cNvPr id="31" name="Image 3" descr="preencoded.png"/>
          <p:cNvPicPr>
            <a:picLocks noChangeAspect="1"/>
          </p:cNvPicPr>
          <p:nvPr/>
        </p:nvPicPr>
        <p:blipFill>
          <a:blip r:embed="rId6"/>
          <a:stretch>
            <a:fillRect/>
          </a:stretch>
        </p:blipFill>
        <p:spPr>
          <a:xfrm>
            <a:off x="4804172" y="1684139"/>
            <a:ext cx="1651992" cy="257175"/>
          </a:xfrm>
          <a:prstGeom prst="rect">
            <a:avLst/>
          </a:prstGeom>
        </p:spPr>
      </p:pic>
      <p:sp>
        <p:nvSpPr>
          <p:cNvPr id="32" name="Text 25"/>
          <p:cNvSpPr/>
          <p:nvPr/>
        </p:nvSpPr>
        <p:spPr>
          <a:xfrm>
            <a:off x="4804172" y="2012752"/>
            <a:ext cx="1651992"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333333"/>
                </a:solidFill>
              </a:rPr>
              <a:t>Python 3.10+</a:t>
            </a:r>
            <a:endParaRPr lang="en-US" sz="885" dirty="0"/>
          </a:p>
        </p:txBody>
      </p:sp>
      <p:sp>
        <p:nvSpPr>
          <p:cNvPr id="33" name="Text 26"/>
          <p:cNvSpPr/>
          <p:nvPr/>
        </p:nvSpPr>
        <p:spPr>
          <a:xfrm>
            <a:off x="4804172" y="2259211"/>
            <a:ext cx="1651992" cy="116086"/>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888888"/>
                </a:solidFill>
              </a:rPr>
              <a:t>Langage principal</a:t>
            </a:r>
            <a:endParaRPr lang="en-US" sz="621" dirty="0"/>
          </a:p>
        </p:txBody>
      </p:sp>
      <p:sp>
        <p:nvSpPr>
          <p:cNvPr id="34" name="Text 27"/>
          <p:cNvSpPr/>
          <p:nvPr/>
        </p:nvSpPr>
        <p:spPr>
          <a:xfrm>
            <a:off x="4804172" y="2446734"/>
            <a:ext cx="1651992" cy="280002"/>
          </a:xfrm>
          <a:prstGeom prst="rect">
            <a:avLst/>
          </a:prstGeom>
          <a:noFill/>
          <a:ln/>
        </p:spPr>
        <p:txBody>
          <a:bodyPr wrap="square" lIns="0" tIns="0" rIns="0" bIns="0" rtlCol="0" anchor="t">
            <a:spAutoFit/>
          </a:bodyPr>
          <a:lstStyle/>
          <a:p>
            <a:pPr marL="0" indent="0" algn="ctr">
              <a:lnSpc>
                <a:spcPts val="1100"/>
              </a:lnSpc>
              <a:buNone/>
            </a:pPr>
            <a:r>
              <a:rPr lang="en-US" sz="727" dirty="0">
                <a:solidFill>
                  <a:srgbClr val="555555"/>
                </a:solidFill>
              </a:rPr>
              <a:t>Écosystème riche pour l'IA et le traitement de données.</a:t>
            </a:r>
            <a:endParaRPr lang="en-US" sz="727" dirty="0"/>
          </a:p>
        </p:txBody>
      </p:sp>
      <p:sp>
        <p:nvSpPr>
          <p:cNvPr id="35" name="Shape 28"/>
          <p:cNvSpPr/>
          <p:nvPr/>
        </p:nvSpPr>
        <p:spPr>
          <a:xfrm>
            <a:off x="6777633" y="1541264"/>
            <a:ext cx="1937742" cy="1364066"/>
          </a:xfrm>
          <a:prstGeom prst="rect">
            <a:avLst/>
          </a:prstGeom>
          <a:solidFill>
            <a:srgbClr val="F9F9F9"/>
          </a:solidFill>
          <a:ln/>
        </p:spPr>
        <p:txBody>
          <a:bodyPr/>
          <a:lstStyle/>
          <a:p>
            <a:endParaRPr lang="fr-CA"/>
          </a:p>
        </p:txBody>
      </p:sp>
      <p:sp>
        <p:nvSpPr>
          <p:cNvPr id="36" name="Shape 29"/>
          <p:cNvSpPr/>
          <p:nvPr/>
        </p:nvSpPr>
        <p:spPr>
          <a:xfrm>
            <a:off x="6777633" y="1541264"/>
            <a:ext cx="1937742" cy="28575"/>
          </a:xfrm>
          <a:prstGeom prst="rect">
            <a:avLst/>
          </a:prstGeom>
          <a:solidFill>
            <a:srgbClr val="2E8B57"/>
          </a:solidFill>
          <a:ln/>
        </p:spPr>
        <p:txBody>
          <a:bodyPr/>
          <a:lstStyle/>
          <a:p>
            <a:endParaRPr lang="fr-CA"/>
          </a:p>
        </p:txBody>
      </p:sp>
      <p:sp>
        <p:nvSpPr>
          <p:cNvPr id="37" name="Shape 30"/>
          <p:cNvSpPr/>
          <p:nvPr/>
        </p:nvSpPr>
        <p:spPr>
          <a:xfrm>
            <a:off x="8708231" y="1541264"/>
            <a:ext cx="7144" cy="1364066"/>
          </a:xfrm>
          <a:prstGeom prst="rect">
            <a:avLst/>
          </a:prstGeom>
          <a:solidFill>
            <a:srgbClr val="DDDDDD"/>
          </a:solidFill>
          <a:ln/>
        </p:spPr>
        <p:txBody>
          <a:bodyPr/>
          <a:lstStyle/>
          <a:p>
            <a:endParaRPr lang="fr-CA"/>
          </a:p>
        </p:txBody>
      </p:sp>
      <p:sp>
        <p:nvSpPr>
          <p:cNvPr id="38" name="Shape 31"/>
          <p:cNvSpPr/>
          <p:nvPr/>
        </p:nvSpPr>
        <p:spPr>
          <a:xfrm>
            <a:off x="6777633" y="2898186"/>
            <a:ext cx="1937742" cy="7144"/>
          </a:xfrm>
          <a:prstGeom prst="rect">
            <a:avLst/>
          </a:prstGeom>
          <a:solidFill>
            <a:srgbClr val="DDDDDD"/>
          </a:solidFill>
          <a:ln/>
        </p:spPr>
        <p:txBody>
          <a:bodyPr/>
          <a:lstStyle/>
          <a:p>
            <a:endParaRPr lang="fr-CA"/>
          </a:p>
        </p:txBody>
      </p:sp>
      <p:sp>
        <p:nvSpPr>
          <p:cNvPr id="39" name="Shape 32"/>
          <p:cNvSpPr/>
          <p:nvPr/>
        </p:nvSpPr>
        <p:spPr>
          <a:xfrm>
            <a:off x="6777633" y="1541264"/>
            <a:ext cx="7144" cy="1364066"/>
          </a:xfrm>
          <a:prstGeom prst="rect">
            <a:avLst/>
          </a:prstGeom>
          <a:solidFill>
            <a:srgbClr val="DDDDDD"/>
          </a:solidFill>
          <a:ln/>
        </p:spPr>
        <p:txBody>
          <a:bodyPr/>
          <a:lstStyle/>
          <a:p>
            <a:endParaRPr lang="fr-CA"/>
          </a:p>
        </p:txBody>
      </p:sp>
      <p:pic>
        <p:nvPicPr>
          <p:cNvPr id="40" name="Image 4" descr="preencoded.png"/>
          <p:cNvPicPr>
            <a:picLocks noChangeAspect="1"/>
          </p:cNvPicPr>
          <p:nvPr/>
        </p:nvPicPr>
        <p:blipFill>
          <a:blip r:embed="rId7"/>
          <a:stretch>
            <a:fillRect/>
          </a:stretch>
        </p:blipFill>
        <p:spPr>
          <a:xfrm>
            <a:off x="6920508" y="1684139"/>
            <a:ext cx="1651992" cy="257175"/>
          </a:xfrm>
          <a:prstGeom prst="rect">
            <a:avLst/>
          </a:prstGeom>
        </p:spPr>
      </p:pic>
      <p:sp>
        <p:nvSpPr>
          <p:cNvPr id="41" name="Text 33"/>
          <p:cNvSpPr/>
          <p:nvPr/>
        </p:nvSpPr>
        <p:spPr>
          <a:xfrm>
            <a:off x="6920508" y="2012752"/>
            <a:ext cx="1651992"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333333"/>
                </a:solidFill>
              </a:rPr>
              <a:t>Flask</a:t>
            </a:r>
            <a:endParaRPr lang="en-US" sz="885" dirty="0"/>
          </a:p>
        </p:txBody>
      </p:sp>
      <p:sp>
        <p:nvSpPr>
          <p:cNvPr id="42" name="Text 34"/>
          <p:cNvSpPr/>
          <p:nvPr/>
        </p:nvSpPr>
        <p:spPr>
          <a:xfrm>
            <a:off x="6920508" y="2259211"/>
            <a:ext cx="1651992" cy="116086"/>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888888"/>
                </a:solidFill>
              </a:rPr>
              <a:t>Interface Web</a:t>
            </a:r>
            <a:endParaRPr lang="en-US" sz="621" dirty="0"/>
          </a:p>
        </p:txBody>
      </p:sp>
      <p:sp>
        <p:nvSpPr>
          <p:cNvPr id="43" name="Text 35"/>
          <p:cNvSpPr/>
          <p:nvPr/>
        </p:nvSpPr>
        <p:spPr>
          <a:xfrm>
            <a:off x="6920508" y="2446734"/>
            <a:ext cx="1651992" cy="280002"/>
          </a:xfrm>
          <a:prstGeom prst="rect">
            <a:avLst/>
          </a:prstGeom>
          <a:noFill/>
          <a:ln/>
        </p:spPr>
        <p:txBody>
          <a:bodyPr wrap="square" lIns="0" tIns="0" rIns="0" bIns="0" rtlCol="0" anchor="t">
            <a:spAutoFit/>
          </a:bodyPr>
          <a:lstStyle/>
          <a:p>
            <a:pPr marL="0" indent="0" algn="ctr">
              <a:lnSpc>
                <a:spcPts val="1100"/>
              </a:lnSpc>
              <a:buNone/>
            </a:pPr>
            <a:r>
              <a:rPr lang="en-US" sz="727" dirty="0">
                <a:solidFill>
                  <a:srgbClr val="555555"/>
                </a:solidFill>
              </a:rPr>
              <a:t>Dashboard léger pour afficher les résultats en temps réel.</a:t>
            </a:r>
            <a:endParaRPr lang="en-US" sz="727" dirty="0"/>
          </a:p>
        </p:txBody>
      </p:sp>
      <p:sp>
        <p:nvSpPr>
          <p:cNvPr id="44" name="Shape 36"/>
          <p:cNvSpPr/>
          <p:nvPr/>
        </p:nvSpPr>
        <p:spPr>
          <a:xfrm>
            <a:off x="428625" y="3083923"/>
            <a:ext cx="8286750" cy="728663"/>
          </a:xfrm>
          <a:prstGeom prst="rect">
            <a:avLst/>
          </a:prstGeom>
          <a:solidFill>
            <a:srgbClr val="F0F8FF"/>
          </a:solidFill>
          <a:ln w="9144">
            <a:solidFill>
              <a:srgbClr val="D0E0F0"/>
            </a:solidFill>
            <a:prstDash val="solid"/>
          </a:ln>
        </p:spPr>
        <p:txBody>
          <a:bodyPr/>
          <a:lstStyle/>
          <a:p>
            <a:endParaRPr lang="fr-CA"/>
          </a:p>
        </p:txBody>
      </p:sp>
      <p:sp>
        <p:nvSpPr>
          <p:cNvPr id="45" name="Text 37"/>
          <p:cNvSpPr/>
          <p:nvPr/>
        </p:nvSpPr>
        <p:spPr>
          <a:xfrm>
            <a:off x="571500" y="3226798"/>
            <a:ext cx="2524116" cy="155377"/>
          </a:xfrm>
          <a:prstGeom prst="rect">
            <a:avLst/>
          </a:prstGeom>
          <a:noFill/>
          <a:ln/>
        </p:spPr>
        <p:txBody>
          <a:bodyPr wrap="none" lIns="0" tIns="0" rIns="0" bIns="0" rtlCol="0" anchor="t">
            <a:spAutoFit/>
          </a:bodyPr>
          <a:lstStyle/>
          <a:p>
            <a:pPr marL="0" indent="0" algn="ctr">
              <a:lnSpc>
                <a:spcPts val="1100"/>
              </a:lnSpc>
              <a:buNone/>
            </a:pPr>
            <a:r>
              <a:rPr lang="en-US" sz="784" b="1" dirty="0">
                <a:solidFill>
                  <a:srgbClr val="003366"/>
                </a:solidFill>
              </a:rPr>
              <a:t>Intelligence Artificielle</a:t>
            </a:r>
            <a:endParaRPr lang="en-US" sz="784" dirty="0"/>
          </a:p>
        </p:txBody>
      </p:sp>
      <p:sp>
        <p:nvSpPr>
          <p:cNvPr id="46" name="Shape 38"/>
          <p:cNvSpPr/>
          <p:nvPr/>
        </p:nvSpPr>
        <p:spPr>
          <a:xfrm>
            <a:off x="1016254" y="3453612"/>
            <a:ext cx="584364" cy="201811"/>
          </a:xfrm>
          <a:prstGeom prst="rect">
            <a:avLst/>
          </a:prstGeom>
          <a:solidFill>
            <a:srgbClr val="FFFFFF"/>
          </a:solidFill>
          <a:ln w="9144">
            <a:solidFill>
              <a:srgbClr val="CCCCCC"/>
            </a:solidFill>
            <a:prstDash val="solid"/>
          </a:ln>
        </p:spPr>
        <p:txBody>
          <a:bodyPr/>
          <a:lstStyle/>
          <a:p>
            <a:endParaRPr lang="fr-CA"/>
          </a:p>
        </p:txBody>
      </p:sp>
      <p:sp>
        <p:nvSpPr>
          <p:cNvPr id="47" name="Text 39"/>
          <p:cNvSpPr/>
          <p:nvPr/>
        </p:nvSpPr>
        <p:spPr>
          <a:xfrm>
            <a:off x="1016254" y="3453612"/>
            <a:ext cx="584364" cy="201811"/>
          </a:xfrm>
          <a:prstGeom prst="rect">
            <a:avLst/>
          </a:prstGeom>
          <a:noFill/>
          <a:ln/>
        </p:spPr>
        <p:txBody>
          <a:bodyPr wrap="square" lIns="102108" tIns="42545" rIns="102108" bIns="42545" rtlCol="0" anchor="t">
            <a:spAutoFit/>
          </a:bodyPr>
          <a:lstStyle/>
          <a:p>
            <a:pPr marL="0" indent="0" algn="ctr">
              <a:lnSpc>
                <a:spcPts val="800"/>
              </a:lnSpc>
              <a:buNone/>
            </a:pPr>
            <a:r>
              <a:rPr lang="en-US" sz="621" dirty="0">
                <a:solidFill>
                  <a:srgbClr val="333333"/>
                </a:solidFill>
              </a:rPr>
              <a:t>Ultralytics</a:t>
            </a:r>
            <a:endParaRPr lang="en-US" sz="621" dirty="0"/>
          </a:p>
        </p:txBody>
      </p:sp>
      <p:sp>
        <p:nvSpPr>
          <p:cNvPr id="48" name="Shape 40"/>
          <p:cNvSpPr/>
          <p:nvPr/>
        </p:nvSpPr>
        <p:spPr>
          <a:xfrm>
            <a:off x="1650625" y="3453612"/>
            <a:ext cx="502686" cy="201811"/>
          </a:xfrm>
          <a:prstGeom prst="rect">
            <a:avLst/>
          </a:prstGeom>
          <a:solidFill>
            <a:srgbClr val="FFFFFF"/>
          </a:solidFill>
          <a:ln w="9144">
            <a:solidFill>
              <a:srgbClr val="CCCCCC"/>
            </a:solidFill>
            <a:prstDash val="solid"/>
          </a:ln>
        </p:spPr>
        <p:txBody>
          <a:bodyPr/>
          <a:lstStyle/>
          <a:p>
            <a:endParaRPr lang="fr-CA"/>
          </a:p>
        </p:txBody>
      </p:sp>
      <p:sp>
        <p:nvSpPr>
          <p:cNvPr id="49" name="Text 41"/>
          <p:cNvSpPr/>
          <p:nvPr/>
        </p:nvSpPr>
        <p:spPr>
          <a:xfrm>
            <a:off x="1650625" y="3453612"/>
            <a:ext cx="502686" cy="201811"/>
          </a:xfrm>
          <a:prstGeom prst="rect">
            <a:avLst/>
          </a:prstGeom>
          <a:noFill/>
          <a:ln/>
        </p:spPr>
        <p:txBody>
          <a:bodyPr wrap="square" lIns="102108" tIns="42545" rIns="102108" bIns="42545" rtlCol="0" anchor="t">
            <a:spAutoFit/>
          </a:bodyPr>
          <a:lstStyle/>
          <a:p>
            <a:pPr marL="0" indent="0" algn="ctr">
              <a:lnSpc>
                <a:spcPts val="800"/>
              </a:lnSpc>
              <a:buNone/>
            </a:pPr>
            <a:r>
              <a:rPr lang="en-US" sz="621" dirty="0">
                <a:solidFill>
                  <a:srgbClr val="333333"/>
                </a:solidFill>
              </a:rPr>
              <a:t>PyTorch</a:t>
            </a:r>
            <a:endParaRPr lang="en-US" sz="621" dirty="0"/>
          </a:p>
        </p:txBody>
      </p:sp>
      <p:sp>
        <p:nvSpPr>
          <p:cNvPr id="50" name="Shape 42"/>
          <p:cNvSpPr/>
          <p:nvPr/>
        </p:nvSpPr>
        <p:spPr>
          <a:xfrm>
            <a:off x="2203317" y="3453612"/>
            <a:ext cx="433229" cy="201811"/>
          </a:xfrm>
          <a:prstGeom prst="rect">
            <a:avLst/>
          </a:prstGeom>
          <a:solidFill>
            <a:srgbClr val="FFFFFF"/>
          </a:solidFill>
          <a:ln w="9144">
            <a:solidFill>
              <a:srgbClr val="CCCCCC"/>
            </a:solidFill>
            <a:prstDash val="solid"/>
          </a:ln>
        </p:spPr>
        <p:txBody>
          <a:bodyPr/>
          <a:lstStyle/>
          <a:p>
            <a:endParaRPr lang="fr-CA"/>
          </a:p>
        </p:txBody>
      </p:sp>
      <p:sp>
        <p:nvSpPr>
          <p:cNvPr id="51" name="Text 43"/>
          <p:cNvSpPr/>
          <p:nvPr/>
        </p:nvSpPr>
        <p:spPr>
          <a:xfrm>
            <a:off x="2203317" y="3453612"/>
            <a:ext cx="433229" cy="201811"/>
          </a:xfrm>
          <a:prstGeom prst="rect">
            <a:avLst/>
          </a:prstGeom>
          <a:noFill/>
          <a:ln/>
        </p:spPr>
        <p:txBody>
          <a:bodyPr wrap="square" lIns="102108" tIns="42545" rIns="102108" bIns="42545" rtlCol="0" anchor="t">
            <a:spAutoFit/>
          </a:bodyPr>
          <a:lstStyle/>
          <a:p>
            <a:pPr marL="0" indent="0" algn="ctr">
              <a:lnSpc>
                <a:spcPts val="800"/>
              </a:lnSpc>
              <a:buNone/>
            </a:pPr>
            <a:r>
              <a:rPr lang="en-US" sz="621" dirty="0">
                <a:solidFill>
                  <a:srgbClr val="333333"/>
                </a:solidFill>
              </a:rPr>
              <a:t>ONNX</a:t>
            </a:r>
            <a:endParaRPr lang="en-US" sz="621" dirty="0"/>
          </a:p>
        </p:txBody>
      </p:sp>
      <p:sp>
        <p:nvSpPr>
          <p:cNvPr id="52" name="Text 44"/>
          <p:cNvSpPr/>
          <p:nvPr/>
        </p:nvSpPr>
        <p:spPr>
          <a:xfrm>
            <a:off x="3309928" y="3226798"/>
            <a:ext cx="2524116" cy="155377"/>
          </a:xfrm>
          <a:prstGeom prst="rect">
            <a:avLst/>
          </a:prstGeom>
          <a:noFill/>
          <a:ln/>
        </p:spPr>
        <p:txBody>
          <a:bodyPr wrap="none" lIns="0" tIns="0" rIns="0" bIns="0" rtlCol="0" anchor="t">
            <a:spAutoFit/>
          </a:bodyPr>
          <a:lstStyle/>
          <a:p>
            <a:pPr marL="0" indent="0" algn="ctr">
              <a:lnSpc>
                <a:spcPts val="1100"/>
              </a:lnSpc>
              <a:buNone/>
            </a:pPr>
            <a:r>
              <a:rPr lang="en-US" sz="784" b="1" dirty="0">
                <a:solidFill>
                  <a:srgbClr val="003366"/>
                </a:solidFill>
              </a:rPr>
              <a:t>Traitement Données</a:t>
            </a:r>
            <a:endParaRPr lang="en-US" sz="784" dirty="0"/>
          </a:p>
        </p:txBody>
      </p:sp>
      <p:sp>
        <p:nvSpPr>
          <p:cNvPr id="53" name="Shape 45"/>
          <p:cNvSpPr/>
          <p:nvPr/>
        </p:nvSpPr>
        <p:spPr>
          <a:xfrm>
            <a:off x="3736181" y="3453612"/>
            <a:ext cx="479608" cy="201811"/>
          </a:xfrm>
          <a:prstGeom prst="rect">
            <a:avLst/>
          </a:prstGeom>
          <a:solidFill>
            <a:srgbClr val="FFFFFF"/>
          </a:solidFill>
          <a:ln w="9144">
            <a:solidFill>
              <a:srgbClr val="CCCCCC"/>
            </a:solidFill>
            <a:prstDash val="solid"/>
          </a:ln>
        </p:spPr>
        <p:txBody>
          <a:bodyPr/>
          <a:lstStyle/>
          <a:p>
            <a:endParaRPr lang="fr-CA"/>
          </a:p>
        </p:txBody>
      </p:sp>
      <p:sp>
        <p:nvSpPr>
          <p:cNvPr id="54" name="Text 46"/>
          <p:cNvSpPr/>
          <p:nvPr/>
        </p:nvSpPr>
        <p:spPr>
          <a:xfrm>
            <a:off x="3736181" y="3453612"/>
            <a:ext cx="479608" cy="201811"/>
          </a:xfrm>
          <a:prstGeom prst="rect">
            <a:avLst/>
          </a:prstGeom>
          <a:noFill/>
          <a:ln/>
        </p:spPr>
        <p:txBody>
          <a:bodyPr wrap="square" lIns="102108" tIns="42545" rIns="102108" bIns="42545" rtlCol="0" anchor="t">
            <a:spAutoFit/>
          </a:bodyPr>
          <a:lstStyle/>
          <a:p>
            <a:pPr marL="0" indent="0" algn="ctr">
              <a:lnSpc>
                <a:spcPts val="800"/>
              </a:lnSpc>
              <a:buNone/>
            </a:pPr>
            <a:r>
              <a:rPr lang="en-US" sz="621" dirty="0">
                <a:solidFill>
                  <a:srgbClr val="333333"/>
                </a:solidFill>
              </a:rPr>
              <a:t>NumPy</a:t>
            </a:r>
            <a:endParaRPr lang="en-US" sz="621" dirty="0"/>
          </a:p>
        </p:txBody>
      </p:sp>
      <p:sp>
        <p:nvSpPr>
          <p:cNvPr id="55" name="Shape 47"/>
          <p:cNvSpPr/>
          <p:nvPr/>
        </p:nvSpPr>
        <p:spPr>
          <a:xfrm>
            <a:off x="4265795" y="3453612"/>
            <a:ext cx="480557" cy="201811"/>
          </a:xfrm>
          <a:prstGeom prst="rect">
            <a:avLst/>
          </a:prstGeom>
          <a:solidFill>
            <a:srgbClr val="FFFFFF"/>
          </a:solidFill>
          <a:ln w="9144">
            <a:solidFill>
              <a:srgbClr val="CCCCCC"/>
            </a:solidFill>
            <a:prstDash val="solid"/>
          </a:ln>
        </p:spPr>
        <p:txBody>
          <a:bodyPr/>
          <a:lstStyle/>
          <a:p>
            <a:endParaRPr lang="fr-CA"/>
          </a:p>
        </p:txBody>
      </p:sp>
      <p:sp>
        <p:nvSpPr>
          <p:cNvPr id="56" name="Text 48"/>
          <p:cNvSpPr/>
          <p:nvPr/>
        </p:nvSpPr>
        <p:spPr>
          <a:xfrm>
            <a:off x="4265795" y="3453612"/>
            <a:ext cx="480557" cy="201811"/>
          </a:xfrm>
          <a:prstGeom prst="rect">
            <a:avLst/>
          </a:prstGeom>
          <a:noFill/>
          <a:ln/>
        </p:spPr>
        <p:txBody>
          <a:bodyPr wrap="square" lIns="102108" tIns="42545" rIns="102108" bIns="42545" rtlCol="0" anchor="t">
            <a:spAutoFit/>
          </a:bodyPr>
          <a:lstStyle/>
          <a:p>
            <a:pPr marL="0" indent="0" algn="ctr">
              <a:lnSpc>
                <a:spcPts val="800"/>
              </a:lnSpc>
              <a:buNone/>
            </a:pPr>
            <a:r>
              <a:rPr lang="en-US" sz="621" dirty="0">
                <a:solidFill>
                  <a:srgbClr val="333333"/>
                </a:solidFill>
              </a:rPr>
              <a:t>Pandas</a:t>
            </a:r>
            <a:endParaRPr lang="en-US" sz="621" dirty="0"/>
          </a:p>
        </p:txBody>
      </p:sp>
      <p:sp>
        <p:nvSpPr>
          <p:cNvPr id="57" name="Shape 49"/>
          <p:cNvSpPr/>
          <p:nvPr/>
        </p:nvSpPr>
        <p:spPr>
          <a:xfrm>
            <a:off x="4796358" y="3453612"/>
            <a:ext cx="597145" cy="201811"/>
          </a:xfrm>
          <a:prstGeom prst="rect">
            <a:avLst/>
          </a:prstGeom>
          <a:solidFill>
            <a:srgbClr val="FFFFFF"/>
          </a:solidFill>
          <a:ln w="9144">
            <a:solidFill>
              <a:srgbClr val="CCCCCC"/>
            </a:solidFill>
            <a:prstDash val="solid"/>
          </a:ln>
        </p:spPr>
        <p:txBody>
          <a:bodyPr/>
          <a:lstStyle/>
          <a:p>
            <a:endParaRPr lang="fr-CA"/>
          </a:p>
        </p:txBody>
      </p:sp>
      <p:sp>
        <p:nvSpPr>
          <p:cNvPr id="58" name="Text 50"/>
          <p:cNvSpPr/>
          <p:nvPr/>
        </p:nvSpPr>
        <p:spPr>
          <a:xfrm>
            <a:off x="4796358" y="3453612"/>
            <a:ext cx="597145" cy="201811"/>
          </a:xfrm>
          <a:prstGeom prst="rect">
            <a:avLst/>
          </a:prstGeom>
          <a:noFill/>
          <a:ln/>
        </p:spPr>
        <p:txBody>
          <a:bodyPr wrap="square" lIns="102108" tIns="42545" rIns="102108" bIns="42545" rtlCol="0" anchor="t">
            <a:spAutoFit/>
          </a:bodyPr>
          <a:lstStyle/>
          <a:p>
            <a:pPr marL="0" indent="0" algn="ctr">
              <a:lnSpc>
                <a:spcPts val="800"/>
              </a:lnSpc>
              <a:buNone/>
            </a:pPr>
            <a:r>
              <a:rPr lang="en-US" sz="621" dirty="0">
                <a:solidFill>
                  <a:srgbClr val="333333"/>
                </a:solidFill>
              </a:rPr>
              <a:t>Matplotlib</a:t>
            </a:r>
            <a:endParaRPr lang="en-US" sz="621" dirty="0"/>
          </a:p>
        </p:txBody>
      </p:sp>
      <p:sp>
        <p:nvSpPr>
          <p:cNvPr id="59" name="Text 51"/>
          <p:cNvSpPr/>
          <p:nvPr/>
        </p:nvSpPr>
        <p:spPr>
          <a:xfrm>
            <a:off x="6048356" y="3226798"/>
            <a:ext cx="2524144" cy="155377"/>
          </a:xfrm>
          <a:prstGeom prst="rect">
            <a:avLst/>
          </a:prstGeom>
          <a:noFill/>
          <a:ln/>
        </p:spPr>
        <p:txBody>
          <a:bodyPr wrap="none" lIns="0" tIns="0" rIns="0" bIns="0" rtlCol="0" anchor="t">
            <a:spAutoFit/>
          </a:bodyPr>
          <a:lstStyle/>
          <a:p>
            <a:pPr marL="0" indent="0" algn="ctr">
              <a:lnSpc>
                <a:spcPts val="1100"/>
              </a:lnSpc>
              <a:buNone/>
            </a:pPr>
            <a:r>
              <a:rPr lang="en-US" sz="784" b="1" dirty="0">
                <a:solidFill>
                  <a:srgbClr val="003366"/>
                </a:solidFill>
              </a:rPr>
              <a:t>Matériel Cible</a:t>
            </a:r>
            <a:endParaRPr lang="en-US" sz="784" dirty="0"/>
          </a:p>
        </p:txBody>
      </p:sp>
      <p:sp>
        <p:nvSpPr>
          <p:cNvPr id="60" name="Shape 52"/>
          <p:cNvSpPr/>
          <p:nvPr/>
        </p:nvSpPr>
        <p:spPr>
          <a:xfrm>
            <a:off x="6134416" y="3453612"/>
            <a:ext cx="764130" cy="201811"/>
          </a:xfrm>
          <a:prstGeom prst="rect">
            <a:avLst/>
          </a:prstGeom>
          <a:solidFill>
            <a:srgbClr val="FFFFFF"/>
          </a:solidFill>
          <a:ln w="9144">
            <a:solidFill>
              <a:srgbClr val="CCCCCC"/>
            </a:solidFill>
            <a:prstDash val="solid"/>
          </a:ln>
        </p:spPr>
        <p:txBody>
          <a:bodyPr/>
          <a:lstStyle/>
          <a:p>
            <a:endParaRPr lang="fr-CA"/>
          </a:p>
        </p:txBody>
      </p:sp>
      <p:sp>
        <p:nvSpPr>
          <p:cNvPr id="61" name="Text 53"/>
          <p:cNvSpPr/>
          <p:nvPr/>
        </p:nvSpPr>
        <p:spPr>
          <a:xfrm>
            <a:off x="6134416" y="3453612"/>
            <a:ext cx="764130" cy="201811"/>
          </a:xfrm>
          <a:prstGeom prst="rect">
            <a:avLst/>
          </a:prstGeom>
          <a:noFill/>
          <a:ln/>
        </p:spPr>
        <p:txBody>
          <a:bodyPr wrap="square" lIns="102108" tIns="42545" rIns="102108" bIns="42545" rtlCol="0" anchor="t">
            <a:spAutoFit/>
          </a:bodyPr>
          <a:lstStyle/>
          <a:p>
            <a:pPr marL="0" indent="0" algn="ctr">
              <a:lnSpc>
                <a:spcPts val="800"/>
              </a:lnSpc>
              <a:buNone/>
            </a:pPr>
            <a:r>
              <a:rPr lang="en-US" sz="621" dirty="0">
                <a:solidFill>
                  <a:srgbClr val="333333"/>
                </a:solidFill>
              </a:rPr>
              <a:t>Raspberry Pi 4</a:t>
            </a:r>
            <a:endParaRPr lang="en-US" sz="621" dirty="0"/>
          </a:p>
        </p:txBody>
      </p:sp>
      <p:sp>
        <p:nvSpPr>
          <p:cNvPr id="62" name="Shape 54"/>
          <p:cNvSpPr/>
          <p:nvPr/>
        </p:nvSpPr>
        <p:spPr>
          <a:xfrm>
            <a:off x="6948553" y="3453612"/>
            <a:ext cx="674722" cy="201811"/>
          </a:xfrm>
          <a:prstGeom prst="rect">
            <a:avLst/>
          </a:prstGeom>
          <a:solidFill>
            <a:srgbClr val="FFFFFF"/>
          </a:solidFill>
          <a:ln w="9144">
            <a:solidFill>
              <a:srgbClr val="CCCCCC"/>
            </a:solidFill>
            <a:prstDash val="solid"/>
          </a:ln>
        </p:spPr>
        <p:txBody>
          <a:bodyPr/>
          <a:lstStyle/>
          <a:p>
            <a:endParaRPr lang="fr-CA"/>
          </a:p>
        </p:txBody>
      </p:sp>
      <p:sp>
        <p:nvSpPr>
          <p:cNvPr id="63" name="Text 55"/>
          <p:cNvSpPr/>
          <p:nvPr/>
        </p:nvSpPr>
        <p:spPr>
          <a:xfrm>
            <a:off x="6948553" y="3453612"/>
            <a:ext cx="674722" cy="201811"/>
          </a:xfrm>
          <a:prstGeom prst="rect">
            <a:avLst/>
          </a:prstGeom>
          <a:noFill/>
          <a:ln/>
        </p:spPr>
        <p:txBody>
          <a:bodyPr wrap="square" lIns="102108" tIns="42545" rIns="102108" bIns="42545" rtlCol="0" anchor="t">
            <a:spAutoFit/>
          </a:bodyPr>
          <a:lstStyle/>
          <a:p>
            <a:pPr marL="0" indent="0" algn="ctr">
              <a:lnSpc>
                <a:spcPts val="800"/>
              </a:lnSpc>
              <a:buNone/>
            </a:pPr>
            <a:r>
              <a:rPr lang="en-US" sz="621" dirty="0">
                <a:solidFill>
                  <a:srgbClr val="333333"/>
                </a:solidFill>
              </a:rPr>
              <a:t>Jetson Nano</a:t>
            </a:r>
            <a:endParaRPr lang="en-US" sz="621" dirty="0"/>
          </a:p>
        </p:txBody>
      </p:sp>
      <p:sp>
        <p:nvSpPr>
          <p:cNvPr id="64" name="Shape 56"/>
          <p:cNvSpPr/>
          <p:nvPr/>
        </p:nvSpPr>
        <p:spPr>
          <a:xfrm>
            <a:off x="7673280" y="3453612"/>
            <a:ext cx="798844" cy="201811"/>
          </a:xfrm>
          <a:prstGeom prst="rect">
            <a:avLst/>
          </a:prstGeom>
          <a:solidFill>
            <a:srgbClr val="FFFFFF"/>
          </a:solidFill>
          <a:ln w="9144">
            <a:solidFill>
              <a:srgbClr val="CCCCCC"/>
            </a:solidFill>
            <a:prstDash val="solid"/>
          </a:ln>
        </p:spPr>
        <p:txBody>
          <a:bodyPr/>
          <a:lstStyle/>
          <a:p>
            <a:endParaRPr lang="fr-CA"/>
          </a:p>
        </p:txBody>
      </p:sp>
      <p:sp>
        <p:nvSpPr>
          <p:cNvPr id="65" name="Text 57"/>
          <p:cNvSpPr/>
          <p:nvPr/>
        </p:nvSpPr>
        <p:spPr>
          <a:xfrm>
            <a:off x="7673280" y="3453612"/>
            <a:ext cx="798844" cy="201811"/>
          </a:xfrm>
          <a:prstGeom prst="rect">
            <a:avLst/>
          </a:prstGeom>
          <a:noFill/>
          <a:ln/>
        </p:spPr>
        <p:txBody>
          <a:bodyPr wrap="square" lIns="102108" tIns="42545" rIns="102108" bIns="42545" rtlCol="0" anchor="t">
            <a:spAutoFit/>
          </a:bodyPr>
          <a:lstStyle/>
          <a:p>
            <a:pPr marL="0" indent="0" algn="ctr">
              <a:lnSpc>
                <a:spcPts val="800"/>
              </a:lnSpc>
              <a:buNone/>
            </a:pPr>
            <a:r>
              <a:rPr lang="en-US" sz="621" dirty="0">
                <a:solidFill>
                  <a:srgbClr val="333333"/>
                </a:solidFill>
              </a:rPr>
              <a:t>Caméra IP/USB</a:t>
            </a:r>
            <a:endParaRPr lang="en-US" sz="62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41164"/>
          </a:xfrm>
          <a:prstGeom prst="rect">
            <a:avLst/>
          </a:prstGeom>
          <a:solidFill>
            <a:srgbClr val="003366"/>
          </a:solidFill>
          <a:ln/>
        </p:spPr>
        <p:txBody>
          <a:bodyPr/>
          <a:lstStyle/>
          <a:p>
            <a:endParaRPr lang="fr-CA"/>
          </a:p>
        </p:txBody>
      </p:sp>
      <p:sp>
        <p:nvSpPr>
          <p:cNvPr id="5" name="Text 1"/>
          <p:cNvSpPr/>
          <p:nvPr/>
        </p:nvSpPr>
        <p:spPr>
          <a:xfrm>
            <a:off x="428625" y="214313"/>
            <a:ext cx="3387421"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Méthodologie et Planification</a:t>
            </a:r>
            <a:endParaRPr lang="en-US" sz="1602" dirty="0"/>
          </a:p>
        </p:txBody>
      </p:sp>
      <p:sp>
        <p:nvSpPr>
          <p:cNvPr id="6" name="Text 2"/>
          <p:cNvSpPr/>
          <p:nvPr/>
        </p:nvSpPr>
        <p:spPr>
          <a:xfrm>
            <a:off x="8351881" y="292894"/>
            <a:ext cx="363494"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2E8B57"/>
                </a:solidFill>
              </a:rPr>
              <a:t>07 / 10</a:t>
            </a:r>
            <a:endParaRPr lang="en-US" sz="834" dirty="0"/>
          </a:p>
        </p:txBody>
      </p:sp>
      <p:sp>
        <p:nvSpPr>
          <p:cNvPr id="7" name="Shape 3"/>
          <p:cNvSpPr/>
          <p:nvPr/>
        </p:nvSpPr>
        <p:spPr>
          <a:xfrm>
            <a:off x="857250" y="1026914"/>
            <a:ext cx="4857750" cy="512564"/>
          </a:xfrm>
          <a:prstGeom prst="rect">
            <a:avLst/>
          </a:prstGeom>
          <a:solidFill>
            <a:srgbClr val="F9F9F9"/>
          </a:solidFill>
          <a:ln/>
        </p:spPr>
        <p:txBody>
          <a:bodyPr/>
          <a:lstStyle/>
          <a:p>
            <a:endParaRPr lang="fr-CA"/>
          </a:p>
        </p:txBody>
      </p:sp>
      <p:sp>
        <p:nvSpPr>
          <p:cNvPr id="8" name="Shape 4"/>
          <p:cNvSpPr/>
          <p:nvPr/>
        </p:nvSpPr>
        <p:spPr>
          <a:xfrm>
            <a:off x="857250" y="1026914"/>
            <a:ext cx="4857750" cy="7144"/>
          </a:xfrm>
          <a:prstGeom prst="rect">
            <a:avLst/>
          </a:prstGeom>
          <a:solidFill>
            <a:srgbClr val="EEEEEE"/>
          </a:solidFill>
          <a:ln/>
        </p:spPr>
        <p:txBody>
          <a:bodyPr/>
          <a:lstStyle/>
          <a:p>
            <a:endParaRPr lang="fr-CA"/>
          </a:p>
        </p:txBody>
      </p:sp>
      <p:sp>
        <p:nvSpPr>
          <p:cNvPr id="9" name="Shape 5"/>
          <p:cNvSpPr/>
          <p:nvPr/>
        </p:nvSpPr>
        <p:spPr>
          <a:xfrm>
            <a:off x="5707856" y="1026914"/>
            <a:ext cx="7144" cy="512564"/>
          </a:xfrm>
          <a:prstGeom prst="rect">
            <a:avLst/>
          </a:prstGeom>
          <a:solidFill>
            <a:srgbClr val="EEEEEE"/>
          </a:solidFill>
          <a:ln/>
        </p:spPr>
        <p:txBody>
          <a:bodyPr/>
          <a:lstStyle/>
          <a:p>
            <a:endParaRPr lang="fr-CA"/>
          </a:p>
        </p:txBody>
      </p:sp>
      <p:sp>
        <p:nvSpPr>
          <p:cNvPr id="10" name="Shape 6"/>
          <p:cNvSpPr/>
          <p:nvPr/>
        </p:nvSpPr>
        <p:spPr>
          <a:xfrm>
            <a:off x="857250" y="1532334"/>
            <a:ext cx="4857750" cy="7144"/>
          </a:xfrm>
          <a:prstGeom prst="rect">
            <a:avLst/>
          </a:prstGeom>
          <a:solidFill>
            <a:srgbClr val="EEEEEE"/>
          </a:solidFill>
          <a:ln/>
        </p:spPr>
        <p:txBody>
          <a:bodyPr/>
          <a:lstStyle/>
          <a:p>
            <a:endParaRPr lang="fr-CA"/>
          </a:p>
        </p:txBody>
      </p:sp>
      <p:sp>
        <p:nvSpPr>
          <p:cNvPr id="11" name="Shape 7"/>
          <p:cNvSpPr/>
          <p:nvPr/>
        </p:nvSpPr>
        <p:spPr>
          <a:xfrm>
            <a:off x="857250" y="1026914"/>
            <a:ext cx="28575" cy="512564"/>
          </a:xfrm>
          <a:prstGeom prst="rect">
            <a:avLst/>
          </a:prstGeom>
          <a:solidFill>
            <a:srgbClr val="003366"/>
          </a:solidFill>
          <a:ln/>
        </p:spPr>
        <p:txBody>
          <a:bodyPr/>
          <a:lstStyle/>
          <a:p>
            <a:endParaRPr lang="fr-CA"/>
          </a:p>
        </p:txBody>
      </p:sp>
      <p:sp>
        <p:nvSpPr>
          <p:cNvPr id="12" name="Text 8"/>
          <p:cNvSpPr/>
          <p:nvPr/>
        </p:nvSpPr>
        <p:spPr>
          <a:xfrm>
            <a:off x="964406" y="1112639"/>
            <a:ext cx="1647751"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3366"/>
                </a:solidFill>
              </a:rPr>
              <a:t>Phase 1 : Conception &amp; Setup</a:t>
            </a:r>
            <a:endParaRPr lang="en-US" sz="784" dirty="0"/>
          </a:p>
        </p:txBody>
      </p:sp>
      <p:sp>
        <p:nvSpPr>
          <p:cNvPr id="13" name="Shape 9"/>
          <p:cNvSpPr/>
          <p:nvPr/>
        </p:nvSpPr>
        <p:spPr>
          <a:xfrm>
            <a:off x="4964543" y="1112639"/>
            <a:ext cx="643300" cy="155377"/>
          </a:xfrm>
          <a:prstGeom prst="rect">
            <a:avLst/>
          </a:prstGeom>
          <a:solidFill>
            <a:srgbClr val="2E8B57">
              <a:alpha val="10000"/>
            </a:srgbClr>
          </a:solidFill>
          <a:ln/>
        </p:spPr>
        <p:txBody>
          <a:bodyPr/>
          <a:lstStyle/>
          <a:p>
            <a:endParaRPr lang="fr-CA"/>
          </a:p>
        </p:txBody>
      </p:sp>
      <p:sp>
        <p:nvSpPr>
          <p:cNvPr id="14" name="Text 10"/>
          <p:cNvSpPr/>
          <p:nvPr/>
        </p:nvSpPr>
        <p:spPr>
          <a:xfrm>
            <a:off x="4964543" y="1112639"/>
            <a:ext cx="643300" cy="131126"/>
          </a:xfrm>
          <a:prstGeom prst="rect">
            <a:avLst/>
          </a:prstGeom>
          <a:noFill/>
          <a:ln/>
        </p:spPr>
        <p:txBody>
          <a:bodyPr wrap="square" lIns="51054" tIns="17018" rIns="51054" bIns="17018" rtlCol="0" anchor="t">
            <a:spAutoFit/>
          </a:bodyPr>
          <a:lstStyle/>
          <a:p>
            <a:pPr marL="0" indent="0" algn="l">
              <a:lnSpc>
                <a:spcPts val="800"/>
              </a:lnSpc>
              <a:buNone/>
            </a:pPr>
            <a:r>
              <a:rPr lang="en-US" sz="584" b="1" dirty="0" err="1">
                <a:solidFill>
                  <a:srgbClr val="2E8B57"/>
                </a:solidFill>
              </a:rPr>
              <a:t>Semaines</a:t>
            </a:r>
            <a:r>
              <a:rPr lang="en-US" sz="584" b="1" dirty="0">
                <a:solidFill>
                  <a:srgbClr val="2E8B57"/>
                </a:solidFill>
              </a:rPr>
              <a:t> 1-3</a:t>
            </a:r>
            <a:endParaRPr lang="en-US" sz="584" dirty="0"/>
          </a:p>
        </p:txBody>
      </p:sp>
      <p:sp>
        <p:nvSpPr>
          <p:cNvPr id="15" name="Text 11"/>
          <p:cNvSpPr/>
          <p:nvPr/>
        </p:nvSpPr>
        <p:spPr>
          <a:xfrm>
            <a:off x="964406" y="1303734"/>
            <a:ext cx="4643438"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555555"/>
                </a:solidFill>
              </a:rPr>
              <a:t>Recherche bibliographique, choix matériel, installation environnement de dev.</a:t>
            </a:r>
            <a:endParaRPr lang="en-US" sz="727" dirty="0"/>
          </a:p>
        </p:txBody>
      </p:sp>
      <p:sp>
        <p:nvSpPr>
          <p:cNvPr id="16" name="Shape 12"/>
          <p:cNvSpPr/>
          <p:nvPr/>
        </p:nvSpPr>
        <p:spPr>
          <a:xfrm>
            <a:off x="857250" y="1668066"/>
            <a:ext cx="4857750" cy="512564"/>
          </a:xfrm>
          <a:prstGeom prst="rect">
            <a:avLst/>
          </a:prstGeom>
          <a:solidFill>
            <a:srgbClr val="F9F9F9"/>
          </a:solidFill>
          <a:ln/>
        </p:spPr>
        <p:txBody>
          <a:bodyPr/>
          <a:lstStyle/>
          <a:p>
            <a:endParaRPr lang="fr-CA" dirty="0"/>
          </a:p>
        </p:txBody>
      </p:sp>
      <p:sp>
        <p:nvSpPr>
          <p:cNvPr id="17" name="Shape 13"/>
          <p:cNvSpPr/>
          <p:nvPr/>
        </p:nvSpPr>
        <p:spPr>
          <a:xfrm>
            <a:off x="857250" y="1668066"/>
            <a:ext cx="4857750" cy="7144"/>
          </a:xfrm>
          <a:prstGeom prst="rect">
            <a:avLst/>
          </a:prstGeom>
          <a:solidFill>
            <a:srgbClr val="EEEEEE"/>
          </a:solidFill>
          <a:ln/>
        </p:spPr>
        <p:txBody>
          <a:bodyPr/>
          <a:lstStyle/>
          <a:p>
            <a:endParaRPr lang="fr-CA"/>
          </a:p>
        </p:txBody>
      </p:sp>
      <p:sp>
        <p:nvSpPr>
          <p:cNvPr id="18" name="Shape 14"/>
          <p:cNvSpPr/>
          <p:nvPr/>
        </p:nvSpPr>
        <p:spPr>
          <a:xfrm>
            <a:off x="5707856" y="1668066"/>
            <a:ext cx="7144" cy="512564"/>
          </a:xfrm>
          <a:prstGeom prst="rect">
            <a:avLst/>
          </a:prstGeom>
          <a:solidFill>
            <a:srgbClr val="EEEEEE"/>
          </a:solidFill>
          <a:ln/>
        </p:spPr>
        <p:txBody>
          <a:bodyPr/>
          <a:lstStyle/>
          <a:p>
            <a:endParaRPr lang="fr-CA"/>
          </a:p>
        </p:txBody>
      </p:sp>
      <p:sp>
        <p:nvSpPr>
          <p:cNvPr id="19" name="Shape 15"/>
          <p:cNvSpPr/>
          <p:nvPr/>
        </p:nvSpPr>
        <p:spPr>
          <a:xfrm>
            <a:off x="857250" y="2173486"/>
            <a:ext cx="4857750" cy="7144"/>
          </a:xfrm>
          <a:prstGeom prst="rect">
            <a:avLst/>
          </a:prstGeom>
          <a:solidFill>
            <a:srgbClr val="EEEEEE"/>
          </a:solidFill>
          <a:ln/>
        </p:spPr>
        <p:txBody>
          <a:bodyPr/>
          <a:lstStyle/>
          <a:p>
            <a:endParaRPr lang="fr-CA"/>
          </a:p>
        </p:txBody>
      </p:sp>
      <p:sp>
        <p:nvSpPr>
          <p:cNvPr id="20" name="Shape 16"/>
          <p:cNvSpPr/>
          <p:nvPr/>
        </p:nvSpPr>
        <p:spPr>
          <a:xfrm>
            <a:off x="857250" y="1668066"/>
            <a:ext cx="28575" cy="512564"/>
          </a:xfrm>
          <a:prstGeom prst="rect">
            <a:avLst/>
          </a:prstGeom>
          <a:solidFill>
            <a:srgbClr val="003366"/>
          </a:solidFill>
          <a:ln/>
        </p:spPr>
        <p:txBody>
          <a:bodyPr/>
          <a:lstStyle/>
          <a:p>
            <a:endParaRPr lang="fr-CA"/>
          </a:p>
        </p:txBody>
      </p:sp>
      <p:sp>
        <p:nvSpPr>
          <p:cNvPr id="21" name="Text 17"/>
          <p:cNvSpPr/>
          <p:nvPr/>
        </p:nvSpPr>
        <p:spPr>
          <a:xfrm>
            <a:off x="964406" y="1753791"/>
            <a:ext cx="1696445"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3366"/>
                </a:solidFill>
              </a:rPr>
              <a:t>Phase 2 : Acquisition Données</a:t>
            </a:r>
            <a:endParaRPr lang="en-US" sz="784" dirty="0"/>
          </a:p>
        </p:txBody>
      </p:sp>
      <p:sp>
        <p:nvSpPr>
          <p:cNvPr id="22" name="Shape 18"/>
          <p:cNvSpPr/>
          <p:nvPr/>
        </p:nvSpPr>
        <p:spPr>
          <a:xfrm>
            <a:off x="4964543" y="1753791"/>
            <a:ext cx="643300" cy="155377"/>
          </a:xfrm>
          <a:prstGeom prst="rect">
            <a:avLst/>
          </a:prstGeom>
          <a:solidFill>
            <a:srgbClr val="2E8B57">
              <a:alpha val="10000"/>
            </a:srgbClr>
          </a:solidFill>
          <a:ln/>
        </p:spPr>
        <p:txBody>
          <a:bodyPr/>
          <a:lstStyle/>
          <a:p>
            <a:endParaRPr lang="fr-CA"/>
          </a:p>
        </p:txBody>
      </p:sp>
      <p:sp>
        <p:nvSpPr>
          <p:cNvPr id="23" name="Text 19"/>
          <p:cNvSpPr/>
          <p:nvPr/>
        </p:nvSpPr>
        <p:spPr>
          <a:xfrm>
            <a:off x="4964543" y="1753791"/>
            <a:ext cx="643300" cy="131126"/>
          </a:xfrm>
          <a:prstGeom prst="rect">
            <a:avLst/>
          </a:prstGeom>
          <a:noFill/>
          <a:ln/>
        </p:spPr>
        <p:txBody>
          <a:bodyPr wrap="square" lIns="51054" tIns="17018" rIns="51054" bIns="17018" rtlCol="0" anchor="t">
            <a:spAutoFit/>
          </a:bodyPr>
          <a:lstStyle/>
          <a:p>
            <a:pPr marL="0" indent="0" algn="l">
              <a:lnSpc>
                <a:spcPts val="800"/>
              </a:lnSpc>
              <a:buNone/>
            </a:pPr>
            <a:r>
              <a:rPr lang="en-US" sz="584" b="1" dirty="0" err="1">
                <a:solidFill>
                  <a:srgbClr val="2E8B57"/>
                </a:solidFill>
              </a:rPr>
              <a:t>Semaines</a:t>
            </a:r>
            <a:r>
              <a:rPr lang="en-US" sz="584" b="1" dirty="0">
                <a:solidFill>
                  <a:srgbClr val="2E8B57"/>
                </a:solidFill>
              </a:rPr>
              <a:t> 4-6</a:t>
            </a:r>
            <a:endParaRPr lang="en-US" sz="584" dirty="0"/>
          </a:p>
        </p:txBody>
      </p:sp>
      <p:sp>
        <p:nvSpPr>
          <p:cNvPr id="24" name="Text 20"/>
          <p:cNvSpPr/>
          <p:nvPr/>
        </p:nvSpPr>
        <p:spPr>
          <a:xfrm>
            <a:off x="964406" y="1944886"/>
            <a:ext cx="4643438"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555555"/>
                </a:solidFill>
              </a:rPr>
              <a:t>Installation caméra, collecte dataset, annotation manuelle (Roboflow).</a:t>
            </a:r>
            <a:endParaRPr lang="en-US" sz="727" dirty="0"/>
          </a:p>
        </p:txBody>
      </p:sp>
      <p:sp>
        <p:nvSpPr>
          <p:cNvPr id="25" name="Shape 21"/>
          <p:cNvSpPr/>
          <p:nvPr/>
        </p:nvSpPr>
        <p:spPr>
          <a:xfrm>
            <a:off x="857250" y="2309217"/>
            <a:ext cx="4857750" cy="512564"/>
          </a:xfrm>
          <a:prstGeom prst="rect">
            <a:avLst/>
          </a:prstGeom>
          <a:solidFill>
            <a:srgbClr val="F9F9F9"/>
          </a:solidFill>
          <a:ln/>
        </p:spPr>
        <p:txBody>
          <a:bodyPr/>
          <a:lstStyle/>
          <a:p>
            <a:endParaRPr lang="fr-CA"/>
          </a:p>
        </p:txBody>
      </p:sp>
      <p:sp>
        <p:nvSpPr>
          <p:cNvPr id="26" name="Shape 22"/>
          <p:cNvSpPr/>
          <p:nvPr/>
        </p:nvSpPr>
        <p:spPr>
          <a:xfrm>
            <a:off x="857250" y="2309217"/>
            <a:ext cx="4857750" cy="7144"/>
          </a:xfrm>
          <a:prstGeom prst="rect">
            <a:avLst/>
          </a:prstGeom>
          <a:solidFill>
            <a:srgbClr val="EEEEEE"/>
          </a:solidFill>
          <a:ln/>
        </p:spPr>
        <p:txBody>
          <a:bodyPr/>
          <a:lstStyle/>
          <a:p>
            <a:endParaRPr lang="fr-CA"/>
          </a:p>
        </p:txBody>
      </p:sp>
      <p:sp>
        <p:nvSpPr>
          <p:cNvPr id="27" name="Shape 23"/>
          <p:cNvSpPr/>
          <p:nvPr/>
        </p:nvSpPr>
        <p:spPr>
          <a:xfrm>
            <a:off x="5707856" y="2309217"/>
            <a:ext cx="7144" cy="512564"/>
          </a:xfrm>
          <a:prstGeom prst="rect">
            <a:avLst/>
          </a:prstGeom>
          <a:solidFill>
            <a:srgbClr val="EEEEEE"/>
          </a:solidFill>
          <a:ln/>
        </p:spPr>
        <p:txBody>
          <a:bodyPr/>
          <a:lstStyle/>
          <a:p>
            <a:endParaRPr lang="fr-CA"/>
          </a:p>
        </p:txBody>
      </p:sp>
      <p:sp>
        <p:nvSpPr>
          <p:cNvPr id="28" name="Shape 24"/>
          <p:cNvSpPr/>
          <p:nvPr/>
        </p:nvSpPr>
        <p:spPr>
          <a:xfrm>
            <a:off x="857250" y="2814638"/>
            <a:ext cx="4857750" cy="7144"/>
          </a:xfrm>
          <a:prstGeom prst="rect">
            <a:avLst/>
          </a:prstGeom>
          <a:solidFill>
            <a:srgbClr val="EEEEEE"/>
          </a:solidFill>
          <a:ln/>
        </p:spPr>
        <p:txBody>
          <a:bodyPr/>
          <a:lstStyle/>
          <a:p>
            <a:endParaRPr lang="fr-CA"/>
          </a:p>
        </p:txBody>
      </p:sp>
      <p:sp>
        <p:nvSpPr>
          <p:cNvPr id="29" name="Shape 25"/>
          <p:cNvSpPr/>
          <p:nvPr/>
        </p:nvSpPr>
        <p:spPr>
          <a:xfrm>
            <a:off x="857250" y="2309217"/>
            <a:ext cx="28575" cy="512564"/>
          </a:xfrm>
          <a:prstGeom prst="rect">
            <a:avLst/>
          </a:prstGeom>
          <a:solidFill>
            <a:srgbClr val="003366"/>
          </a:solidFill>
          <a:ln/>
        </p:spPr>
        <p:txBody>
          <a:bodyPr/>
          <a:lstStyle/>
          <a:p>
            <a:endParaRPr lang="fr-CA"/>
          </a:p>
        </p:txBody>
      </p:sp>
      <p:sp>
        <p:nvSpPr>
          <p:cNvPr id="30" name="Text 26"/>
          <p:cNvSpPr/>
          <p:nvPr/>
        </p:nvSpPr>
        <p:spPr>
          <a:xfrm>
            <a:off x="964406" y="2394942"/>
            <a:ext cx="1469799"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3366"/>
                </a:solidFill>
              </a:rPr>
              <a:t>Phase 3 : Entraînement IA</a:t>
            </a:r>
            <a:endParaRPr lang="en-US" sz="784" dirty="0"/>
          </a:p>
        </p:txBody>
      </p:sp>
      <p:sp>
        <p:nvSpPr>
          <p:cNvPr id="31" name="Shape 27"/>
          <p:cNvSpPr/>
          <p:nvPr/>
        </p:nvSpPr>
        <p:spPr>
          <a:xfrm>
            <a:off x="4915514" y="2394942"/>
            <a:ext cx="692330" cy="155377"/>
          </a:xfrm>
          <a:prstGeom prst="rect">
            <a:avLst/>
          </a:prstGeom>
          <a:solidFill>
            <a:srgbClr val="2E8B57">
              <a:alpha val="10000"/>
            </a:srgbClr>
          </a:solidFill>
          <a:ln/>
        </p:spPr>
        <p:txBody>
          <a:bodyPr/>
          <a:lstStyle/>
          <a:p>
            <a:endParaRPr lang="fr-CA"/>
          </a:p>
        </p:txBody>
      </p:sp>
      <p:sp>
        <p:nvSpPr>
          <p:cNvPr id="32" name="Text 28"/>
          <p:cNvSpPr/>
          <p:nvPr/>
        </p:nvSpPr>
        <p:spPr>
          <a:xfrm>
            <a:off x="4915514" y="2394942"/>
            <a:ext cx="692330" cy="131126"/>
          </a:xfrm>
          <a:prstGeom prst="rect">
            <a:avLst/>
          </a:prstGeom>
          <a:noFill/>
          <a:ln/>
        </p:spPr>
        <p:txBody>
          <a:bodyPr wrap="square" lIns="51054" tIns="17018" rIns="51054" bIns="17018" rtlCol="0" anchor="t">
            <a:spAutoFit/>
          </a:bodyPr>
          <a:lstStyle/>
          <a:p>
            <a:pPr marL="0" indent="0" algn="l">
              <a:lnSpc>
                <a:spcPts val="800"/>
              </a:lnSpc>
              <a:buNone/>
            </a:pPr>
            <a:r>
              <a:rPr lang="en-US" sz="584" b="1" dirty="0" err="1">
                <a:solidFill>
                  <a:srgbClr val="2E8B57"/>
                </a:solidFill>
              </a:rPr>
              <a:t>Semaines</a:t>
            </a:r>
            <a:r>
              <a:rPr lang="en-US" sz="584" b="1" dirty="0">
                <a:solidFill>
                  <a:srgbClr val="2E8B57"/>
                </a:solidFill>
              </a:rPr>
              <a:t> 7-9</a:t>
            </a:r>
            <a:endParaRPr lang="en-US" sz="584" dirty="0"/>
          </a:p>
        </p:txBody>
      </p:sp>
      <p:sp>
        <p:nvSpPr>
          <p:cNvPr id="33" name="Text 29"/>
          <p:cNvSpPr/>
          <p:nvPr/>
        </p:nvSpPr>
        <p:spPr>
          <a:xfrm>
            <a:off x="964406" y="2586038"/>
            <a:ext cx="4643438"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555555"/>
                </a:solidFill>
              </a:rPr>
              <a:t>Entraînement YOLOv8, optimisation hyperparamètres, validation modèle.</a:t>
            </a:r>
            <a:endParaRPr lang="en-US" sz="727" dirty="0"/>
          </a:p>
        </p:txBody>
      </p:sp>
      <p:sp>
        <p:nvSpPr>
          <p:cNvPr id="34" name="Shape 30"/>
          <p:cNvSpPr/>
          <p:nvPr/>
        </p:nvSpPr>
        <p:spPr>
          <a:xfrm>
            <a:off x="857250" y="2950369"/>
            <a:ext cx="4857750" cy="512564"/>
          </a:xfrm>
          <a:prstGeom prst="rect">
            <a:avLst/>
          </a:prstGeom>
          <a:solidFill>
            <a:srgbClr val="F9F9F9"/>
          </a:solidFill>
          <a:ln/>
        </p:spPr>
        <p:txBody>
          <a:bodyPr/>
          <a:lstStyle/>
          <a:p>
            <a:endParaRPr lang="fr-CA"/>
          </a:p>
        </p:txBody>
      </p:sp>
      <p:sp>
        <p:nvSpPr>
          <p:cNvPr id="35" name="Shape 31"/>
          <p:cNvSpPr/>
          <p:nvPr/>
        </p:nvSpPr>
        <p:spPr>
          <a:xfrm>
            <a:off x="857250" y="2950369"/>
            <a:ext cx="4857750" cy="7144"/>
          </a:xfrm>
          <a:prstGeom prst="rect">
            <a:avLst/>
          </a:prstGeom>
          <a:solidFill>
            <a:srgbClr val="EEEEEE"/>
          </a:solidFill>
          <a:ln/>
        </p:spPr>
        <p:txBody>
          <a:bodyPr/>
          <a:lstStyle/>
          <a:p>
            <a:endParaRPr lang="fr-CA"/>
          </a:p>
        </p:txBody>
      </p:sp>
      <p:sp>
        <p:nvSpPr>
          <p:cNvPr id="36" name="Shape 32"/>
          <p:cNvSpPr/>
          <p:nvPr/>
        </p:nvSpPr>
        <p:spPr>
          <a:xfrm>
            <a:off x="5707856" y="2950369"/>
            <a:ext cx="7144" cy="512564"/>
          </a:xfrm>
          <a:prstGeom prst="rect">
            <a:avLst/>
          </a:prstGeom>
          <a:solidFill>
            <a:srgbClr val="EEEEEE"/>
          </a:solidFill>
          <a:ln/>
        </p:spPr>
        <p:txBody>
          <a:bodyPr/>
          <a:lstStyle/>
          <a:p>
            <a:endParaRPr lang="fr-CA"/>
          </a:p>
        </p:txBody>
      </p:sp>
      <p:sp>
        <p:nvSpPr>
          <p:cNvPr id="37" name="Shape 33"/>
          <p:cNvSpPr/>
          <p:nvPr/>
        </p:nvSpPr>
        <p:spPr>
          <a:xfrm>
            <a:off x="857250" y="3455789"/>
            <a:ext cx="4857750" cy="7144"/>
          </a:xfrm>
          <a:prstGeom prst="rect">
            <a:avLst/>
          </a:prstGeom>
          <a:solidFill>
            <a:srgbClr val="EEEEEE"/>
          </a:solidFill>
          <a:ln/>
        </p:spPr>
        <p:txBody>
          <a:bodyPr/>
          <a:lstStyle/>
          <a:p>
            <a:endParaRPr lang="fr-CA"/>
          </a:p>
        </p:txBody>
      </p:sp>
      <p:sp>
        <p:nvSpPr>
          <p:cNvPr id="38" name="Shape 34"/>
          <p:cNvSpPr/>
          <p:nvPr/>
        </p:nvSpPr>
        <p:spPr>
          <a:xfrm>
            <a:off x="857250" y="2950369"/>
            <a:ext cx="28575" cy="512564"/>
          </a:xfrm>
          <a:prstGeom prst="rect">
            <a:avLst/>
          </a:prstGeom>
          <a:solidFill>
            <a:srgbClr val="003366"/>
          </a:solidFill>
          <a:ln/>
        </p:spPr>
        <p:txBody>
          <a:bodyPr/>
          <a:lstStyle/>
          <a:p>
            <a:endParaRPr lang="fr-CA"/>
          </a:p>
        </p:txBody>
      </p:sp>
      <p:sp>
        <p:nvSpPr>
          <p:cNvPr id="39" name="Text 35"/>
          <p:cNvSpPr/>
          <p:nvPr/>
        </p:nvSpPr>
        <p:spPr>
          <a:xfrm>
            <a:off x="964406" y="3036094"/>
            <a:ext cx="1696920"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3366"/>
                </a:solidFill>
              </a:rPr>
              <a:t>Phase 4 : Intégration Système</a:t>
            </a:r>
            <a:endParaRPr lang="en-US" sz="784" dirty="0"/>
          </a:p>
        </p:txBody>
      </p:sp>
      <p:sp>
        <p:nvSpPr>
          <p:cNvPr id="40" name="Shape 36"/>
          <p:cNvSpPr/>
          <p:nvPr/>
        </p:nvSpPr>
        <p:spPr>
          <a:xfrm>
            <a:off x="4866484" y="3036094"/>
            <a:ext cx="741359" cy="155377"/>
          </a:xfrm>
          <a:prstGeom prst="rect">
            <a:avLst/>
          </a:prstGeom>
          <a:solidFill>
            <a:srgbClr val="2E8B57">
              <a:alpha val="10000"/>
            </a:srgbClr>
          </a:solidFill>
          <a:ln/>
        </p:spPr>
        <p:txBody>
          <a:bodyPr/>
          <a:lstStyle/>
          <a:p>
            <a:endParaRPr lang="fr-CA" dirty="0"/>
          </a:p>
        </p:txBody>
      </p:sp>
      <p:sp>
        <p:nvSpPr>
          <p:cNvPr id="41" name="Text 37"/>
          <p:cNvSpPr/>
          <p:nvPr/>
        </p:nvSpPr>
        <p:spPr>
          <a:xfrm>
            <a:off x="4866484" y="3036094"/>
            <a:ext cx="741359" cy="131126"/>
          </a:xfrm>
          <a:prstGeom prst="rect">
            <a:avLst/>
          </a:prstGeom>
          <a:noFill/>
          <a:ln/>
        </p:spPr>
        <p:txBody>
          <a:bodyPr wrap="square" lIns="51054" tIns="17018" rIns="51054" bIns="17018" rtlCol="0" anchor="t">
            <a:spAutoFit/>
          </a:bodyPr>
          <a:lstStyle/>
          <a:p>
            <a:pPr marL="0" indent="0" algn="l">
              <a:lnSpc>
                <a:spcPts val="800"/>
              </a:lnSpc>
              <a:buNone/>
            </a:pPr>
            <a:r>
              <a:rPr lang="en-US" sz="584" b="1" dirty="0" err="1">
                <a:solidFill>
                  <a:srgbClr val="2E8B57"/>
                </a:solidFill>
              </a:rPr>
              <a:t>Semaines</a:t>
            </a:r>
            <a:r>
              <a:rPr lang="en-US" sz="584" b="1" dirty="0">
                <a:solidFill>
                  <a:srgbClr val="2E8B57"/>
                </a:solidFill>
              </a:rPr>
              <a:t> 10-12</a:t>
            </a:r>
            <a:endParaRPr lang="en-US" sz="584" dirty="0"/>
          </a:p>
        </p:txBody>
      </p:sp>
      <p:sp>
        <p:nvSpPr>
          <p:cNvPr id="42" name="Text 38"/>
          <p:cNvSpPr/>
          <p:nvPr/>
        </p:nvSpPr>
        <p:spPr>
          <a:xfrm>
            <a:off x="964406" y="3227189"/>
            <a:ext cx="4643438"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555555"/>
                </a:solidFill>
              </a:rPr>
              <a:t>Développement script Python principal, connexion capteurs, Dashboard Flask.</a:t>
            </a:r>
            <a:endParaRPr lang="en-US" sz="727" dirty="0"/>
          </a:p>
        </p:txBody>
      </p:sp>
      <p:sp>
        <p:nvSpPr>
          <p:cNvPr id="43" name="Shape 39"/>
          <p:cNvSpPr/>
          <p:nvPr/>
        </p:nvSpPr>
        <p:spPr>
          <a:xfrm>
            <a:off x="857250" y="3591520"/>
            <a:ext cx="4857750" cy="512564"/>
          </a:xfrm>
          <a:prstGeom prst="rect">
            <a:avLst/>
          </a:prstGeom>
          <a:solidFill>
            <a:srgbClr val="F9F9F9"/>
          </a:solidFill>
          <a:ln/>
        </p:spPr>
        <p:txBody>
          <a:bodyPr/>
          <a:lstStyle/>
          <a:p>
            <a:endParaRPr lang="fr-CA"/>
          </a:p>
        </p:txBody>
      </p:sp>
      <p:sp>
        <p:nvSpPr>
          <p:cNvPr id="44" name="Shape 40"/>
          <p:cNvSpPr/>
          <p:nvPr/>
        </p:nvSpPr>
        <p:spPr>
          <a:xfrm>
            <a:off x="857250" y="3591520"/>
            <a:ext cx="4857750" cy="7144"/>
          </a:xfrm>
          <a:prstGeom prst="rect">
            <a:avLst/>
          </a:prstGeom>
          <a:solidFill>
            <a:srgbClr val="EEEEEE"/>
          </a:solidFill>
          <a:ln/>
        </p:spPr>
        <p:txBody>
          <a:bodyPr/>
          <a:lstStyle/>
          <a:p>
            <a:endParaRPr lang="fr-CA"/>
          </a:p>
        </p:txBody>
      </p:sp>
      <p:sp>
        <p:nvSpPr>
          <p:cNvPr id="45" name="Shape 41"/>
          <p:cNvSpPr/>
          <p:nvPr/>
        </p:nvSpPr>
        <p:spPr>
          <a:xfrm>
            <a:off x="5707856" y="3591520"/>
            <a:ext cx="7144" cy="512564"/>
          </a:xfrm>
          <a:prstGeom prst="rect">
            <a:avLst/>
          </a:prstGeom>
          <a:solidFill>
            <a:srgbClr val="EEEEEE"/>
          </a:solidFill>
          <a:ln/>
        </p:spPr>
        <p:txBody>
          <a:bodyPr/>
          <a:lstStyle/>
          <a:p>
            <a:endParaRPr lang="fr-CA"/>
          </a:p>
        </p:txBody>
      </p:sp>
      <p:sp>
        <p:nvSpPr>
          <p:cNvPr id="46" name="Shape 42"/>
          <p:cNvSpPr/>
          <p:nvPr/>
        </p:nvSpPr>
        <p:spPr>
          <a:xfrm>
            <a:off x="857250" y="4096941"/>
            <a:ext cx="4857750" cy="7144"/>
          </a:xfrm>
          <a:prstGeom prst="rect">
            <a:avLst/>
          </a:prstGeom>
          <a:solidFill>
            <a:srgbClr val="EEEEEE"/>
          </a:solidFill>
          <a:ln/>
        </p:spPr>
        <p:txBody>
          <a:bodyPr/>
          <a:lstStyle/>
          <a:p>
            <a:endParaRPr lang="fr-CA"/>
          </a:p>
        </p:txBody>
      </p:sp>
      <p:sp>
        <p:nvSpPr>
          <p:cNvPr id="47" name="Shape 43"/>
          <p:cNvSpPr/>
          <p:nvPr/>
        </p:nvSpPr>
        <p:spPr>
          <a:xfrm>
            <a:off x="857250" y="3591520"/>
            <a:ext cx="28575" cy="512564"/>
          </a:xfrm>
          <a:prstGeom prst="rect">
            <a:avLst/>
          </a:prstGeom>
          <a:solidFill>
            <a:srgbClr val="003366"/>
          </a:solidFill>
          <a:ln/>
        </p:spPr>
        <p:txBody>
          <a:bodyPr/>
          <a:lstStyle/>
          <a:p>
            <a:endParaRPr lang="fr-CA"/>
          </a:p>
        </p:txBody>
      </p:sp>
      <p:sp>
        <p:nvSpPr>
          <p:cNvPr id="48" name="Text 44"/>
          <p:cNvSpPr/>
          <p:nvPr/>
        </p:nvSpPr>
        <p:spPr>
          <a:xfrm>
            <a:off x="964406" y="3677245"/>
            <a:ext cx="1675293"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3366"/>
                </a:solidFill>
              </a:rPr>
              <a:t>Phase 5 : Validation &amp; Clôture</a:t>
            </a:r>
            <a:endParaRPr lang="en-US" sz="784" dirty="0"/>
          </a:p>
        </p:txBody>
      </p:sp>
      <p:sp>
        <p:nvSpPr>
          <p:cNvPr id="49" name="Shape 45"/>
          <p:cNvSpPr/>
          <p:nvPr/>
        </p:nvSpPr>
        <p:spPr>
          <a:xfrm>
            <a:off x="4866484" y="3677245"/>
            <a:ext cx="741359" cy="155377"/>
          </a:xfrm>
          <a:prstGeom prst="rect">
            <a:avLst/>
          </a:prstGeom>
          <a:solidFill>
            <a:srgbClr val="2E8B57">
              <a:alpha val="10000"/>
            </a:srgbClr>
          </a:solidFill>
          <a:ln/>
        </p:spPr>
        <p:txBody>
          <a:bodyPr/>
          <a:lstStyle/>
          <a:p>
            <a:endParaRPr lang="fr-CA"/>
          </a:p>
        </p:txBody>
      </p:sp>
      <p:sp>
        <p:nvSpPr>
          <p:cNvPr id="50" name="Text 46"/>
          <p:cNvSpPr/>
          <p:nvPr/>
        </p:nvSpPr>
        <p:spPr>
          <a:xfrm>
            <a:off x="4866484" y="3677245"/>
            <a:ext cx="741359" cy="131126"/>
          </a:xfrm>
          <a:prstGeom prst="rect">
            <a:avLst/>
          </a:prstGeom>
          <a:noFill/>
          <a:ln/>
        </p:spPr>
        <p:txBody>
          <a:bodyPr wrap="square" lIns="51054" tIns="17018" rIns="51054" bIns="17018" rtlCol="0" anchor="t">
            <a:spAutoFit/>
          </a:bodyPr>
          <a:lstStyle/>
          <a:p>
            <a:pPr marL="0" indent="0" algn="l">
              <a:lnSpc>
                <a:spcPts val="800"/>
              </a:lnSpc>
              <a:buNone/>
            </a:pPr>
            <a:r>
              <a:rPr lang="en-US" sz="584" b="1" dirty="0" err="1">
                <a:solidFill>
                  <a:srgbClr val="2E8B57"/>
                </a:solidFill>
              </a:rPr>
              <a:t>Semaines</a:t>
            </a:r>
            <a:r>
              <a:rPr lang="en-US" sz="584" b="1" dirty="0">
                <a:solidFill>
                  <a:srgbClr val="2E8B57"/>
                </a:solidFill>
              </a:rPr>
              <a:t> 13-14</a:t>
            </a:r>
            <a:endParaRPr lang="en-US" sz="584" dirty="0"/>
          </a:p>
        </p:txBody>
      </p:sp>
      <p:sp>
        <p:nvSpPr>
          <p:cNvPr id="51" name="Text 47"/>
          <p:cNvSpPr/>
          <p:nvPr/>
        </p:nvSpPr>
        <p:spPr>
          <a:xfrm>
            <a:off x="964406" y="3868341"/>
            <a:ext cx="4643438"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555555"/>
                </a:solidFill>
              </a:rPr>
              <a:t>Tests en conditions réelles, rédaction rapport final, préparation soutenance.</a:t>
            </a:r>
            <a:endParaRPr lang="en-US" sz="727" dirty="0"/>
          </a:p>
        </p:txBody>
      </p:sp>
      <p:sp>
        <p:nvSpPr>
          <p:cNvPr id="52" name="Shape 48"/>
          <p:cNvSpPr/>
          <p:nvPr/>
        </p:nvSpPr>
        <p:spPr>
          <a:xfrm>
            <a:off x="6072188" y="1026914"/>
            <a:ext cx="2643188" cy="791170"/>
          </a:xfrm>
          <a:prstGeom prst="rect">
            <a:avLst/>
          </a:prstGeom>
          <a:solidFill>
            <a:srgbClr val="003366"/>
          </a:solidFill>
          <a:ln/>
        </p:spPr>
        <p:txBody>
          <a:bodyPr/>
          <a:lstStyle/>
          <a:p>
            <a:endParaRPr lang="fr-CA"/>
          </a:p>
        </p:txBody>
      </p:sp>
      <p:sp>
        <p:nvSpPr>
          <p:cNvPr id="53" name="Text 49"/>
          <p:cNvSpPr/>
          <p:nvPr/>
        </p:nvSpPr>
        <p:spPr>
          <a:xfrm>
            <a:off x="6789451" y="1169789"/>
            <a:ext cx="1208665" cy="292068"/>
          </a:xfrm>
          <a:prstGeom prst="rect">
            <a:avLst/>
          </a:prstGeom>
          <a:noFill/>
          <a:ln/>
        </p:spPr>
        <p:txBody>
          <a:bodyPr wrap="none" lIns="0" tIns="0" rIns="0" bIns="0" rtlCol="0" anchor="t">
            <a:spAutoFit/>
          </a:bodyPr>
          <a:lstStyle/>
          <a:p>
            <a:pPr marL="0" indent="0" algn="ctr">
              <a:lnSpc>
                <a:spcPts val="2400"/>
              </a:lnSpc>
              <a:buNone/>
            </a:pPr>
            <a:r>
              <a:rPr lang="en-US" sz="1808" b="1" dirty="0">
                <a:solidFill>
                  <a:srgbClr val="2E8B57"/>
                </a:solidFill>
              </a:rPr>
              <a:t>14 Semaines</a:t>
            </a:r>
            <a:endParaRPr lang="en-US" sz="1808" dirty="0"/>
          </a:p>
        </p:txBody>
      </p:sp>
      <p:sp>
        <p:nvSpPr>
          <p:cNvPr id="54" name="Text 50"/>
          <p:cNvSpPr/>
          <p:nvPr/>
        </p:nvSpPr>
        <p:spPr>
          <a:xfrm>
            <a:off x="6760973" y="1535906"/>
            <a:ext cx="1265616" cy="135731"/>
          </a:xfrm>
          <a:prstGeom prst="rect">
            <a:avLst/>
          </a:prstGeom>
          <a:noFill/>
          <a:ln/>
        </p:spPr>
        <p:txBody>
          <a:bodyPr wrap="none" lIns="0" tIns="0" rIns="0" bIns="0" rtlCol="0" anchor="t">
            <a:spAutoFit/>
          </a:bodyPr>
          <a:lstStyle/>
          <a:p>
            <a:pPr marL="0" indent="0" algn="ctr">
              <a:lnSpc>
                <a:spcPts val="900"/>
              </a:lnSpc>
              <a:buNone/>
            </a:pPr>
            <a:r>
              <a:rPr lang="en-US" sz="727" kern="0" spc="1" dirty="0">
                <a:solidFill>
                  <a:srgbClr val="FFFFFF"/>
                </a:solidFill>
              </a:rPr>
              <a:t>Durée Totale Estimée</a:t>
            </a:r>
            <a:endParaRPr lang="en-US" sz="727" dirty="0"/>
          </a:p>
        </p:txBody>
      </p:sp>
      <p:sp>
        <p:nvSpPr>
          <p:cNvPr id="55" name="Shape 51"/>
          <p:cNvSpPr/>
          <p:nvPr/>
        </p:nvSpPr>
        <p:spPr>
          <a:xfrm>
            <a:off x="6072188" y="1960959"/>
            <a:ext cx="2643188" cy="278606"/>
          </a:xfrm>
          <a:prstGeom prst="rect">
            <a:avLst/>
          </a:prstGeom>
          <a:solidFill>
            <a:srgbClr val="2E8B57"/>
          </a:solidFill>
          <a:ln/>
        </p:spPr>
        <p:txBody>
          <a:bodyPr/>
          <a:lstStyle/>
          <a:p>
            <a:endParaRPr lang="fr-CA"/>
          </a:p>
        </p:txBody>
      </p:sp>
      <p:pic>
        <p:nvPicPr>
          <p:cNvPr id="56" name="Image 1" descr="preencoded.png"/>
          <p:cNvPicPr>
            <a:picLocks noChangeAspect="1"/>
          </p:cNvPicPr>
          <p:nvPr/>
        </p:nvPicPr>
        <p:blipFill>
          <a:blip r:embed="rId4"/>
          <a:stretch>
            <a:fillRect/>
          </a:stretch>
        </p:blipFill>
        <p:spPr>
          <a:xfrm>
            <a:off x="6868241" y="2050256"/>
            <a:ext cx="100013" cy="100013"/>
          </a:xfrm>
          <a:prstGeom prst="rect">
            <a:avLst/>
          </a:prstGeom>
        </p:spPr>
      </p:pic>
      <p:sp>
        <p:nvSpPr>
          <p:cNvPr id="57" name="Text 52"/>
          <p:cNvSpPr/>
          <p:nvPr/>
        </p:nvSpPr>
        <p:spPr>
          <a:xfrm>
            <a:off x="6968254" y="2032397"/>
            <a:ext cx="951040"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FFFFFF"/>
                </a:solidFill>
              </a:rPr>
              <a:t>PLANNING VALIDÉ</a:t>
            </a:r>
            <a:endParaRPr lang="en-US" sz="683" dirty="0"/>
          </a:p>
        </p:txBody>
      </p:sp>
      <p:sp>
        <p:nvSpPr>
          <p:cNvPr id="58" name="Shape 53"/>
          <p:cNvSpPr/>
          <p:nvPr/>
        </p:nvSpPr>
        <p:spPr>
          <a:xfrm>
            <a:off x="6072188" y="2382441"/>
            <a:ext cx="2643188" cy="2475309"/>
          </a:xfrm>
          <a:prstGeom prst="rect">
            <a:avLst/>
          </a:prstGeom>
          <a:solidFill>
            <a:srgbClr val="FFFFFF"/>
          </a:solidFill>
          <a:ln w="9144">
            <a:solidFill>
              <a:srgbClr val="DDDDDD"/>
            </a:solidFill>
            <a:prstDash val="solid"/>
          </a:ln>
        </p:spPr>
        <p:txBody>
          <a:bodyPr/>
          <a:lstStyle/>
          <a:p>
            <a:endParaRPr lang="fr-CA"/>
          </a:p>
        </p:txBody>
      </p:sp>
      <p:pic>
        <p:nvPicPr>
          <p:cNvPr id="59" name="Image 2" descr="preencoded.png"/>
          <p:cNvPicPr>
            <a:picLocks noChangeAspect="1"/>
          </p:cNvPicPr>
          <p:nvPr/>
        </p:nvPicPr>
        <p:blipFill>
          <a:blip r:embed="rId5"/>
          <a:stretch>
            <a:fillRect/>
          </a:stretch>
        </p:blipFill>
        <p:spPr>
          <a:xfrm>
            <a:off x="6107906" y="2418159"/>
            <a:ext cx="2571750" cy="1785938"/>
          </a:xfrm>
          <a:prstGeom prst="rect">
            <a:avLst/>
          </a:prstGeom>
        </p:spPr>
      </p:pic>
      <p:sp>
        <p:nvSpPr>
          <p:cNvPr id="60" name="Text 54"/>
          <p:cNvSpPr/>
          <p:nvPr/>
        </p:nvSpPr>
        <p:spPr>
          <a:xfrm>
            <a:off x="6107906" y="4204097"/>
            <a:ext cx="2571750" cy="187523"/>
          </a:xfrm>
          <a:prstGeom prst="rect">
            <a:avLst/>
          </a:prstGeom>
          <a:noFill/>
          <a:ln/>
        </p:spPr>
        <p:txBody>
          <a:bodyPr wrap="square" lIns="42545" tIns="42545" rIns="42545" bIns="42545" rtlCol="0" anchor="t">
            <a:spAutoFit/>
          </a:bodyPr>
          <a:lstStyle/>
          <a:p>
            <a:pPr marL="0" indent="0" algn="ctr">
              <a:lnSpc>
                <a:spcPts val="800"/>
              </a:lnSpc>
              <a:buNone/>
            </a:pPr>
            <a:r>
              <a:rPr lang="en-US" sz="621" dirty="0">
                <a:solidFill>
                  <a:srgbClr val="666666"/>
                </a:solidFill>
              </a:rPr>
              <a:t>CIBLE D'IMPLÉMENTATION</a:t>
            </a:r>
            <a:endParaRPr lang="en-US" sz="62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8288" y="6096"/>
            <a:ext cx="9144000" cy="5232713"/>
          </a:xfrm>
          <a:prstGeom prst="rect">
            <a:avLst/>
          </a:prstGeom>
        </p:spPr>
      </p:pic>
      <p:sp>
        <p:nvSpPr>
          <p:cNvPr id="4" name="Shape 0"/>
          <p:cNvSpPr/>
          <p:nvPr/>
        </p:nvSpPr>
        <p:spPr>
          <a:xfrm>
            <a:off x="0" y="0"/>
            <a:ext cx="9144000" cy="741164"/>
          </a:xfrm>
          <a:prstGeom prst="rect">
            <a:avLst/>
          </a:prstGeom>
          <a:solidFill>
            <a:srgbClr val="003366"/>
          </a:solidFill>
          <a:ln/>
        </p:spPr>
        <p:txBody>
          <a:bodyPr/>
          <a:lstStyle/>
          <a:p>
            <a:endParaRPr lang="fr-CA"/>
          </a:p>
        </p:txBody>
      </p:sp>
      <p:sp>
        <p:nvSpPr>
          <p:cNvPr id="5" name="Text 1"/>
          <p:cNvSpPr/>
          <p:nvPr/>
        </p:nvSpPr>
        <p:spPr>
          <a:xfrm>
            <a:off x="428625" y="214313"/>
            <a:ext cx="213880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Livrables Attendus</a:t>
            </a:r>
            <a:endParaRPr lang="en-US" sz="1602" dirty="0"/>
          </a:p>
        </p:txBody>
      </p:sp>
      <p:sp>
        <p:nvSpPr>
          <p:cNvPr id="6" name="Text 2"/>
          <p:cNvSpPr/>
          <p:nvPr/>
        </p:nvSpPr>
        <p:spPr>
          <a:xfrm>
            <a:off x="8351881" y="292894"/>
            <a:ext cx="363494"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2E8B57"/>
                </a:solidFill>
              </a:rPr>
              <a:t>08 / 10</a:t>
            </a:r>
            <a:endParaRPr lang="en-US" sz="834" dirty="0"/>
          </a:p>
        </p:txBody>
      </p:sp>
      <p:pic>
        <p:nvPicPr>
          <p:cNvPr id="7" name="Image 1" descr="preencoded.png"/>
          <p:cNvPicPr>
            <a:picLocks noChangeAspect="1"/>
          </p:cNvPicPr>
          <p:nvPr/>
        </p:nvPicPr>
        <p:blipFill>
          <a:blip r:embed="rId4"/>
          <a:stretch>
            <a:fillRect/>
          </a:stretch>
        </p:blipFill>
        <p:spPr>
          <a:xfrm>
            <a:off x="428625" y="1055489"/>
            <a:ext cx="196453" cy="157163"/>
          </a:xfrm>
          <a:prstGeom prst="rect">
            <a:avLst/>
          </a:prstGeom>
        </p:spPr>
      </p:pic>
      <p:sp>
        <p:nvSpPr>
          <p:cNvPr id="8" name="Text 3"/>
          <p:cNvSpPr/>
          <p:nvPr/>
        </p:nvSpPr>
        <p:spPr>
          <a:xfrm>
            <a:off x="696516" y="1026914"/>
            <a:ext cx="1630421"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3366"/>
                </a:solidFill>
              </a:rPr>
              <a:t>Livrables Techniques</a:t>
            </a:r>
            <a:endParaRPr lang="en-US" sz="1090" dirty="0"/>
          </a:p>
        </p:txBody>
      </p:sp>
      <p:sp>
        <p:nvSpPr>
          <p:cNvPr id="9" name="Shape 4"/>
          <p:cNvSpPr/>
          <p:nvPr/>
        </p:nvSpPr>
        <p:spPr>
          <a:xfrm>
            <a:off x="428625" y="1469827"/>
            <a:ext cx="4000500" cy="828284"/>
          </a:xfrm>
          <a:prstGeom prst="rect">
            <a:avLst/>
          </a:prstGeom>
          <a:solidFill>
            <a:srgbClr val="F9F9F9"/>
          </a:solidFill>
          <a:ln/>
        </p:spPr>
        <p:txBody>
          <a:bodyPr/>
          <a:lstStyle/>
          <a:p>
            <a:endParaRPr lang="fr-CA"/>
          </a:p>
        </p:txBody>
      </p:sp>
      <p:sp>
        <p:nvSpPr>
          <p:cNvPr id="10" name="Shape 5"/>
          <p:cNvSpPr/>
          <p:nvPr/>
        </p:nvSpPr>
        <p:spPr>
          <a:xfrm>
            <a:off x="428625" y="1469827"/>
            <a:ext cx="28575" cy="828284"/>
          </a:xfrm>
          <a:prstGeom prst="rect">
            <a:avLst/>
          </a:prstGeom>
          <a:solidFill>
            <a:srgbClr val="2E8B57"/>
          </a:solidFill>
          <a:ln/>
        </p:spPr>
        <p:txBody>
          <a:bodyPr/>
          <a:lstStyle/>
          <a:p>
            <a:endParaRPr lang="fr-CA"/>
          </a:p>
        </p:txBody>
      </p:sp>
      <p:pic>
        <p:nvPicPr>
          <p:cNvPr id="11" name="Image 2" descr="preencoded.png"/>
          <p:cNvPicPr>
            <a:picLocks noChangeAspect="1"/>
          </p:cNvPicPr>
          <p:nvPr/>
        </p:nvPicPr>
        <p:blipFill>
          <a:blip r:embed="rId5"/>
          <a:stretch>
            <a:fillRect/>
          </a:stretch>
        </p:blipFill>
        <p:spPr>
          <a:xfrm>
            <a:off x="535781" y="1576983"/>
            <a:ext cx="214313" cy="473971"/>
          </a:xfrm>
          <a:prstGeom prst="rect">
            <a:avLst/>
          </a:prstGeom>
        </p:spPr>
      </p:pic>
      <p:sp>
        <p:nvSpPr>
          <p:cNvPr id="12" name="Text 6"/>
          <p:cNvSpPr/>
          <p:nvPr/>
        </p:nvSpPr>
        <p:spPr>
          <a:xfrm>
            <a:off x="857250" y="1576983"/>
            <a:ext cx="3464719"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33333"/>
                </a:solidFill>
              </a:rPr>
              <a:t>Modèle YOLOv8 Entraîné</a:t>
            </a:r>
            <a:endParaRPr lang="en-US" sz="784" dirty="0"/>
          </a:p>
        </p:txBody>
      </p:sp>
      <p:sp>
        <p:nvSpPr>
          <p:cNvPr id="13" name="Text 7"/>
          <p:cNvSpPr/>
          <p:nvPr/>
        </p:nvSpPr>
        <p:spPr>
          <a:xfrm>
            <a:off x="857250" y="1768078"/>
            <a:ext cx="3464719"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555555"/>
                </a:solidFill>
              </a:rPr>
              <a:t>Modèle de détection fine-tuné sur dataset de bovins, optimisé pour Edge.</a:t>
            </a:r>
            <a:endParaRPr lang="en-US" sz="727" dirty="0"/>
          </a:p>
        </p:txBody>
      </p:sp>
      <p:sp>
        <p:nvSpPr>
          <p:cNvPr id="14" name="Text 8"/>
          <p:cNvSpPr/>
          <p:nvPr/>
        </p:nvSpPr>
        <p:spPr>
          <a:xfrm>
            <a:off x="857250" y="1943798"/>
            <a:ext cx="3464719"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888888"/>
                </a:solidFill>
              </a:rPr>
              <a:t>Format: .pt (PyTorch) + .onnx (Déploiement)</a:t>
            </a:r>
            <a:endParaRPr lang="en-US" sz="568" dirty="0"/>
          </a:p>
        </p:txBody>
      </p:sp>
      <p:sp>
        <p:nvSpPr>
          <p:cNvPr id="15" name="Shape 9"/>
          <p:cNvSpPr/>
          <p:nvPr/>
        </p:nvSpPr>
        <p:spPr>
          <a:xfrm>
            <a:off x="428625" y="2265266"/>
            <a:ext cx="4000500" cy="828284"/>
          </a:xfrm>
          <a:prstGeom prst="rect">
            <a:avLst/>
          </a:prstGeom>
          <a:solidFill>
            <a:srgbClr val="F9F9F9"/>
          </a:solidFill>
          <a:ln/>
        </p:spPr>
        <p:txBody>
          <a:bodyPr/>
          <a:lstStyle/>
          <a:p>
            <a:endParaRPr lang="fr-CA"/>
          </a:p>
        </p:txBody>
      </p:sp>
      <p:sp>
        <p:nvSpPr>
          <p:cNvPr id="16" name="Shape 10"/>
          <p:cNvSpPr/>
          <p:nvPr/>
        </p:nvSpPr>
        <p:spPr>
          <a:xfrm>
            <a:off x="428625" y="2265266"/>
            <a:ext cx="28575" cy="828284"/>
          </a:xfrm>
          <a:prstGeom prst="rect">
            <a:avLst/>
          </a:prstGeom>
          <a:solidFill>
            <a:srgbClr val="003366"/>
          </a:solidFill>
          <a:ln/>
        </p:spPr>
        <p:txBody>
          <a:bodyPr/>
          <a:lstStyle/>
          <a:p>
            <a:endParaRPr lang="fr-CA"/>
          </a:p>
        </p:txBody>
      </p:sp>
      <p:pic>
        <p:nvPicPr>
          <p:cNvPr id="17" name="Image 3" descr="preencoded.png"/>
          <p:cNvPicPr>
            <a:picLocks noChangeAspect="1"/>
          </p:cNvPicPr>
          <p:nvPr/>
        </p:nvPicPr>
        <p:blipFill>
          <a:blip r:embed="rId6"/>
          <a:stretch>
            <a:fillRect/>
          </a:stretch>
        </p:blipFill>
        <p:spPr>
          <a:xfrm>
            <a:off x="535781" y="2372423"/>
            <a:ext cx="214313" cy="613972"/>
          </a:xfrm>
          <a:prstGeom prst="rect">
            <a:avLst/>
          </a:prstGeom>
        </p:spPr>
      </p:pic>
      <p:sp>
        <p:nvSpPr>
          <p:cNvPr id="18" name="Text 11"/>
          <p:cNvSpPr/>
          <p:nvPr/>
        </p:nvSpPr>
        <p:spPr>
          <a:xfrm>
            <a:off x="857250" y="2372423"/>
            <a:ext cx="3464719"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33333"/>
                </a:solidFill>
              </a:rPr>
              <a:t>Script d'Inférence Python</a:t>
            </a:r>
            <a:endParaRPr lang="en-US" sz="784" dirty="0"/>
          </a:p>
        </p:txBody>
      </p:sp>
      <p:sp>
        <p:nvSpPr>
          <p:cNvPr id="19" name="Text 12"/>
          <p:cNvSpPr/>
          <p:nvPr/>
        </p:nvSpPr>
        <p:spPr>
          <a:xfrm>
            <a:off x="857250" y="2563518"/>
            <a:ext cx="3464719"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555555"/>
                </a:solidFill>
              </a:rPr>
              <a:t>Application complète : capture vidéo, détection, comptage et génération heatmap.</a:t>
            </a:r>
            <a:endParaRPr lang="en-US" sz="727" dirty="0"/>
          </a:p>
        </p:txBody>
      </p:sp>
      <p:sp>
        <p:nvSpPr>
          <p:cNvPr id="20" name="Text 13"/>
          <p:cNvSpPr/>
          <p:nvPr/>
        </p:nvSpPr>
        <p:spPr>
          <a:xfrm>
            <a:off x="857250" y="2879238"/>
            <a:ext cx="3464719"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888888"/>
                </a:solidFill>
              </a:rPr>
              <a:t>Format: .py (Python 3.10+)</a:t>
            </a:r>
            <a:endParaRPr lang="en-US" sz="568" dirty="0"/>
          </a:p>
        </p:txBody>
      </p:sp>
      <p:sp>
        <p:nvSpPr>
          <p:cNvPr id="21" name="Shape 14"/>
          <p:cNvSpPr/>
          <p:nvPr/>
        </p:nvSpPr>
        <p:spPr>
          <a:xfrm>
            <a:off x="428625" y="3200707"/>
            <a:ext cx="4000500" cy="688284"/>
          </a:xfrm>
          <a:prstGeom prst="rect">
            <a:avLst/>
          </a:prstGeom>
          <a:solidFill>
            <a:srgbClr val="F9F9F9"/>
          </a:solidFill>
          <a:ln/>
        </p:spPr>
        <p:txBody>
          <a:bodyPr/>
          <a:lstStyle/>
          <a:p>
            <a:endParaRPr lang="fr-CA"/>
          </a:p>
        </p:txBody>
      </p:sp>
      <p:sp>
        <p:nvSpPr>
          <p:cNvPr id="22" name="Shape 15"/>
          <p:cNvSpPr/>
          <p:nvPr/>
        </p:nvSpPr>
        <p:spPr>
          <a:xfrm>
            <a:off x="428625" y="3200707"/>
            <a:ext cx="28575" cy="688284"/>
          </a:xfrm>
          <a:prstGeom prst="rect">
            <a:avLst/>
          </a:prstGeom>
          <a:solidFill>
            <a:srgbClr val="2E8B57"/>
          </a:solidFill>
          <a:ln/>
        </p:spPr>
        <p:txBody>
          <a:bodyPr/>
          <a:lstStyle/>
          <a:p>
            <a:endParaRPr lang="fr-CA"/>
          </a:p>
        </p:txBody>
      </p:sp>
      <p:pic>
        <p:nvPicPr>
          <p:cNvPr id="23" name="Image 4" descr="preencoded.png"/>
          <p:cNvPicPr>
            <a:picLocks noChangeAspect="1"/>
          </p:cNvPicPr>
          <p:nvPr/>
        </p:nvPicPr>
        <p:blipFill>
          <a:blip r:embed="rId7"/>
          <a:stretch>
            <a:fillRect/>
          </a:stretch>
        </p:blipFill>
        <p:spPr>
          <a:xfrm>
            <a:off x="535781" y="3307863"/>
            <a:ext cx="214313" cy="473971"/>
          </a:xfrm>
          <a:prstGeom prst="rect">
            <a:avLst/>
          </a:prstGeom>
        </p:spPr>
      </p:pic>
      <p:sp>
        <p:nvSpPr>
          <p:cNvPr id="24" name="Text 16"/>
          <p:cNvSpPr/>
          <p:nvPr/>
        </p:nvSpPr>
        <p:spPr>
          <a:xfrm>
            <a:off x="857250" y="3307863"/>
            <a:ext cx="3464719"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33333"/>
                </a:solidFill>
              </a:rPr>
              <a:t>Dashboard Web Flask</a:t>
            </a:r>
            <a:endParaRPr lang="en-US" sz="784" dirty="0"/>
          </a:p>
        </p:txBody>
      </p:sp>
      <p:sp>
        <p:nvSpPr>
          <p:cNvPr id="25" name="Text 17"/>
          <p:cNvSpPr/>
          <p:nvPr/>
        </p:nvSpPr>
        <p:spPr>
          <a:xfrm>
            <a:off x="857250" y="3498959"/>
            <a:ext cx="3464719"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555555"/>
                </a:solidFill>
              </a:rPr>
              <a:t>Interface de visualisation temps réel avec flux annoté et carte de densité.</a:t>
            </a:r>
            <a:endParaRPr lang="en-US" sz="727" dirty="0"/>
          </a:p>
        </p:txBody>
      </p:sp>
      <p:sp>
        <p:nvSpPr>
          <p:cNvPr id="26" name="Text 18"/>
          <p:cNvSpPr/>
          <p:nvPr/>
        </p:nvSpPr>
        <p:spPr>
          <a:xfrm>
            <a:off x="857250" y="3674678"/>
            <a:ext cx="3464719"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888888"/>
                </a:solidFill>
              </a:rPr>
              <a:t>Format: Application Flask + HTML/CSS/JS</a:t>
            </a:r>
            <a:endParaRPr lang="en-US" sz="568" dirty="0"/>
          </a:p>
        </p:txBody>
      </p:sp>
      <p:pic>
        <p:nvPicPr>
          <p:cNvPr id="27" name="Image 5" descr="preencoded.png"/>
          <p:cNvPicPr>
            <a:picLocks noChangeAspect="1"/>
          </p:cNvPicPr>
          <p:nvPr/>
        </p:nvPicPr>
        <p:blipFill>
          <a:blip r:embed="rId8"/>
          <a:stretch>
            <a:fillRect/>
          </a:stretch>
        </p:blipFill>
        <p:spPr>
          <a:xfrm>
            <a:off x="4714875" y="1055489"/>
            <a:ext cx="196453" cy="157163"/>
          </a:xfrm>
          <a:prstGeom prst="rect">
            <a:avLst/>
          </a:prstGeom>
        </p:spPr>
      </p:pic>
      <p:sp>
        <p:nvSpPr>
          <p:cNvPr id="28" name="Text 19"/>
          <p:cNvSpPr/>
          <p:nvPr/>
        </p:nvSpPr>
        <p:spPr>
          <a:xfrm>
            <a:off x="4982766" y="1026914"/>
            <a:ext cx="1801090"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3366"/>
                </a:solidFill>
              </a:rPr>
              <a:t>Livrables Académiques</a:t>
            </a:r>
            <a:endParaRPr lang="en-US" sz="1090" dirty="0"/>
          </a:p>
        </p:txBody>
      </p:sp>
      <p:sp>
        <p:nvSpPr>
          <p:cNvPr id="29" name="Shape 20"/>
          <p:cNvSpPr/>
          <p:nvPr/>
        </p:nvSpPr>
        <p:spPr>
          <a:xfrm>
            <a:off x="4714875" y="1469827"/>
            <a:ext cx="4000500" cy="828284"/>
          </a:xfrm>
          <a:prstGeom prst="rect">
            <a:avLst/>
          </a:prstGeom>
          <a:solidFill>
            <a:srgbClr val="F9F9F9"/>
          </a:solidFill>
          <a:ln/>
        </p:spPr>
        <p:txBody>
          <a:bodyPr/>
          <a:lstStyle/>
          <a:p>
            <a:endParaRPr lang="fr-CA"/>
          </a:p>
        </p:txBody>
      </p:sp>
      <p:sp>
        <p:nvSpPr>
          <p:cNvPr id="30" name="Shape 21"/>
          <p:cNvSpPr/>
          <p:nvPr/>
        </p:nvSpPr>
        <p:spPr>
          <a:xfrm>
            <a:off x="4714875" y="1469827"/>
            <a:ext cx="28575" cy="828284"/>
          </a:xfrm>
          <a:prstGeom prst="rect">
            <a:avLst/>
          </a:prstGeom>
          <a:solidFill>
            <a:srgbClr val="003366"/>
          </a:solidFill>
          <a:ln/>
        </p:spPr>
        <p:txBody>
          <a:bodyPr/>
          <a:lstStyle/>
          <a:p>
            <a:endParaRPr lang="fr-CA"/>
          </a:p>
        </p:txBody>
      </p:sp>
      <p:pic>
        <p:nvPicPr>
          <p:cNvPr id="31" name="Image 6" descr="preencoded.png"/>
          <p:cNvPicPr>
            <a:picLocks noChangeAspect="1"/>
          </p:cNvPicPr>
          <p:nvPr/>
        </p:nvPicPr>
        <p:blipFill>
          <a:blip r:embed="rId9"/>
          <a:stretch>
            <a:fillRect/>
          </a:stretch>
        </p:blipFill>
        <p:spPr>
          <a:xfrm>
            <a:off x="4822031" y="1576983"/>
            <a:ext cx="214313" cy="613972"/>
          </a:xfrm>
          <a:prstGeom prst="rect">
            <a:avLst/>
          </a:prstGeom>
        </p:spPr>
      </p:pic>
      <p:sp>
        <p:nvSpPr>
          <p:cNvPr id="32" name="Text 22"/>
          <p:cNvSpPr/>
          <p:nvPr/>
        </p:nvSpPr>
        <p:spPr>
          <a:xfrm>
            <a:off x="5143500" y="1576983"/>
            <a:ext cx="3464719"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33333"/>
                </a:solidFill>
              </a:rPr>
              <a:t>Rapport de Projet</a:t>
            </a:r>
            <a:endParaRPr lang="en-US" sz="784" dirty="0"/>
          </a:p>
        </p:txBody>
      </p:sp>
      <p:sp>
        <p:nvSpPr>
          <p:cNvPr id="33" name="Text 23"/>
          <p:cNvSpPr/>
          <p:nvPr/>
        </p:nvSpPr>
        <p:spPr>
          <a:xfrm>
            <a:off x="5143500" y="1768078"/>
            <a:ext cx="3464719"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555555"/>
                </a:solidFill>
              </a:rPr>
              <a:t>Documentation complète : état de l'art, méthodologie, résultats et analyse.</a:t>
            </a:r>
            <a:endParaRPr lang="en-US" sz="727" dirty="0"/>
          </a:p>
        </p:txBody>
      </p:sp>
      <p:sp>
        <p:nvSpPr>
          <p:cNvPr id="34" name="Text 24"/>
          <p:cNvSpPr/>
          <p:nvPr/>
        </p:nvSpPr>
        <p:spPr>
          <a:xfrm>
            <a:off x="5143500" y="2083798"/>
            <a:ext cx="3464719"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888888"/>
                </a:solidFill>
              </a:rPr>
              <a:t>Format: PDF (~50-80 pages)</a:t>
            </a:r>
            <a:endParaRPr lang="en-US" sz="568" dirty="0"/>
          </a:p>
        </p:txBody>
      </p:sp>
      <p:sp>
        <p:nvSpPr>
          <p:cNvPr id="35" name="Shape 25"/>
          <p:cNvSpPr/>
          <p:nvPr/>
        </p:nvSpPr>
        <p:spPr>
          <a:xfrm>
            <a:off x="4714875" y="2405267"/>
            <a:ext cx="4000500" cy="688284"/>
          </a:xfrm>
          <a:prstGeom prst="rect">
            <a:avLst/>
          </a:prstGeom>
          <a:solidFill>
            <a:srgbClr val="F9F9F9"/>
          </a:solidFill>
          <a:ln/>
        </p:spPr>
        <p:txBody>
          <a:bodyPr/>
          <a:lstStyle/>
          <a:p>
            <a:endParaRPr lang="fr-CA"/>
          </a:p>
        </p:txBody>
      </p:sp>
      <p:sp>
        <p:nvSpPr>
          <p:cNvPr id="36" name="Shape 26"/>
          <p:cNvSpPr/>
          <p:nvPr/>
        </p:nvSpPr>
        <p:spPr>
          <a:xfrm>
            <a:off x="4714875" y="2405267"/>
            <a:ext cx="28575" cy="688284"/>
          </a:xfrm>
          <a:prstGeom prst="rect">
            <a:avLst/>
          </a:prstGeom>
          <a:solidFill>
            <a:srgbClr val="2E8B57"/>
          </a:solidFill>
          <a:ln/>
        </p:spPr>
        <p:txBody>
          <a:bodyPr/>
          <a:lstStyle/>
          <a:p>
            <a:endParaRPr lang="fr-CA"/>
          </a:p>
        </p:txBody>
      </p:sp>
      <p:pic>
        <p:nvPicPr>
          <p:cNvPr id="37" name="Image 7" descr="preencoded.png"/>
          <p:cNvPicPr>
            <a:picLocks noChangeAspect="1"/>
          </p:cNvPicPr>
          <p:nvPr/>
        </p:nvPicPr>
        <p:blipFill>
          <a:blip r:embed="rId10"/>
          <a:stretch>
            <a:fillRect/>
          </a:stretch>
        </p:blipFill>
        <p:spPr>
          <a:xfrm>
            <a:off x="4822031" y="2512423"/>
            <a:ext cx="214313" cy="473971"/>
          </a:xfrm>
          <a:prstGeom prst="rect">
            <a:avLst/>
          </a:prstGeom>
        </p:spPr>
      </p:pic>
      <p:sp>
        <p:nvSpPr>
          <p:cNvPr id="38" name="Text 27"/>
          <p:cNvSpPr/>
          <p:nvPr/>
        </p:nvSpPr>
        <p:spPr>
          <a:xfrm>
            <a:off x="5143500" y="2512423"/>
            <a:ext cx="3464719"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33333"/>
                </a:solidFill>
              </a:rPr>
              <a:t>Dataset Annoté</a:t>
            </a:r>
            <a:endParaRPr lang="en-US" sz="784" dirty="0"/>
          </a:p>
        </p:txBody>
      </p:sp>
      <p:sp>
        <p:nvSpPr>
          <p:cNvPr id="39" name="Text 28"/>
          <p:cNvSpPr/>
          <p:nvPr/>
        </p:nvSpPr>
        <p:spPr>
          <a:xfrm>
            <a:off x="5143500" y="2703519"/>
            <a:ext cx="3464719"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555555"/>
                </a:solidFill>
              </a:rPr>
              <a:t>Images annotées au format YOLO pour l'entraînement et la validation.</a:t>
            </a:r>
            <a:endParaRPr lang="en-US" sz="727" dirty="0"/>
          </a:p>
        </p:txBody>
      </p:sp>
      <p:sp>
        <p:nvSpPr>
          <p:cNvPr id="40" name="Text 29"/>
          <p:cNvSpPr/>
          <p:nvPr/>
        </p:nvSpPr>
        <p:spPr>
          <a:xfrm>
            <a:off x="5143500" y="2879238"/>
            <a:ext cx="3464719"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888888"/>
                </a:solidFill>
              </a:rPr>
              <a:t>Format: Images + Labels (.txt)</a:t>
            </a:r>
            <a:endParaRPr lang="en-US" sz="568" dirty="0"/>
          </a:p>
        </p:txBody>
      </p:sp>
      <p:sp>
        <p:nvSpPr>
          <p:cNvPr id="41" name="Shape 30"/>
          <p:cNvSpPr/>
          <p:nvPr/>
        </p:nvSpPr>
        <p:spPr>
          <a:xfrm>
            <a:off x="4714875" y="3200707"/>
            <a:ext cx="4000500" cy="688284"/>
          </a:xfrm>
          <a:prstGeom prst="rect">
            <a:avLst/>
          </a:prstGeom>
          <a:solidFill>
            <a:srgbClr val="F9F9F9"/>
          </a:solidFill>
          <a:ln/>
        </p:spPr>
        <p:txBody>
          <a:bodyPr/>
          <a:lstStyle/>
          <a:p>
            <a:endParaRPr lang="fr-CA"/>
          </a:p>
        </p:txBody>
      </p:sp>
      <p:sp>
        <p:nvSpPr>
          <p:cNvPr id="42" name="Shape 31"/>
          <p:cNvSpPr/>
          <p:nvPr/>
        </p:nvSpPr>
        <p:spPr>
          <a:xfrm>
            <a:off x="4714875" y="3200707"/>
            <a:ext cx="28575" cy="688284"/>
          </a:xfrm>
          <a:prstGeom prst="rect">
            <a:avLst/>
          </a:prstGeom>
          <a:solidFill>
            <a:srgbClr val="003366"/>
          </a:solidFill>
          <a:ln/>
        </p:spPr>
        <p:txBody>
          <a:bodyPr/>
          <a:lstStyle/>
          <a:p>
            <a:endParaRPr lang="fr-CA"/>
          </a:p>
        </p:txBody>
      </p:sp>
      <p:pic>
        <p:nvPicPr>
          <p:cNvPr id="43" name="Image 8" descr="preencoded.png"/>
          <p:cNvPicPr>
            <a:picLocks noChangeAspect="1"/>
          </p:cNvPicPr>
          <p:nvPr/>
        </p:nvPicPr>
        <p:blipFill>
          <a:blip r:embed="rId11"/>
          <a:stretch>
            <a:fillRect/>
          </a:stretch>
        </p:blipFill>
        <p:spPr>
          <a:xfrm>
            <a:off x="4822031" y="3307863"/>
            <a:ext cx="214313" cy="473971"/>
          </a:xfrm>
          <a:prstGeom prst="rect">
            <a:avLst/>
          </a:prstGeom>
        </p:spPr>
      </p:pic>
      <p:sp>
        <p:nvSpPr>
          <p:cNvPr id="44" name="Text 32"/>
          <p:cNvSpPr/>
          <p:nvPr/>
        </p:nvSpPr>
        <p:spPr>
          <a:xfrm>
            <a:off x="5143500" y="3307863"/>
            <a:ext cx="3464719"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33333"/>
                </a:solidFill>
              </a:rPr>
              <a:t>Dépôt GitHub</a:t>
            </a:r>
            <a:endParaRPr lang="en-US" sz="784" dirty="0"/>
          </a:p>
        </p:txBody>
      </p:sp>
      <p:sp>
        <p:nvSpPr>
          <p:cNvPr id="45" name="Text 33"/>
          <p:cNvSpPr/>
          <p:nvPr/>
        </p:nvSpPr>
        <p:spPr>
          <a:xfrm>
            <a:off x="5143500" y="3498959"/>
            <a:ext cx="3464719"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555555"/>
                </a:solidFill>
              </a:rPr>
              <a:t>Code source complet, documentation et instructions de déploiement.</a:t>
            </a:r>
            <a:endParaRPr lang="en-US" sz="727" dirty="0"/>
          </a:p>
        </p:txBody>
      </p:sp>
      <p:sp>
        <p:nvSpPr>
          <p:cNvPr id="46" name="Text 34"/>
          <p:cNvSpPr/>
          <p:nvPr/>
        </p:nvSpPr>
        <p:spPr>
          <a:xfrm>
            <a:off x="5143500" y="3674678"/>
            <a:ext cx="3464719"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888888"/>
                </a:solidFill>
              </a:rPr>
              <a:t>Format: Repository Git public</a:t>
            </a:r>
            <a:endParaRPr lang="en-US" sz="568" dirty="0"/>
          </a:p>
        </p:txBody>
      </p:sp>
      <p:sp>
        <p:nvSpPr>
          <p:cNvPr id="47" name="Shape 35"/>
          <p:cNvSpPr/>
          <p:nvPr/>
        </p:nvSpPr>
        <p:spPr>
          <a:xfrm>
            <a:off x="428625" y="4200134"/>
            <a:ext cx="8286750" cy="657616"/>
          </a:xfrm>
          <a:prstGeom prst="rect">
            <a:avLst/>
          </a:prstGeom>
          <a:solidFill>
            <a:srgbClr val="003366"/>
          </a:solidFill>
          <a:ln/>
        </p:spPr>
        <p:txBody>
          <a:bodyPr/>
          <a:lstStyle/>
          <a:p>
            <a:endParaRPr lang="fr-CA"/>
          </a:p>
        </p:txBody>
      </p:sp>
      <p:sp>
        <p:nvSpPr>
          <p:cNvPr id="48" name="Text 36"/>
          <p:cNvSpPr/>
          <p:nvPr/>
        </p:nvSpPr>
        <p:spPr>
          <a:xfrm>
            <a:off x="855065" y="4355706"/>
            <a:ext cx="488916" cy="145361"/>
          </a:xfrm>
          <a:prstGeom prst="rect">
            <a:avLst/>
          </a:prstGeom>
          <a:noFill/>
          <a:ln/>
        </p:spPr>
        <p:txBody>
          <a:bodyPr wrap="none" lIns="0" tIns="0" rIns="0" bIns="0" rtlCol="0" anchor="t">
            <a:spAutoFit/>
          </a:bodyPr>
          <a:lstStyle/>
          <a:p>
            <a:pPr marL="0" indent="0" algn="ctr">
              <a:lnSpc>
                <a:spcPts val="1200"/>
              </a:lnSpc>
              <a:buNone/>
            </a:pPr>
            <a:r>
              <a:rPr lang="en-US" sz="885" b="1" dirty="0" err="1">
                <a:solidFill>
                  <a:srgbClr val="2E8B57"/>
                </a:solidFill>
              </a:rPr>
              <a:t>Semaine</a:t>
            </a:r>
            <a:r>
              <a:rPr lang="en-US" sz="885" b="1" dirty="0">
                <a:solidFill>
                  <a:srgbClr val="2E8B57"/>
                </a:solidFill>
              </a:rPr>
              <a:t> 7</a:t>
            </a:r>
            <a:endParaRPr lang="en-US" sz="885" dirty="0"/>
          </a:p>
        </p:txBody>
      </p:sp>
      <p:sp>
        <p:nvSpPr>
          <p:cNvPr id="49" name="Text 37"/>
          <p:cNvSpPr/>
          <p:nvPr/>
        </p:nvSpPr>
        <p:spPr>
          <a:xfrm>
            <a:off x="714375" y="4566447"/>
            <a:ext cx="770297" cy="13573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FFFFFF"/>
                </a:solidFill>
              </a:rPr>
              <a:t>Modèle Entraîné</a:t>
            </a:r>
            <a:endParaRPr lang="en-US" sz="727" dirty="0"/>
          </a:p>
        </p:txBody>
      </p:sp>
      <p:pic>
        <p:nvPicPr>
          <p:cNvPr id="50" name="Image 9" descr="preencoded.png"/>
          <p:cNvPicPr>
            <a:picLocks noChangeAspect="1"/>
          </p:cNvPicPr>
          <p:nvPr/>
        </p:nvPicPr>
        <p:blipFill>
          <a:blip r:embed="rId12"/>
          <a:stretch>
            <a:fillRect/>
          </a:stretch>
        </p:blipFill>
        <p:spPr>
          <a:xfrm>
            <a:off x="2689566" y="4443217"/>
            <a:ext cx="150019" cy="171450"/>
          </a:xfrm>
          <a:prstGeom prst="rect">
            <a:avLst/>
          </a:prstGeom>
        </p:spPr>
      </p:pic>
      <p:sp>
        <p:nvSpPr>
          <p:cNvPr id="51" name="Text 38"/>
          <p:cNvSpPr/>
          <p:nvPr/>
        </p:nvSpPr>
        <p:spPr>
          <a:xfrm>
            <a:off x="4347145" y="4355706"/>
            <a:ext cx="488916" cy="145361"/>
          </a:xfrm>
          <a:prstGeom prst="rect">
            <a:avLst/>
          </a:prstGeom>
          <a:noFill/>
          <a:ln/>
        </p:spPr>
        <p:txBody>
          <a:bodyPr wrap="none" lIns="0" tIns="0" rIns="0" bIns="0" rtlCol="0" anchor="t">
            <a:spAutoFit/>
          </a:bodyPr>
          <a:lstStyle/>
          <a:p>
            <a:pPr marL="0" indent="0" algn="ctr">
              <a:lnSpc>
                <a:spcPts val="1200"/>
              </a:lnSpc>
              <a:buNone/>
            </a:pPr>
            <a:r>
              <a:rPr lang="en-US" sz="885" b="1" dirty="0" err="1">
                <a:solidFill>
                  <a:srgbClr val="2E8B57"/>
                </a:solidFill>
              </a:rPr>
              <a:t>Semaine</a:t>
            </a:r>
            <a:r>
              <a:rPr lang="en-US" sz="885" b="1" dirty="0">
                <a:solidFill>
                  <a:srgbClr val="2E8B57"/>
                </a:solidFill>
              </a:rPr>
              <a:t> 9</a:t>
            </a:r>
            <a:endParaRPr lang="en-US" sz="885" dirty="0"/>
          </a:p>
        </p:txBody>
      </p:sp>
      <p:sp>
        <p:nvSpPr>
          <p:cNvPr id="52" name="Text 39"/>
          <p:cNvSpPr/>
          <p:nvPr/>
        </p:nvSpPr>
        <p:spPr>
          <a:xfrm>
            <a:off x="4044479" y="4566447"/>
            <a:ext cx="1094249" cy="13573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FFFFFF"/>
                </a:solidFill>
              </a:rPr>
              <a:t>Dashboard Fonctionnel</a:t>
            </a:r>
            <a:endParaRPr lang="en-US" sz="727" dirty="0"/>
          </a:p>
        </p:txBody>
      </p:sp>
      <p:pic>
        <p:nvPicPr>
          <p:cNvPr id="53" name="Image 10" descr="preencoded.png"/>
          <p:cNvPicPr>
            <a:picLocks noChangeAspect="1"/>
          </p:cNvPicPr>
          <p:nvPr/>
        </p:nvPicPr>
        <p:blipFill>
          <a:blip r:embed="rId13"/>
          <a:stretch>
            <a:fillRect/>
          </a:stretch>
        </p:blipFill>
        <p:spPr>
          <a:xfrm>
            <a:off x="6343622" y="4443217"/>
            <a:ext cx="150019" cy="171450"/>
          </a:xfrm>
          <a:prstGeom prst="rect">
            <a:avLst/>
          </a:prstGeom>
        </p:spPr>
      </p:pic>
      <p:sp>
        <p:nvSpPr>
          <p:cNvPr id="54" name="Text 40"/>
          <p:cNvSpPr/>
          <p:nvPr/>
        </p:nvSpPr>
        <p:spPr>
          <a:xfrm>
            <a:off x="7790740" y="4355706"/>
            <a:ext cx="546625" cy="145361"/>
          </a:xfrm>
          <a:prstGeom prst="rect">
            <a:avLst/>
          </a:prstGeom>
          <a:noFill/>
          <a:ln/>
        </p:spPr>
        <p:txBody>
          <a:bodyPr wrap="none" lIns="0" tIns="0" rIns="0" bIns="0" rtlCol="0" anchor="t">
            <a:spAutoFit/>
          </a:bodyPr>
          <a:lstStyle/>
          <a:p>
            <a:pPr marL="0" indent="0" algn="ctr">
              <a:lnSpc>
                <a:spcPts val="1200"/>
              </a:lnSpc>
              <a:buNone/>
            </a:pPr>
            <a:r>
              <a:rPr lang="en-US" sz="885" b="1" dirty="0" err="1">
                <a:solidFill>
                  <a:srgbClr val="2E8B57"/>
                </a:solidFill>
              </a:rPr>
              <a:t>Semaine</a:t>
            </a:r>
            <a:r>
              <a:rPr lang="en-US" sz="885" b="1" dirty="0">
                <a:solidFill>
                  <a:srgbClr val="2E8B57"/>
                </a:solidFill>
              </a:rPr>
              <a:t> 14</a:t>
            </a:r>
            <a:endParaRPr lang="en-US" sz="885" dirty="0"/>
          </a:p>
        </p:txBody>
      </p:sp>
      <p:sp>
        <p:nvSpPr>
          <p:cNvPr id="55" name="Text 41"/>
          <p:cNvSpPr/>
          <p:nvPr/>
        </p:nvSpPr>
        <p:spPr>
          <a:xfrm>
            <a:off x="7698535" y="4566447"/>
            <a:ext cx="731034" cy="13573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FFFFFF"/>
                </a:solidFill>
              </a:rPr>
              <a:t>Rapport Final</a:t>
            </a:r>
            <a:endParaRPr lang="en-US" sz="72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63145"/>
          </a:xfrm>
          <a:prstGeom prst="rect">
            <a:avLst/>
          </a:prstGeom>
        </p:spPr>
      </p:pic>
      <p:sp>
        <p:nvSpPr>
          <p:cNvPr id="4" name="Shape 0"/>
          <p:cNvSpPr/>
          <p:nvPr/>
        </p:nvSpPr>
        <p:spPr>
          <a:xfrm>
            <a:off x="0" y="0"/>
            <a:ext cx="9144000" cy="741164"/>
          </a:xfrm>
          <a:prstGeom prst="rect">
            <a:avLst/>
          </a:prstGeom>
          <a:solidFill>
            <a:srgbClr val="003366"/>
          </a:solidFill>
          <a:ln/>
        </p:spPr>
        <p:txBody>
          <a:bodyPr/>
          <a:lstStyle/>
          <a:p>
            <a:endParaRPr lang="fr-CA"/>
          </a:p>
        </p:txBody>
      </p:sp>
      <p:sp>
        <p:nvSpPr>
          <p:cNvPr id="5" name="Text 1"/>
          <p:cNvSpPr/>
          <p:nvPr/>
        </p:nvSpPr>
        <p:spPr>
          <a:xfrm>
            <a:off x="428625" y="214313"/>
            <a:ext cx="2428652"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Risques et Mitigation</a:t>
            </a:r>
            <a:endParaRPr lang="en-US" sz="1602" dirty="0"/>
          </a:p>
        </p:txBody>
      </p:sp>
      <p:sp>
        <p:nvSpPr>
          <p:cNvPr id="6" name="Text 2"/>
          <p:cNvSpPr/>
          <p:nvPr/>
        </p:nvSpPr>
        <p:spPr>
          <a:xfrm>
            <a:off x="8351881" y="292894"/>
            <a:ext cx="363494"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2E8B57"/>
                </a:solidFill>
              </a:rPr>
              <a:t>09 / 10</a:t>
            </a:r>
            <a:endParaRPr lang="en-US" sz="834" dirty="0"/>
          </a:p>
        </p:txBody>
      </p:sp>
      <p:sp>
        <p:nvSpPr>
          <p:cNvPr id="7" name="Text 3"/>
          <p:cNvSpPr/>
          <p:nvPr/>
        </p:nvSpPr>
        <p:spPr>
          <a:xfrm>
            <a:off x="428625" y="955477"/>
            <a:ext cx="6429375" cy="350044"/>
          </a:xfrm>
          <a:prstGeom prst="rect">
            <a:avLst/>
          </a:prstGeom>
          <a:noFill/>
          <a:ln/>
        </p:spPr>
        <p:txBody>
          <a:bodyPr wrap="square" lIns="170053" tIns="0" rIns="0" bIns="0" rtlCol="0" anchor="t">
            <a:spAutoFit/>
          </a:bodyPr>
          <a:lstStyle/>
          <a:p>
            <a:pPr marL="0" indent="0" algn="l">
              <a:lnSpc>
                <a:spcPts val="1200"/>
              </a:lnSpc>
              <a:buNone/>
            </a:pPr>
            <a:r>
              <a:rPr lang="en-US" sz="942" dirty="0">
                <a:solidFill>
                  <a:srgbClr val="555555"/>
                </a:solidFill>
              </a:rPr>
              <a:t>Identification proactive des obstacles potentiels et des solutions de contournement pour garantir la réussite du projet.</a:t>
            </a:r>
            <a:endParaRPr lang="en-US" sz="942" dirty="0"/>
          </a:p>
        </p:txBody>
      </p:sp>
      <p:sp>
        <p:nvSpPr>
          <p:cNvPr id="8" name="Shape 4"/>
          <p:cNvSpPr/>
          <p:nvPr/>
        </p:nvSpPr>
        <p:spPr>
          <a:xfrm>
            <a:off x="435769" y="1455539"/>
            <a:ext cx="8272463" cy="312539"/>
          </a:xfrm>
          <a:prstGeom prst="rect">
            <a:avLst/>
          </a:prstGeom>
          <a:solidFill>
            <a:srgbClr val="F0F0F0"/>
          </a:solidFill>
          <a:ln/>
        </p:spPr>
        <p:txBody>
          <a:bodyPr/>
          <a:lstStyle/>
          <a:p>
            <a:endParaRPr lang="fr-CA"/>
          </a:p>
        </p:txBody>
      </p:sp>
      <p:sp>
        <p:nvSpPr>
          <p:cNvPr id="9" name="Shape 5"/>
          <p:cNvSpPr/>
          <p:nvPr/>
        </p:nvSpPr>
        <p:spPr>
          <a:xfrm>
            <a:off x="435769" y="1753791"/>
            <a:ext cx="8272463" cy="14288"/>
          </a:xfrm>
          <a:prstGeom prst="rect">
            <a:avLst/>
          </a:prstGeom>
          <a:solidFill>
            <a:srgbClr val="003366"/>
          </a:solidFill>
          <a:ln/>
        </p:spPr>
        <p:txBody>
          <a:bodyPr/>
          <a:lstStyle/>
          <a:p>
            <a:endParaRPr lang="fr-CA"/>
          </a:p>
        </p:txBody>
      </p:sp>
      <p:sp>
        <p:nvSpPr>
          <p:cNvPr id="10" name="Text 6"/>
          <p:cNvSpPr/>
          <p:nvPr/>
        </p:nvSpPr>
        <p:spPr>
          <a:xfrm>
            <a:off x="521494" y="1526977"/>
            <a:ext cx="3240388"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3366"/>
                </a:solidFill>
              </a:rPr>
              <a:t>Risque Identifié</a:t>
            </a:r>
            <a:endParaRPr lang="en-US" sz="784" dirty="0"/>
          </a:p>
        </p:txBody>
      </p:sp>
      <p:sp>
        <p:nvSpPr>
          <p:cNvPr id="11" name="Text 7"/>
          <p:cNvSpPr/>
          <p:nvPr/>
        </p:nvSpPr>
        <p:spPr>
          <a:xfrm>
            <a:off x="3761882" y="1526977"/>
            <a:ext cx="1620208"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3366"/>
                </a:solidFill>
              </a:rPr>
              <a:t>Impact</a:t>
            </a:r>
            <a:endParaRPr lang="en-US" sz="784" dirty="0"/>
          </a:p>
        </p:txBody>
      </p:sp>
      <p:sp>
        <p:nvSpPr>
          <p:cNvPr id="12" name="Text 8"/>
          <p:cNvSpPr/>
          <p:nvPr/>
        </p:nvSpPr>
        <p:spPr>
          <a:xfrm>
            <a:off x="5382090" y="1526977"/>
            <a:ext cx="3240416"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3366"/>
                </a:solidFill>
              </a:rPr>
              <a:t>Stratégie de Mitigation</a:t>
            </a:r>
            <a:endParaRPr lang="en-US" sz="784" dirty="0"/>
          </a:p>
        </p:txBody>
      </p:sp>
      <p:sp>
        <p:nvSpPr>
          <p:cNvPr id="13" name="Shape 9"/>
          <p:cNvSpPr/>
          <p:nvPr/>
        </p:nvSpPr>
        <p:spPr>
          <a:xfrm>
            <a:off x="435769" y="1753791"/>
            <a:ext cx="8272463" cy="723305"/>
          </a:xfrm>
          <a:prstGeom prst="rect">
            <a:avLst/>
          </a:prstGeom>
          <a:solidFill>
            <a:srgbClr val="FFFFFF"/>
          </a:solidFill>
          <a:ln/>
        </p:spPr>
        <p:txBody>
          <a:bodyPr/>
          <a:lstStyle/>
          <a:p>
            <a:endParaRPr lang="fr-CA"/>
          </a:p>
        </p:txBody>
      </p:sp>
      <p:sp>
        <p:nvSpPr>
          <p:cNvPr id="14" name="Shape 10"/>
          <p:cNvSpPr/>
          <p:nvPr/>
        </p:nvSpPr>
        <p:spPr>
          <a:xfrm>
            <a:off x="435769" y="2469952"/>
            <a:ext cx="8272463" cy="7144"/>
          </a:xfrm>
          <a:prstGeom prst="rect">
            <a:avLst/>
          </a:prstGeom>
          <a:solidFill>
            <a:srgbClr val="EEEEEE"/>
          </a:solidFill>
          <a:ln/>
        </p:spPr>
        <p:txBody>
          <a:bodyPr/>
          <a:lstStyle/>
          <a:p>
            <a:endParaRPr lang="fr-CA"/>
          </a:p>
        </p:txBody>
      </p:sp>
      <p:pic>
        <p:nvPicPr>
          <p:cNvPr id="15" name="Image 1" descr="preencoded.png"/>
          <p:cNvPicPr>
            <a:picLocks noChangeAspect="1"/>
          </p:cNvPicPr>
          <p:nvPr/>
        </p:nvPicPr>
        <p:blipFill>
          <a:blip r:embed="rId4"/>
          <a:stretch>
            <a:fillRect/>
          </a:stretch>
        </p:blipFill>
        <p:spPr>
          <a:xfrm>
            <a:off x="521494" y="2054721"/>
            <a:ext cx="171450" cy="114300"/>
          </a:xfrm>
          <a:prstGeom prst="rect">
            <a:avLst/>
          </a:prstGeom>
        </p:spPr>
      </p:pic>
      <p:sp>
        <p:nvSpPr>
          <p:cNvPr id="16" name="Text 11"/>
          <p:cNvSpPr/>
          <p:nvPr/>
        </p:nvSpPr>
        <p:spPr>
          <a:xfrm>
            <a:off x="764381" y="2034183"/>
            <a:ext cx="2259378"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33333"/>
                </a:solidFill>
              </a:rPr>
              <a:t>Accès difficile aux données réelles (Ferme)</a:t>
            </a:r>
            <a:endParaRPr lang="en-US" sz="834" dirty="0"/>
          </a:p>
        </p:txBody>
      </p:sp>
      <p:sp>
        <p:nvSpPr>
          <p:cNvPr id="17" name="Shape 12"/>
          <p:cNvSpPr/>
          <p:nvPr/>
        </p:nvSpPr>
        <p:spPr>
          <a:xfrm>
            <a:off x="3761882" y="2027039"/>
            <a:ext cx="714375" cy="173236"/>
          </a:xfrm>
          <a:prstGeom prst="rect">
            <a:avLst/>
          </a:prstGeom>
          <a:solidFill>
            <a:srgbClr val="CC0000"/>
          </a:solidFill>
          <a:ln/>
        </p:spPr>
        <p:txBody>
          <a:bodyPr/>
          <a:lstStyle/>
          <a:p>
            <a:endParaRPr lang="fr-CA"/>
          </a:p>
        </p:txBody>
      </p:sp>
      <p:sp>
        <p:nvSpPr>
          <p:cNvPr id="18" name="Text 13"/>
          <p:cNvSpPr/>
          <p:nvPr/>
        </p:nvSpPr>
        <p:spPr>
          <a:xfrm>
            <a:off x="3761882" y="2027039"/>
            <a:ext cx="714375" cy="173236"/>
          </a:xfrm>
          <a:prstGeom prst="rect">
            <a:avLst/>
          </a:prstGeom>
          <a:noFill/>
          <a:ln/>
        </p:spPr>
        <p:txBody>
          <a:bodyPr wrap="square" lIns="68072" tIns="34036" rIns="68072" bIns="34036" rtlCol="0" anchor="t">
            <a:spAutoFit/>
          </a:bodyPr>
          <a:lstStyle/>
          <a:p>
            <a:pPr marL="0" indent="0" algn="ctr">
              <a:lnSpc>
                <a:spcPts val="800"/>
              </a:lnSpc>
              <a:buNone/>
            </a:pPr>
            <a:r>
              <a:rPr lang="en-US" sz="584" b="1" dirty="0">
                <a:solidFill>
                  <a:srgbClr val="FFFFFF"/>
                </a:solidFill>
              </a:rPr>
              <a:t>CRITIQUE</a:t>
            </a:r>
            <a:endParaRPr lang="en-US" sz="584" dirty="0"/>
          </a:p>
        </p:txBody>
      </p:sp>
      <p:sp>
        <p:nvSpPr>
          <p:cNvPr id="19" name="Shape 14"/>
          <p:cNvSpPr/>
          <p:nvPr/>
        </p:nvSpPr>
        <p:spPr>
          <a:xfrm>
            <a:off x="5382090" y="1839516"/>
            <a:ext cx="3240416" cy="544711"/>
          </a:xfrm>
          <a:prstGeom prst="rect">
            <a:avLst/>
          </a:prstGeom>
          <a:solidFill>
            <a:srgbClr val="F9F9F9"/>
          </a:solidFill>
          <a:ln/>
        </p:spPr>
        <p:txBody>
          <a:bodyPr/>
          <a:lstStyle/>
          <a:p>
            <a:endParaRPr lang="fr-CA"/>
          </a:p>
        </p:txBody>
      </p:sp>
      <p:sp>
        <p:nvSpPr>
          <p:cNvPr id="20" name="Shape 15"/>
          <p:cNvSpPr/>
          <p:nvPr/>
        </p:nvSpPr>
        <p:spPr>
          <a:xfrm>
            <a:off x="5382090" y="1839516"/>
            <a:ext cx="21431" cy="544711"/>
          </a:xfrm>
          <a:prstGeom prst="rect">
            <a:avLst/>
          </a:prstGeom>
          <a:solidFill>
            <a:srgbClr val="2E8B57"/>
          </a:solidFill>
          <a:ln/>
        </p:spPr>
        <p:txBody>
          <a:bodyPr/>
          <a:lstStyle/>
          <a:p>
            <a:endParaRPr lang="fr-CA"/>
          </a:p>
        </p:txBody>
      </p:sp>
      <p:sp>
        <p:nvSpPr>
          <p:cNvPr id="21" name="Text 16"/>
          <p:cNvSpPr/>
          <p:nvPr/>
        </p:nvSpPr>
        <p:spPr>
          <a:xfrm>
            <a:off x="5439240" y="1896666"/>
            <a:ext cx="3126116"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2E8B57"/>
                </a:solidFill>
              </a:rPr>
              <a:t>Solution</a:t>
            </a:r>
            <a:endParaRPr lang="en-US" sz="584" dirty="0"/>
          </a:p>
        </p:txBody>
      </p:sp>
      <p:sp>
        <p:nvSpPr>
          <p:cNvPr id="22" name="Text 17"/>
          <p:cNvSpPr/>
          <p:nvPr/>
        </p:nvSpPr>
        <p:spPr>
          <a:xfrm>
            <a:off x="5439240" y="2034183"/>
            <a:ext cx="3017537" cy="146447"/>
          </a:xfrm>
          <a:prstGeom prst="rect">
            <a:avLst/>
          </a:prstGeom>
          <a:noFill/>
          <a:ln/>
        </p:spPr>
        <p:txBody>
          <a:bodyPr wrap="none" lIns="0" tIns="0" rIns="0" bIns="0" rtlCol="0" anchor="t">
            <a:spAutoFit/>
          </a:bodyPr>
          <a:lstStyle/>
          <a:p>
            <a:pPr marL="0" indent="0" algn="l">
              <a:lnSpc>
                <a:spcPts val="1000"/>
              </a:lnSpc>
              <a:buNone/>
            </a:pPr>
            <a:r>
              <a:rPr lang="en-US" sz="780" dirty="0">
                <a:solidFill>
                  <a:srgbClr val="444444"/>
                </a:solidFill>
              </a:rPr>
              <a:t>Utilisation de datasets publics (Roboflow Universe) et vidéos</a:t>
            </a:r>
            <a:endParaRPr lang="en-US" sz="780" dirty="0"/>
          </a:p>
        </p:txBody>
      </p:sp>
      <p:sp>
        <p:nvSpPr>
          <p:cNvPr id="23" name="Text 18"/>
          <p:cNvSpPr/>
          <p:nvPr/>
        </p:nvSpPr>
        <p:spPr>
          <a:xfrm>
            <a:off x="5439240" y="2180630"/>
            <a:ext cx="1794979" cy="146447"/>
          </a:xfrm>
          <a:prstGeom prst="rect">
            <a:avLst/>
          </a:prstGeom>
          <a:noFill/>
          <a:ln/>
        </p:spPr>
        <p:txBody>
          <a:bodyPr wrap="none" lIns="0" tIns="0" rIns="0" bIns="0" rtlCol="0" anchor="t">
            <a:spAutoFit/>
          </a:bodyPr>
          <a:lstStyle/>
          <a:p>
            <a:pPr marL="0" indent="0" algn="l">
              <a:lnSpc>
                <a:spcPts val="1000"/>
              </a:lnSpc>
              <a:buNone/>
            </a:pPr>
            <a:r>
              <a:rPr lang="en-US" sz="780" dirty="0">
                <a:solidFill>
                  <a:srgbClr val="444444"/>
                </a:solidFill>
              </a:rPr>
              <a:t>YouTube pour l'entraînement initial.</a:t>
            </a:r>
            <a:endParaRPr lang="en-US" sz="780" dirty="0"/>
          </a:p>
        </p:txBody>
      </p:sp>
      <p:sp>
        <p:nvSpPr>
          <p:cNvPr id="24" name="Shape 19"/>
          <p:cNvSpPr/>
          <p:nvPr/>
        </p:nvSpPr>
        <p:spPr>
          <a:xfrm>
            <a:off x="435769" y="2469952"/>
            <a:ext cx="8272463" cy="732234"/>
          </a:xfrm>
          <a:prstGeom prst="rect">
            <a:avLst/>
          </a:prstGeom>
          <a:solidFill>
            <a:srgbClr val="FFFFFF"/>
          </a:solidFill>
          <a:ln/>
        </p:spPr>
        <p:txBody>
          <a:bodyPr/>
          <a:lstStyle/>
          <a:p>
            <a:endParaRPr lang="fr-CA"/>
          </a:p>
        </p:txBody>
      </p:sp>
      <p:sp>
        <p:nvSpPr>
          <p:cNvPr id="25" name="Shape 20"/>
          <p:cNvSpPr/>
          <p:nvPr/>
        </p:nvSpPr>
        <p:spPr>
          <a:xfrm>
            <a:off x="435769" y="3195042"/>
            <a:ext cx="8272463" cy="7144"/>
          </a:xfrm>
          <a:prstGeom prst="rect">
            <a:avLst/>
          </a:prstGeom>
          <a:solidFill>
            <a:srgbClr val="EEEEEE"/>
          </a:solidFill>
          <a:ln/>
        </p:spPr>
        <p:txBody>
          <a:bodyPr/>
          <a:lstStyle/>
          <a:p>
            <a:endParaRPr lang="fr-CA"/>
          </a:p>
        </p:txBody>
      </p:sp>
      <p:pic>
        <p:nvPicPr>
          <p:cNvPr id="26" name="Image 2" descr="preencoded.png"/>
          <p:cNvPicPr>
            <a:picLocks noChangeAspect="1"/>
          </p:cNvPicPr>
          <p:nvPr/>
        </p:nvPicPr>
        <p:blipFill>
          <a:blip r:embed="rId5"/>
          <a:stretch>
            <a:fillRect/>
          </a:stretch>
        </p:blipFill>
        <p:spPr>
          <a:xfrm>
            <a:off x="521494" y="2775347"/>
            <a:ext cx="171450" cy="114300"/>
          </a:xfrm>
          <a:prstGeom prst="rect">
            <a:avLst/>
          </a:prstGeom>
        </p:spPr>
      </p:pic>
      <p:sp>
        <p:nvSpPr>
          <p:cNvPr id="27" name="Text 21"/>
          <p:cNvSpPr/>
          <p:nvPr/>
        </p:nvSpPr>
        <p:spPr>
          <a:xfrm>
            <a:off x="764381" y="2754809"/>
            <a:ext cx="2130093"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33333"/>
                </a:solidFill>
              </a:rPr>
              <a:t>Performance GPU insuffisante (FPS bas)</a:t>
            </a:r>
            <a:endParaRPr lang="en-US" sz="834" dirty="0"/>
          </a:p>
        </p:txBody>
      </p:sp>
      <p:sp>
        <p:nvSpPr>
          <p:cNvPr id="28" name="Shape 22"/>
          <p:cNvSpPr/>
          <p:nvPr/>
        </p:nvSpPr>
        <p:spPr>
          <a:xfrm>
            <a:off x="3761882" y="2747665"/>
            <a:ext cx="714375" cy="173236"/>
          </a:xfrm>
          <a:prstGeom prst="rect">
            <a:avLst/>
          </a:prstGeom>
          <a:solidFill>
            <a:srgbClr val="FF8C00"/>
          </a:solidFill>
          <a:ln/>
        </p:spPr>
        <p:txBody>
          <a:bodyPr/>
          <a:lstStyle/>
          <a:p>
            <a:endParaRPr lang="fr-CA"/>
          </a:p>
        </p:txBody>
      </p:sp>
      <p:sp>
        <p:nvSpPr>
          <p:cNvPr id="29" name="Text 23"/>
          <p:cNvSpPr/>
          <p:nvPr/>
        </p:nvSpPr>
        <p:spPr>
          <a:xfrm>
            <a:off x="3761882" y="2747665"/>
            <a:ext cx="714375" cy="173236"/>
          </a:xfrm>
          <a:prstGeom prst="rect">
            <a:avLst/>
          </a:prstGeom>
          <a:noFill/>
          <a:ln/>
        </p:spPr>
        <p:txBody>
          <a:bodyPr wrap="square" lIns="68072" tIns="34036" rIns="68072" bIns="34036" rtlCol="0" anchor="t">
            <a:spAutoFit/>
          </a:bodyPr>
          <a:lstStyle/>
          <a:p>
            <a:pPr marL="0" indent="0" algn="ctr">
              <a:lnSpc>
                <a:spcPts val="800"/>
              </a:lnSpc>
              <a:buNone/>
            </a:pPr>
            <a:r>
              <a:rPr lang="en-US" sz="584" b="1" dirty="0">
                <a:solidFill>
                  <a:srgbClr val="FFFFFF"/>
                </a:solidFill>
              </a:rPr>
              <a:t>MOYEN</a:t>
            </a:r>
            <a:endParaRPr lang="en-US" sz="584" dirty="0"/>
          </a:p>
        </p:txBody>
      </p:sp>
      <p:sp>
        <p:nvSpPr>
          <p:cNvPr id="30" name="Shape 24"/>
          <p:cNvSpPr/>
          <p:nvPr/>
        </p:nvSpPr>
        <p:spPr>
          <a:xfrm>
            <a:off x="5382090" y="2555677"/>
            <a:ext cx="3240416" cy="553641"/>
          </a:xfrm>
          <a:prstGeom prst="rect">
            <a:avLst/>
          </a:prstGeom>
          <a:solidFill>
            <a:srgbClr val="F9F9F9"/>
          </a:solidFill>
          <a:ln/>
        </p:spPr>
        <p:txBody>
          <a:bodyPr/>
          <a:lstStyle/>
          <a:p>
            <a:endParaRPr lang="fr-CA"/>
          </a:p>
        </p:txBody>
      </p:sp>
      <p:sp>
        <p:nvSpPr>
          <p:cNvPr id="31" name="Shape 25"/>
          <p:cNvSpPr/>
          <p:nvPr/>
        </p:nvSpPr>
        <p:spPr>
          <a:xfrm>
            <a:off x="5382090" y="2555677"/>
            <a:ext cx="21431" cy="553641"/>
          </a:xfrm>
          <a:prstGeom prst="rect">
            <a:avLst/>
          </a:prstGeom>
          <a:solidFill>
            <a:srgbClr val="2E8B57"/>
          </a:solidFill>
          <a:ln/>
        </p:spPr>
        <p:txBody>
          <a:bodyPr/>
          <a:lstStyle/>
          <a:p>
            <a:endParaRPr lang="fr-CA"/>
          </a:p>
        </p:txBody>
      </p:sp>
      <p:sp>
        <p:nvSpPr>
          <p:cNvPr id="32" name="Text 26"/>
          <p:cNvSpPr/>
          <p:nvPr/>
        </p:nvSpPr>
        <p:spPr>
          <a:xfrm>
            <a:off x="5439240" y="2612827"/>
            <a:ext cx="3126116"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2E8B57"/>
                </a:solidFill>
              </a:rPr>
              <a:t>Solution</a:t>
            </a:r>
            <a:endParaRPr lang="en-US" sz="584" dirty="0"/>
          </a:p>
        </p:txBody>
      </p:sp>
      <p:sp>
        <p:nvSpPr>
          <p:cNvPr id="33" name="Text 27"/>
          <p:cNvSpPr/>
          <p:nvPr/>
        </p:nvSpPr>
        <p:spPr>
          <a:xfrm>
            <a:off x="5439240" y="2750344"/>
            <a:ext cx="2665735" cy="146447"/>
          </a:xfrm>
          <a:prstGeom prst="rect">
            <a:avLst/>
          </a:prstGeom>
          <a:noFill/>
          <a:ln/>
        </p:spPr>
        <p:txBody>
          <a:bodyPr wrap="none" lIns="0" tIns="0" rIns="0" bIns="0" rtlCol="0" anchor="t">
            <a:spAutoFit/>
          </a:bodyPr>
          <a:lstStyle/>
          <a:p>
            <a:pPr marL="0" indent="0" algn="l">
              <a:lnSpc>
                <a:spcPts val="1000"/>
              </a:lnSpc>
              <a:buNone/>
            </a:pPr>
            <a:r>
              <a:rPr lang="en-US" sz="780" dirty="0">
                <a:solidFill>
                  <a:srgbClr val="444444"/>
                </a:solidFill>
              </a:rPr>
              <a:t>Basculer sur le modèle YOLOv8n (Nano) ou réduire la</a:t>
            </a:r>
            <a:endParaRPr lang="en-US" sz="780" dirty="0"/>
          </a:p>
        </p:txBody>
      </p:sp>
      <p:sp>
        <p:nvSpPr>
          <p:cNvPr id="34" name="Text 28"/>
          <p:cNvSpPr/>
          <p:nvPr/>
        </p:nvSpPr>
        <p:spPr>
          <a:xfrm>
            <a:off x="5439240" y="2905720"/>
            <a:ext cx="2082375" cy="146447"/>
          </a:xfrm>
          <a:prstGeom prst="rect">
            <a:avLst/>
          </a:prstGeom>
          <a:noFill/>
          <a:ln/>
        </p:spPr>
        <p:txBody>
          <a:bodyPr wrap="none" lIns="0" tIns="0" rIns="0" bIns="0" rtlCol="0" anchor="t">
            <a:spAutoFit/>
          </a:bodyPr>
          <a:lstStyle/>
          <a:p>
            <a:pPr marL="0" indent="0" algn="l">
              <a:lnSpc>
                <a:spcPts val="1000"/>
              </a:lnSpc>
              <a:buNone/>
            </a:pPr>
            <a:r>
              <a:rPr lang="en-US" sz="780" dirty="0">
                <a:solidFill>
                  <a:srgbClr val="444444"/>
                </a:solidFill>
              </a:rPr>
              <a:t>résolution d'entrée (640x640 → 320x320).</a:t>
            </a:r>
            <a:endParaRPr lang="en-US" sz="780" dirty="0"/>
          </a:p>
        </p:txBody>
      </p:sp>
      <p:sp>
        <p:nvSpPr>
          <p:cNvPr id="35" name="Shape 29"/>
          <p:cNvSpPr/>
          <p:nvPr/>
        </p:nvSpPr>
        <p:spPr>
          <a:xfrm>
            <a:off x="435769" y="3195042"/>
            <a:ext cx="8272463" cy="723305"/>
          </a:xfrm>
          <a:prstGeom prst="rect">
            <a:avLst/>
          </a:prstGeom>
          <a:solidFill>
            <a:srgbClr val="FFFFFF"/>
          </a:solidFill>
          <a:ln/>
        </p:spPr>
        <p:txBody>
          <a:bodyPr/>
          <a:lstStyle/>
          <a:p>
            <a:endParaRPr lang="fr-CA"/>
          </a:p>
        </p:txBody>
      </p:sp>
      <p:sp>
        <p:nvSpPr>
          <p:cNvPr id="36" name="Shape 30"/>
          <p:cNvSpPr/>
          <p:nvPr/>
        </p:nvSpPr>
        <p:spPr>
          <a:xfrm>
            <a:off x="435769" y="3911203"/>
            <a:ext cx="8272463" cy="7144"/>
          </a:xfrm>
          <a:prstGeom prst="rect">
            <a:avLst/>
          </a:prstGeom>
          <a:solidFill>
            <a:srgbClr val="EEEEEE"/>
          </a:solidFill>
          <a:ln/>
        </p:spPr>
        <p:txBody>
          <a:bodyPr/>
          <a:lstStyle/>
          <a:p>
            <a:endParaRPr lang="fr-CA"/>
          </a:p>
        </p:txBody>
      </p:sp>
      <p:pic>
        <p:nvPicPr>
          <p:cNvPr id="37" name="Image 3" descr="preencoded.png"/>
          <p:cNvPicPr>
            <a:picLocks noChangeAspect="1"/>
          </p:cNvPicPr>
          <p:nvPr/>
        </p:nvPicPr>
        <p:blipFill>
          <a:blip r:embed="rId6"/>
          <a:stretch>
            <a:fillRect/>
          </a:stretch>
        </p:blipFill>
        <p:spPr>
          <a:xfrm>
            <a:off x="521494" y="3495973"/>
            <a:ext cx="171450" cy="114300"/>
          </a:xfrm>
          <a:prstGeom prst="rect">
            <a:avLst/>
          </a:prstGeom>
        </p:spPr>
      </p:pic>
      <p:sp>
        <p:nvSpPr>
          <p:cNvPr id="38" name="Text 31"/>
          <p:cNvSpPr/>
          <p:nvPr/>
        </p:nvSpPr>
        <p:spPr>
          <a:xfrm>
            <a:off x="764381" y="3475434"/>
            <a:ext cx="1933501"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33333"/>
                </a:solidFill>
              </a:rPr>
              <a:t>Manque de temps pour l'annotation</a:t>
            </a:r>
            <a:endParaRPr lang="en-US" sz="834" dirty="0"/>
          </a:p>
        </p:txBody>
      </p:sp>
      <p:sp>
        <p:nvSpPr>
          <p:cNvPr id="39" name="Shape 32"/>
          <p:cNvSpPr/>
          <p:nvPr/>
        </p:nvSpPr>
        <p:spPr>
          <a:xfrm>
            <a:off x="3761882" y="3468291"/>
            <a:ext cx="714375" cy="173236"/>
          </a:xfrm>
          <a:prstGeom prst="rect">
            <a:avLst/>
          </a:prstGeom>
          <a:solidFill>
            <a:srgbClr val="FF8C00"/>
          </a:solidFill>
          <a:ln/>
        </p:spPr>
        <p:txBody>
          <a:bodyPr/>
          <a:lstStyle/>
          <a:p>
            <a:endParaRPr lang="fr-CA"/>
          </a:p>
        </p:txBody>
      </p:sp>
      <p:sp>
        <p:nvSpPr>
          <p:cNvPr id="40" name="Text 33"/>
          <p:cNvSpPr/>
          <p:nvPr/>
        </p:nvSpPr>
        <p:spPr>
          <a:xfrm>
            <a:off x="3761882" y="3468291"/>
            <a:ext cx="714375" cy="173236"/>
          </a:xfrm>
          <a:prstGeom prst="rect">
            <a:avLst/>
          </a:prstGeom>
          <a:noFill/>
          <a:ln/>
        </p:spPr>
        <p:txBody>
          <a:bodyPr wrap="square" lIns="68072" tIns="34036" rIns="68072" bIns="34036" rtlCol="0" anchor="t">
            <a:spAutoFit/>
          </a:bodyPr>
          <a:lstStyle/>
          <a:p>
            <a:pPr marL="0" indent="0" algn="ctr">
              <a:lnSpc>
                <a:spcPts val="800"/>
              </a:lnSpc>
              <a:buNone/>
            </a:pPr>
            <a:r>
              <a:rPr lang="en-US" sz="584" b="1" dirty="0">
                <a:solidFill>
                  <a:srgbClr val="FFFFFF"/>
                </a:solidFill>
              </a:rPr>
              <a:t>MOYEN</a:t>
            </a:r>
            <a:endParaRPr lang="en-US" sz="584" dirty="0"/>
          </a:p>
        </p:txBody>
      </p:sp>
      <p:sp>
        <p:nvSpPr>
          <p:cNvPr id="41" name="Shape 34"/>
          <p:cNvSpPr/>
          <p:nvPr/>
        </p:nvSpPr>
        <p:spPr>
          <a:xfrm>
            <a:off x="5382090" y="3280767"/>
            <a:ext cx="3240416" cy="544711"/>
          </a:xfrm>
          <a:prstGeom prst="rect">
            <a:avLst/>
          </a:prstGeom>
          <a:solidFill>
            <a:srgbClr val="F9F9F9"/>
          </a:solidFill>
          <a:ln/>
        </p:spPr>
        <p:txBody>
          <a:bodyPr/>
          <a:lstStyle/>
          <a:p>
            <a:endParaRPr lang="fr-CA"/>
          </a:p>
        </p:txBody>
      </p:sp>
      <p:sp>
        <p:nvSpPr>
          <p:cNvPr id="42" name="Shape 35"/>
          <p:cNvSpPr/>
          <p:nvPr/>
        </p:nvSpPr>
        <p:spPr>
          <a:xfrm>
            <a:off x="5382090" y="3280767"/>
            <a:ext cx="21431" cy="544711"/>
          </a:xfrm>
          <a:prstGeom prst="rect">
            <a:avLst/>
          </a:prstGeom>
          <a:solidFill>
            <a:srgbClr val="2E8B57"/>
          </a:solidFill>
          <a:ln/>
        </p:spPr>
        <p:txBody>
          <a:bodyPr/>
          <a:lstStyle/>
          <a:p>
            <a:endParaRPr lang="fr-CA"/>
          </a:p>
        </p:txBody>
      </p:sp>
      <p:sp>
        <p:nvSpPr>
          <p:cNvPr id="43" name="Text 36"/>
          <p:cNvSpPr/>
          <p:nvPr/>
        </p:nvSpPr>
        <p:spPr>
          <a:xfrm>
            <a:off x="5439240" y="3337917"/>
            <a:ext cx="3126116"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2E8B57"/>
                </a:solidFill>
              </a:rPr>
              <a:t>Solution</a:t>
            </a:r>
            <a:endParaRPr lang="en-US" sz="584" dirty="0"/>
          </a:p>
        </p:txBody>
      </p:sp>
      <p:sp>
        <p:nvSpPr>
          <p:cNvPr id="44" name="Text 37"/>
          <p:cNvSpPr/>
          <p:nvPr/>
        </p:nvSpPr>
        <p:spPr>
          <a:xfrm>
            <a:off x="5439240" y="3475434"/>
            <a:ext cx="2826469" cy="146447"/>
          </a:xfrm>
          <a:prstGeom prst="rect">
            <a:avLst/>
          </a:prstGeom>
          <a:noFill/>
          <a:ln/>
        </p:spPr>
        <p:txBody>
          <a:bodyPr wrap="none" lIns="0" tIns="0" rIns="0" bIns="0" rtlCol="0" anchor="t">
            <a:spAutoFit/>
          </a:bodyPr>
          <a:lstStyle/>
          <a:p>
            <a:pPr marL="0" indent="0" algn="l">
              <a:lnSpc>
                <a:spcPts val="1000"/>
              </a:lnSpc>
              <a:buNone/>
            </a:pPr>
            <a:r>
              <a:rPr lang="en-US" sz="780" dirty="0">
                <a:solidFill>
                  <a:srgbClr val="444444"/>
                </a:solidFill>
              </a:rPr>
              <a:t>Utiliser des outils d'annotation assistée par IA (Roboflow</a:t>
            </a:r>
            <a:endParaRPr lang="en-US" sz="780" dirty="0"/>
          </a:p>
        </p:txBody>
      </p:sp>
      <p:sp>
        <p:nvSpPr>
          <p:cNvPr id="45" name="Text 38"/>
          <p:cNvSpPr/>
          <p:nvPr/>
        </p:nvSpPr>
        <p:spPr>
          <a:xfrm>
            <a:off x="5439240" y="3621881"/>
            <a:ext cx="2007812" cy="146447"/>
          </a:xfrm>
          <a:prstGeom prst="rect">
            <a:avLst/>
          </a:prstGeom>
          <a:noFill/>
          <a:ln/>
        </p:spPr>
        <p:txBody>
          <a:bodyPr wrap="none" lIns="0" tIns="0" rIns="0" bIns="0" rtlCol="0" anchor="t">
            <a:spAutoFit/>
          </a:bodyPr>
          <a:lstStyle/>
          <a:p>
            <a:pPr marL="0" indent="0" algn="l">
              <a:lnSpc>
                <a:spcPts val="1000"/>
              </a:lnSpc>
              <a:buNone/>
            </a:pPr>
            <a:r>
              <a:rPr lang="en-US" sz="780" dirty="0">
                <a:solidFill>
                  <a:srgbClr val="444444"/>
                </a:solidFill>
              </a:rPr>
              <a:t>Auto-Label) pour accélérer le processus.</a:t>
            </a:r>
            <a:endParaRPr lang="en-US" sz="780" dirty="0"/>
          </a:p>
        </p:txBody>
      </p:sp>
      <p:sp>
        <p:nvSpPr>
          <p:cNvPr id="46" name="Shape 39"/>
          <p:cNvSpPr/>
          <p:nvPr/>
        </p:nvSpPr>
        <p:spPr>
          <a:xfrm>
            <a:off x="435769" y="3911203"/>
            <a:ext cx="8272463" cy="716161"/>
          </a:xfrm>
          <a:prstGeom prst="rect">
            <a:avLst/>
          </a:prstGeom>
          <a:solidFill>
            <a:srgbClr val="FFFFFF"/>
          </a:solidFill>
          <a:ln/>
        </p:spPr>
        <p:txBody>
          <a:bodyPr/>
          <a:lstStyle/>
          <a:p>
            <a:endParaRPr lang="fr-CA"/>
          </a:p>
        </p:txBody>
      </p:sp>
      <p:pic>
        <p:nvPicPr>
          <p:cNvPr id="47" name="Image 4" descr="preencoded.png"/>
          <p:cNvPicPr>
            <a:picLocks noChangeAspect="1"/>
          </p:cNvPicPr>
          <p:nvPr/>
        </p:nvPicPr>
        <p:blipFill>
          <a:blip r:embed="rId7"/>
          <a:stretch>
            <a:fillRect/>
          </a:stretch>
        </p:blipFill>
        <p:spPr>
          <a:xfrm>
            <a:off x="521494" y="4212134"/>
            <a:ext cx="171450" cy="114300"/>
          </a:xfrm>
          <a:prstGeom prst="rect">
            <a:avLst/>
          </a:prstGeom>
        </p:spPr>
      </p:pic>
      <p:sp>
        <p:nvSpPr>
          <p:cNvPr id="48" name="Text 40"/>
          <p:cNvSpPr/>
          <p:nvPr/>
        </p:nvSpPr>
        <p:spPr>
          <a:xfrm>
            <a:off x="764381" y="4191595"/>
            <a:ext cx="1804243"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33333"/>
                </a:solidFill>
              </a:rPr>
              <a:t>Dépassement du budget matériel</a:t>
            </a:r>
            <a:endParaRPr lang="en-US" sz="834" dirty="0"/>
          </a:p>
        </p:txBody>
      </p:sp>
      <p:sp>
        <p:nvSpPr>
          <p:cNvPr id="49" name="Shape 41"/>
          <p:cNvSpPr/>
          <p:nvPr/>
        </p:nvSpPr>
        <p:spPr>
          <a:xfrm>
            <a:off x="3761882" y="4184452"/>
            <a:ext cx="714375" cy="173236"/>
          </a:xfrm>
          <a:prstGeom prst="rect">
            <a:avLst/>
          </a:prstGeom>
          <a:solidFill>
            <a:srgbClr val="2E8B57"/>
          </a:solidFill>
          <a:ln/>
        </p:spPr>
        <p:txBody>
          <a:bodyPr/>
          <a:lstStyle/>
          <a:p>
            <a:endParaRPr lang="fr-CA"/>
          </a:p>
        </p:txBody>
      </p:sp>
      <p:sp>
        <p:nvSpPr>
          <p:cNvPr id="50" name="Text 42"/>
          <p:cNvSpPr/>
          <p:nvPr/>
        </p:nvSpPr>
        <p:spPr>
          <a:xfrm>
            <a:off x="3761882" y="4184452"/>
            <a:ext cx="714375" cy="173236"/>
          </a:xfrm>
          <a:prstGeom prst="rect">
            <a:avLst/>
          </a:prstGeom>
          <a:noFill/>
          <a:ln/>
        </p:spPr>
        <p:txBody>
          <a:bodyPr wrap="square" lIns="68072" tIns="34036" rIns="68072" bIns="34036" rtlCol="0" anchor="t">
            <a:spAutoFit/>
          </a:bodyPr>
          <a:lstStyle/>
          <a:p>
            <a:pPr marL="0" indent="0" algn="ctr">
              <a:lnSpc>
                <a:spcPts val="800"/>
              </a:lnSpc>
              <a:buNone/>
            </a:pPr>
            <a:r>
              <a:rPr lang="en-US" sz="584" b="1" dirty="0">
                <a:solidFill>
                  <a:srgbClr val="FFFFFF"/>
                </a:solidFill>
              </a:rPr>
              <a:t>FAIBLE</a:t>
            </a:r>
            <a:endParaRPr lang="en-US" sz="584" dirty="0"/>
          </a:p>
        </p:txBody>
      </p:sp>
      <p:sp>
        <p:nvSpPr>
          <p:cNvPr id="51" name="Shape 43"/>
          <p:cNvSpPr/>
          <p:nvPr/>
        </p:nvSpPr>
        <p:spPr>
          <a:xfrm>
            <a:off x="5382090" y="3996928"/>
            <a:ext cx="3240416" cy="544711"/>
          </a:xfrm>
          <a:prstGeom prst="rect">
            <a:avLst/>
          </a:prstGeom>
          <a:solidFill>
            <a:srgbClr val="F9F9F9"/>
          </a:solidFill>
          <a:ln/>
        </p:spPr>
        <p:txBody>
          <a:bodyPr/>
          <a:lstStyle/>
          <a:p>
            <a:endParaRPr lang="fr-CA" dirty="0"/>
          </a:p>
        </p:txBody>
      </p:sp>
      <p:sp>
        <p:nvSpPr>
          <p:cNvPr id="52" name="Shape 44"/>
          <p:cNvSpPr/>
          <p:nvPr/>
        </p:nvSpPr>
        <p:spPr>
          <a:xfrm>
            <a:off x="5382090" y="3996928"/>
            <a:ext cx="21431" cy="544711"/>
          </a:xfrm>
          <a:prstGeom prst="rect">
            <a:avLst/>
          </a:prstGeom>
          <a:solidFill>
            <a:srgbClr val="2E8B57"/>
          </a:solidFill>
          <a:ln/>
        </p:spPr>
        <p:txBody>
          <a:bodyPr/>
          <a:lstStyle/>
          <a:p>
            <a:endParaRPr lang="fr-CA"/>
          </a:p>
        </p:txBody>
      </p:sp>
      <p:sp>
        <p:nvSpPr>
          <p:cNvPr id="53" name="Text 45"/>
          <p:cNvSpPr/>
          <p:nvPr/>
        </p:nvSpPr>
        <p:spPr>
          <a:xfrm>
            <a:off x="5439240" y="4054078"/>
            <a:ext cx="3126116"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2E8B57"/>
                </a:solidFill>
              </a:rPr>
              <a:t>Solution</a:t>
            </a:r>
            <a:endParaRPr lang="en-US" sz="584" dirty="0"/>
          </a:p>
        </p:txBody>
      </p:sp>
      <p:sp>
        <p:nvSpPr>
          <p:cNvPr id="54" name="Text 46"/>
          <p:cNvSpPr/>
          <p:nvPr/>
        </p:nvSpPr>
        <p:spPr>
          <a:xfrm>
            <a:off x="5439240" y="4191595"/>
            <a:ext cx="65" cy="122598"/>
          </a:xfrm>
          <a:prstGeom prst="rect">
            <a:avLst/>
          </a:prstGeom>
          <a:noFill/>
          <a:ln/>
        </p:spPr>
        <p:txBody>
          <a:bodyPr wrap="none" lIns="0" tIns="0" rIns="0" bIns="0" rtlCol="0" anchor="t">
            <a:spAutoFit/>
          </a:bodyPr>
          <a:lstStyle/>
          <a:p>
            <a:pPr marL="0" indent="0" algn="l">
              <a:lnSpc>
                <a:spcPts val="1000"/>
              </a:lnSpc>
              <a:buNone/>
            </a:pPr>
            <a:endParaRPr lang="en-US" sz="780" dirty="0"/>
          </a:p>
        </p:txBody>
      </p:sp>
      <p:sp>
        <p:nvSpPr>
          <p:cNvPr id="55" name="Text 47"/>
          <p:cNvSpPr/>
          <p:nvPr/>
        </p:nvSpPr>
        <p:spPr>
          <a:xfrm>
            <a:off x="5439240" y="4191595"/>
            <a:ext cx="3120423" cy="507318"/>
          </a:xfrm>
          <a:prstGeom prst="rect">
            <a:avLst/>
          </a:prstGeom>
          <a:noFill/>
          <a:ln/>
        </p:spPr>
        <p:txBody>
          <a:bodyPr wrap="square" lIns="0" tIns="0" rIns="0" bIns="0" rtlCol="0" anchor="t">
            <a:spAutoFit/>
          </a:bodyPr>
          <a:lstStyle/>
          <a:p>
            <a:pPr>
              <a:lnSpc>
                <a:spcPts val="1000"/>
              </a:lnSpc>
            </a:pPr>
            <a:r>
              <a:rPr lang="en-US" sz="780" dirty="0" err="1">
                <a:solidFill>
                  <a:srgbClr val="444444"/>
                </a:solidFill>
              </a:rPr>
              <a:t>Remplacer</a:t>
            </a:r>
            <a:r>
              <a:rPr lang="en-US" sz="780" dirty="0">
                <a:solidFill>
                  <a:srgbClr val="444444"/>
                </a:solidFill>
              </a:rPr>
              <a:t> la </a:t>
            </a:r>
            <a:r>
              <a:rPr lang="en-US" sz="780" dirty="0" err="1">
                <a:solidFill>
                  <a:srgbClr val="444444"/>
                </a:solidFill>
              </a:rPr>
              <a:t>caméra</a:t>
            </a:r>
            <a:r>
              <a:rPr lang="en-US" sz="780" dirty="0">
                <a:solidFill>
                  <a:srgbClr val="444444"/>
                </a:solidFill>
              </a:rPr>
              <a:t> IP par </a:t>
            </a:r>
            <a:r>
              <a:rPr lang="en-US" sz="780" dirty="0" err="1">
                <a:solidFill>
                  <a:srgbClr val="444444"/>
                </a:solidFill>
              </a:rPr>
              <a:t>une</a:t>
            </a:r>
            <a:r>
              <a:rPr lang="en-US" sz="780" dirty="0">
                <a:solidFill>
                  <a:srgbClr val="444444"/>
                </a:solidFill>
              </a:rPr>
              <a:t> Webcam USB standard et</a:t>
            </a:r>
          </a:p>
          <a:p>
            <a:pPr>
              <a:lnSpc>
                <a:spcPts val="1000"/>
              </a:lnSpc>
            </a:pPr>
            <a:r>
              <a:rPr lang="en-US" sz="780" dirty="0" err="1">
                <a:solidFill>
                  <a:srgbClr val="444444"/>
                </a:solidFill>
              </a:rPr>
              <a:t>utiliser</a:t>
            </a:r>
            <a:r>
              <a:rPr lang="en-US" sz="780" dirty="0">
                <a:solidFill>
                  <a:srgbClr val="444444"/>
                </a:solidFill>
              </a:rPr>
              <a:t> un PC portable au lieu du Jetson</a:t>
            </a:r>
          </a:p>
          <a:p>
            <a:pPr>
              <a:lnSpc>
                <a:spcPts val="1000"/>
              </a:lnSpc>
            </a:pPr>
            <a:endParaRPr lang="en-US" sz="780" dirty="0"/>
          </a:p>
          <a:p>
            <a:pPr marL="0" indent="0" algn="l">
              <a:lnSpc>
                <a:spcPts val="1000"/>
              </a:lnSpc>
              <a:buNone/>
            </a:pPr>
            <a:r>
              <a:rPr lang="en-US" sz="780" dirty="0">
                <a:solidFill>
                  <a:srgbClr val="444444"/>
                </a:solidFill>
              </a:rPr>
              <a:t>.</a:t>
            </a:r>
            <a:endParaRPr lang="en-US" sz="780" dirty="0"/>
          </a:p>
        </p:txBody>
      </p:sp>
      <p:sp>
        <p:nvSpPr>
          <p:cNvPr id="56" name="Text 48"/>
          <p:cNvSpPr/>
          <p:nvPr/>
        </p:nvSpPr>
        <p:spPr>
          <a:xfrm>
            <a:off x="428625" y="4793456"/>
            <a:ext cx="8286750" cy="135731"/>
          </a:xfrm>
          <a:prstGeom prst="rect">
            <a:avLst/>
          </a:prstGeom>
          <a:noFill/>
          <a:ln/>
        </p:spPr>
        <p:txBody>
          <a:bodyPr wrap="none" lIns="0" tIns="0" rIns="0" bIns="0" rtlCol="0" anchor="t">
            <a:spAutoFit/>
          </a:bodyPr>
          <a:lstStyle/>
          <a:p>
            <a:pPr marL="0" indent="0" algn="ctr">
              <a:lnSpc>
                <a:spcPts val="900"/>
              </a:lnSpc>
              <a:buNone/>
            </a:pPr>
            <a:r>
              <a:rPr lang="en-US" sz="727" i="1" dirty="0">
                <a:solidFill>
                  <a:srgbClr val="888888"/>
                </a:solidFill>
              </a:rPr>
              <a:t>"Une bonne gestion de projet ne consiste pas à éviter les problèmes, mais à savoir comment les résoudre."</a:t>
            </a:r>
            <a:endParaRPr lang="en-US" sz="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41164"/>
          </a:xfrm>
          <a:prstGeom prst="rect">
            <a:avLst/>
          </a:prstGeom>
          <a:solidFill>
            <a:srgbClr val="003366"/>
          </a:solidFill>
          <a:ln/>
        </p:spPr>
        <p:txBody>
          <a:bodyPr/>
          <a:lstStyle/>
          <a:p>
            <a:endParaRPr lang="fr-CA"/>
          </a:p>
        </p:txBody>
      </p:sp>
      <p:sp>
        <p:nvSpPr>
          <p:cNvPr id="5" name="Text 1"/>
          <p:cNvSpPr/>
          <p:nvPr/>
        </p:nvSpPr>
        <p:spPr>
          <a:xfrm>
            <a:off x="428625" y="214313"/>
            <a:ext cx="1249766"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rPr>
              <a:t>Conclusion</a:t>
            </a:r>
            <a:endParaRPr lang="en-US" sz="1602" dirty="0"/>
          </a:p>
        </p:txBody>
      </p:sp>
      <p:sp>
        <p:nvSpPr>
          <p:cNvPr id="6" name="Text 2"/>
          <p:cNvSpPr/>
          <p:nvPr/>
        </p:nvSpPr>
        <p:spPr>
          <a:xfrm>
            <a:off x="8351881" y="292894"/>
            <a:ext cx="363494"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2E8B57"/>
                </a:solidFill>
              </a:rPr>
              <a:t>10 / 10</a:t>
            </a:r>
            <a:endParaRPr lang="en-US" sz="834" dirty="0"/>
          </a:p>
        </p:txBody>
      </p:sp>
      <p:sp>
        <p:nvSpPr>
          <p:cNvPr id="7" name="Shape 3"/>
          <p:cNvSpPr/>
          <p:nvPr/>
        </p:nvSpPr>
        <p:spPr>
          <a:xfrm>
            <a:off x="571500" y="1251942"/>
            <a:ext cx="2552691" cy="1437680"/>
          </a:xfrm>
          <a:prstGeom prst="rect">
            <a:avLst/>
          </a:prstGeom>
          <a:solidFill>
            <a:srgbClr val="F9F9F9"/>
          </a:solidFill>
          <a:ln/>
        </p:spPr>
        <p:txBody>
          <a:bodyPr/>
          <a:lstStyle/>
          <a:p>
            <a:endParaRPr lang="fr-CA"/>
          </a:p>
        </p:txBody>
      </p:sp>
      <p:sp>
        <p:nvSpPr>
          <p:cNvPr id="8" name="Shape 4"/>
          <p:cNvSpPr/>
          <p:nvPr/>
        </p:nvSpPr>
        <p:spPr>
          <a:xfrm>
            <a:off x="571500" y="1251942"/>
            <a:ext cx="2552691" cy="35719"/>
          </a:xfrm>
          <a:prstGeom prst="rect">
            <a:avLst/>
          </a:prstGeom>
          <a:solidFill>
            <a:srgbClr val="003366"/>
          </a:solidFill>
          <a:ln/>
        </p:spPr>
        <p:txBody>
          <a:bodyPr/>
          <a:lstStyle/>
          <a:p>
            <a:endParaRPr lang="fr-CA"/>
          </a:p>
        </p:txBody>
      </p:sp>
      <p:sp>
        <p:nvSpPr>
          <p:cNvPr id="9" name="Shape 5"/>
          <p:cNvSpPr/>
          <p:nvPr/>
        </p:nvSpPr>
        <p:spPr>
          <a:xfrm>
            <a:off x="3117047" y="1251942"/>
            <a:ext cx="7144" cy="1437680"/>
          </a:xfrm>
          <a:prstGeom prst="rect">
            <a:avLst/>
          </a:prstGeom>
          <a:solidFill>
            <a:srgbClr val="EEEEEE"/>
          </a:solidFill>
          <a:ln/>
        </p:spPr>
        <p:txBody>
          <a:bodyPr/>
          <a:lstStyle/>
          <a:p>
            <a:endParaRPr lang="fr-CA"/>
          </a:p>
        </p:txBody>
      </p:sp>
      <p:sp>
        <p:nvSpPr>
          <p:cNvPr id="10" name="Shape 6"/>
          <p:cNvSpPr/>
          <p:nvPr/>
        </p:nvSpPr>
        <p:spPr>
          <a:xfrm>
            <a:off x="571500" y="2682478"/>
            <a:ext cx="2552691" cy="7144"/>
          </a:xfrm>
          <a:prstGeom prst="rect">
            <a:avLst/>
          </a:prstGeom>
          <a:solidFill>
            <a:srgbClr val="EEEEEE"/>
          </a:solidFill>
          <a:ln/>
        </p:spPr>
        <p:txBody>
          <a:bodyPr/>
          <a:lstStyle/>
          <a:p>
            <a:endParaRPr lang="fr-CA"/>
          </a:p>
        </p:txBody>
      </p:sp>
      <p:sp>
        <p:nvSpPr>
          <p:cNvPr id="11" name="Shape 7"/>
          <p:cNvSpPr/>
          <p:nvPr/>
        </p:nvSpPr>
        <p:spPr>
          <a:xfrm>
            <a:off x="571500" y="1251942"/>
            <a:ext cx="7144" cy="1437680"/>
          </a:xfrm>
          <a:prstGeom prst="rect">
            <a:avLst/>
          </a:prstGeom>
          <a:solidFill>
            <a:srgbClr val="EEEEEE"/>
          </a:solidFill>
          <a:ln/>
        </p:spPr>
        <p:txBody>
          <a:bodyPr/>
          <a:lstStyle/>
          <a:p>
            <a:endParaRPr lang="fr-CA"/>
          </a:p>
        </p:txBody>
      </p:sp>
      <p:pic>
        <p:nvPicPr>
          <p:cNvPr id="12" name="Image 1" descr="preencoded.png"/>
          <p:cNvPicPr>
            <a:picLocks noChangeAspect="1"/>
          </p:cNvPicPr>
          <p:nvPr/>
        </p:nvPicPr>
        <p:blipFill>
          <a:blip r:embed="rId4"/>
          <a:stretch>
            <a:fillRect/>
          </a:stretch>
        </p:blipFill>
        <p:spPr>
          <a:xfrm>
            <a:off x="1704956" y="1380530"/>
            <a:ext cx="285750" cy="285750"/>
          </a:xfrm>
          <a:prstGeom prst="rect">
            <a:avLst/>
          </a:prstGeom>
        </p:spPr>
      </p:pic>
      <p:sp>
        <p:nvSpPr>
          <p:cNvPr id="13" name="Text 8"/>
          <p:cNvSpPr/>
          <p:nvPr/>
        </p:nvSpPr>
        <p:spPr>
          <a:xfrm>
            <a:off x="685800" y="1752005"/>
            <a:ext cx="2324091"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333333"/>
                </a:solidFill>
              </a:rPr>
              <a:t>Réaliste</a:t>
            </a:r>
            <a:endParaRPr lang="en-US" sz="987" dirty="0"/>
          </a:p>
        </p:txBody>
      </p:sp>
      <p:sp>
        <p:nvSpPr>
          <p:cNvPr id="14" name="Text 9"/>
          <p:cNvSpPr/>
          <p:nvPr/>
        </p:nvSpPr>
        <p:spPr>
          <a:xfrm>
            <a:off x="685800" y="2003822"/>
            <a:ext cx="2324091" cy="514350"/>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666666"/>
                </a:solidFill>
              </a:rPr>
              <a:t>Périmètre focalisé sur la vision par ordinateur avec des technologies éprouvées (YOLOv8, OpenCV).</a:t>
            </a:r>
            <a:endParaRPr lang="en-US" sz="834" dirty="0"/>
          </a:p>
        </p:txBody>
      </p:sp>
      <p:sp>
        <p:nvSpPr>
          <p:cNvPr id="15" name="Shape 10"/>
          <p:cNvSpPr/>
          <p:nvPr/>
        </p:nvSpPr>
        <p:spPr>
          <a:xfrm>
            <a:off x="3295641" y="1251942"/>
            <a:ext cx="2552691" cy="1437680"/>
          </a:xfrm>
          <a:prstGeom prst="rect">
            <a:avLst/>
          </a:prstGeom>
          <a:solidFill>
            <a:srgbClr val="F9F9F9"/>
          </a:solidFill>
          <a:ln/>
        </p:spPr>
        <p:txBody>
          <a:bodyPr/>
          <a:lstStyle/>
          <a:p>
            <a:endParaRPr lang="fr-CA"/>
          </a:p>
        </p:txBody>
      </p:sp>
      <p:sp>
        <p:nvSpPr>
          <p:cNvPr id="16" name="Shape 11"/>
          <p:cNvSpPr/>
          <p:nvPr/>
        </p:nvSpPr>
        <p:spPr>
          <a:xfrm>
            <a:off x="3295641" y="1251942"/>
            <a:ext cx="2552691" cy="35719"/>
          </a:xfrm>
          <a:prstGeom prst="rect">
            <a:avLst/>
          </a:prstGeom>
          <a:solidFill>
            <a:srgbClr val="2E8B57"/>
          </a:solidFill>
          <a:ln/>
        </p:spPr>
        <p:txBody>
          <a:bodyPr/>
          <a:lstStyle/>
          <a:p>
            <a:endParaRPr lang="fr-CA"/>
          </a:p>
        </p:txBody>
      </p:sp>
      <p:sp>
        <p:nvSpPr>
          <p:cNvPr id="17" name="Shape 12"/>
          <p:cNvSpPr/>
          <p:nvPr/>
        </p:nvSpPr>
        <p:spPr>
          <a:xfrm>
            <a:off x="5841188" y="1251942"/>
            <a:ext cx="7144" cy="1437680"/>
          </a:xfrm>
          <a:prstGeom prst="rect">
            <a:avLst/>
          </a:prstGeom>
          <a:solidFill>
            <a:srgbClr val="EEEEEE"/>
          </a:solidFill>
          <a:ln/>
        </p:spPr>
        <p:txBody>
          <a:bodyPr/>
          <a:lstStyle/>
          <a:p>
            <a:endParaRPr lang="fr-CA"/>
          </a:p>
        </p:txBody>
      </p:sp>
      <p:sp>
        <p:nvSpPr>
          <p:cNvPr id="18" name="Shape 13"/>
          <p:cNvSpPr/>
          <p:nvPr/>
        </p:nvSpPr>
        <p:spPr>
          <a:xfrm>
            <a:off x="3295641" y="2682478"/>
            <a:ext cx="2552691" cy="7144"/>
          </a:xfrm>
          <a:prstGeom prst="rect">
            <a:avLst/>
          </a:prstGeom>
          <a:solidFill>
            <a:srgbClr val="EEEEEE"/>
          </a:solidFill>
          <a:ln/>
        </p:spPr>
        <p:txBody>
          <a:bodyPr/>
          <a:lstStyle/>
          <a:p>
            <a:endParaRPr lang="fr-CA"/>
          </a:p>
        </p:txBody>
      </p:sp>
      <p:sp>
        <p:nvSpPr>
          <p:cNvPr id="19" name="Shape 14"/>
          <p:cNvSpPr/>
          <p:nvPr/>
        </p:nvSpPr>
        <p:spPr>
          <a:xfrm>
            <a:off x="3295641" y="1251942"/>
            <a:ext cx="7144" cy="1437680"/>
          </a:xfrm>
          <a:prstGeom prst="rect">
            <a:avLst/>
          </a:prstGeom>
          <a:solidFill>
            <a:srgbClr val="EEEEEE"/>
          </a:solidFill>
          <a:ln/>
        </p:spPr>
        <p:txBody>
          <a:bodyPr/>
          <a:lstStyle/>
          <a:p>
            <a:endParaRPr lang="fr-CA"/>
          </a:p>
        </p:txBody>
      </p:sp>
      <p:pic>
        <p:nvPicPr>
          <p:cNvPr id="20" name="Image 2" descr="preencoded.png"/>
          <p:cNvPicPr>
            <a:picLocks noChangeAspect="1"/>
          </p:cNvPicPr>
          <p:nvPr/>
        </p:nvPicPr>
        <p:blipFill>
          <a:blip r:embed="rId5"/>
          <a:stretch>
            <a:fillRect/>
          </a:stretch>
        </p:blipFill>
        <p:spPr>
          <a:xfrm>
            <a:off x="4429097" y="1380530"/>
            <a:ext cx="285750" cy="285750"/>
          </a:xfrm>
          <a:prstGeom prst="rect">
            <a:avLst/>
          </a:prstGeom>
        </p:spPr>
      </p:pic>
      <p:sp>
        <p:nvSpPr>
          <p:cNvPr id="21" name="Text 15"/>
          <p:cNvSpPr/>
          <p:nvPr/>
        </p:nvSpPr>
        <p:spPr>
          <a:xfrm>
            <a:off x="3409941" y="1752005"/>
            <a:ext cx="2324091"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333333"/>
                </a:solidFill>
              </a:rPr>
              <a:t>Utile</a:t>
            </a:r>
            <a:endParaRPr lang="en-US" sz="987" dirty="0"/>
          </a:p>
        </p:txBody>
      </p:sp>
      <p:sp>
        <p:nvSpPr>
          <p:cNvPr id="22" name="Text 16"/>
          <p:cNvSpPr/>
          <p:nvPr/>
        </p:nvSpPr>
        <p:spPr>
          <a:xfrm>
            <a:off x="3409941" y="2003822"/>
            <a:ext cx="2324091" cy="514350"/>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666666"/>
                </a:solidFill>
              </a:rPr>
              <a:t>Répond à un besoin concret : automatiser le comptage et l'analyse de densité du bétail.</a:t>
            </a:r>
            <a:endParaRPr lang="en-US" sz="834" dirty="0"/>
          </a:p>
        </p:txBody>
      </p:sp>
      <p:sp>
        <p:nvSpPr>
          <p:cNvPr id="23" name="Shape 17"/>
          <p:cNvSpPr/>
          <p:nvPr/>
        </p:nvSpPr>
        <p:spPr>
          <a:xfrm>
            <a:off x="6019781" y="1251942"/>
            <a:ext cx="2552719" cy="1437680"/>
          </a:xfrm>
          <a:prstGeom prst="rect">
            <a:avLst/>
          </a:prstGeom>
          <a:solidFill>
            <a:srgbClr val="F9F9F9"/>
          </a:solidFill>
          <a:ln/>
        </p:spPr>
        <p:txBody>
          <a:bodyPr/>
          <a:lstStyle/>
          <a:p>
            <a:endParaRPr lang="fr-CA"/>
          </a:p>
        </p:txBody>
      </p:sp>
      <p:sp>
        <p:nvSpPr>
          <p:cNvPr id="24" name="Shape 18"/>
          <p:cNvSpPr/>
          <p:nvPr/>
        </p:nvSpPr>
        <p:spPr>
          <a:xfrm>
            <a:off x="6019781" y="1251942"/>
            <a:ext cx="2552719" cy="35719"/>
          </a:xfrm>
          <a:prstGeom prst="rect">
            <a:avLst/>
          </a:prstGeom>
          <a:solidFill>
            <a:srgbClr val="333333"/>
          </a:solidFill>
          <a:ln/>
        </p:spPr>
        <p:txBody>
          <a:bodyPr/>
          <a:lstStyle/>
          <a:p>
            <a:endParaRPr lang="fr-CA"/>
          </a:p>
        </p:txBody>
      </p:sp>
      <p:sp>
        <p:nvSpPr>
          <p:cNvPr id="25" name="Shape 19"/>
          <p:cNvSpPr/>
          <p:nvPr/>
        </p:nvSpPr>
        <p:spPr>
          <a:xfrm>
            <a:off x="8565356" y="1251942"/>
            <a:ext cx="7144" cy="1437680"/>
          </a:xfrm>
          <a:prstGeom prst="rect">
            <a:avLst/>
          </a:prstGeom>
          <a:solidFill>
            <a:srgbClr val="EEEEEE"/>
          </a:solidFill>
          <a:ln/>
        </p:spPr>
        <p:txBody>
          <a:bodyPr/>
          <a:lstStyle/>
          <a:p>
            <a:endParaRPr lang="fr-CA"/>
          </a:p>
        </p:txBody>
      </p:sp>
      <p:sp>
        <p:nvSpPr>
          <p:cNvPr id="26" name="Shape 20"/>
          <p:cNvSpPr/>
          <p:nvPr/>
        </p:nvSpPr>
        <p:spPr>
          <a:xfrm>
            <a:off x="6019781" y="2682478"/>
            <a:ext cx="2552719" cy="7144"/>
          </a:xfrm>
          <a:prstGeom prst="rect">
            <a:avLst/>
          </a:prstGeom>
          <a:solidFill>
            <a:srgbClr val="EEEEEE"/>
          </a:solidFill>
          <a:ln/>
        </p:spPr>
        <p:txBody>
          <a:bodyPr/>
          <a:lstStyle/>
          <a:p>
            <a:endParaRPr lang="fr-CA"/>
          </a:p>
        </p:txBody>
      </p:sp>
      <p:sp>
        <p:nvSpPr>
          <p:cNvPr id="27" name="Shape 21"/>
          <p:cNvSpPr/>
          <p:nvPr/>
        </p:nvSpPr>
        <p:spPr>
          <a:xfrm>
            <a:off x="6019781" y="1251942"/>
            <a:ext cx="7144" cy="1437680"/>
          </a:xfrm>
          <a:prstGeom prst="rect">
            <a:avLst/>
          </a:prstGeom>
          <a:solidFill>
            <a:srgbClr val="EEEEEE"/>
          </a:solidFill>
          <a:ln/>
        </p:spPr>
        <p:txBody>
          <a:bodyPr/>
          <a:lstStyle/>
          <a:p>
            <a:endParaRPr lang="fr-CA"/>
          </a:p>
        </p:txBody>
      </p:sp>
      <p:pic>
        <p:nvPicPr>
          <p:cNvPr id="28" name="Image 3" descr="preencoded.png"/>
          <p:cNvPicPr>
            <a:picLocks noChangeAspect="1"/>
          </p:cNvPicPr>
          <p:nvPr/>
        </p:nvPicPr>
        <p:blipFill>
          <a:blip r:embed="rId6"/>
          <a:stretch>
            <a:fillRect/>
          </a:stretch>
        </p:blipFill>
        <p:spPr>
          <a:xfrm>
            <a:off x="7117547" y="1401961"/>
            <a:ext cx="357188" cy="285750"/>
          </a:xfrm>
          <a:prstGeom prst="rect">
            <a:avLst/>
          </a:prstGeom>
        </p:spPr>
      </p:pic>
      <p:sp>
        <p:nvSpPr>
          <p:cNvPr id="29" name="Text 22"/>
          <p:cNvSpPr/>
          <p:nvPr/>
        </p:nvSpPr>
        <p:spPr>
          <a:xfrm>
            <a:off x="6134081" y="1773436"/>
            <a:ext cx="2324119"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333333"/>
                </a:solidFill>
              </a:rPr>
              <a:t>Complet</a:t>
            </a:r>
            <a:endParaRPr lang="en-US" sz="987" dirty="0"/>
          </a:p>
        </p:txBody>
      </p:sp>
      <p:sp>
        <p:nvSpPr>
          <p:cNvPr id="30" name="Text 23"/>
          <p:cNvSpPr/>
          <p:nvPr/>
        </p:nvSpPr>
        <p:spPr>
          <a:xfrm>
            <a:off x="6134081" y="2025253"/>
            <a:ext cx="2324119" cy="514350"/>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666666"/>
                </a:solidFill>
              </a:rPr>
              <a:t>Mobilise les compétences clés : IA, traitement d'image, développement logiciel et systèmes embarqués.</a:t>
            </a:r>
            <a:endParaRPr lang="en-US" sz="834" dirty="0"/>
          </a:p>
        </p:txBody>
      </p:sp>
      <p:sp>
        <p:nvSpPr>
          <p:cNvPr id="31" name="Shape 24"/>
          <p:cNvSpPr/>
          <p:nvPr/>
        </p:nvSpPr>
        <p:spPr>
          <a:xfrm>
            <a:off x="571500" y="2811066"/>
            <a:ext cx="8001000" cy="321469"/>
          </a:xfrm>
          <a:prstGeom prst="rect">
            <a:avLst/>
          </a:prstGeom>
          <a:solidFill>
            <a:srgbClr val="F0F8FF"/>
          </a:solidFill>
          <a:ln w="9144">
            <a:solidFill>
              <a:srgbClr val="B0C4DE"/>
            </a:solidFill>
            <a:prstDash val="solid"/>
          </a:ln>
        </p:spPr>
        <p:txBody>
          <a:bodyPr/>
          <a:lstStyle/>
          <a:p>
            <a:endParaRPr lang="fr-CA"/>
          </a:p>
        </p:txBody>
      </p:sp>
      <p:sp>
        <p:nvSpPr>
          <p:cNvPr id="32" name="Text 25"/>
          <p:cNvSpPr/>
          <p:nvPr/>
        </p:nvSpPr>
        <p:spPr>
          <a:xfrm>
            <a:off x="714375" y="2903934"/>
            <a:ext cx="621590"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003366"/>
                </a:solidFill>
              </a:rPr>
              <a:t>&gt; PLANNING:</a:t>
            </a:r>
            <a:endParaRPr lang="en-US" sz="727" dirty="0"/>
          </a:p>
        </p:txBody>
      </p:sp>
      <p:sp>
        <p:nvSpPr>
          <p:cNvPr id="33" name="Text 26"/>
          <p:cNvSpPr/>
          <p:nvPr/>
        </p:nvSpPr>
        <p:spPr>
          <a:xfrm>
            <a:off x="1407402" y="2903934"/>
            <a:ext cx="355457"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2E8B57"/>
                </a:solidFill>
              </a:rPr>
              <a:t>VALIDÉ</a:t>
            </a:r>
            <a:endParaRPr lang="en-US" sz="683" dirty="0"/>
          </a:p>
        </p:txBody>
      </p:sp>
      <p:sp>
        <p:nvSpPr>
          <p:cNvPr id="34" name="Text 27"/>
          <p:cNvSpPr/>
          <p:nvPr/>
        </p:nvSpPr>
        <p:spPr>
          <a:xfrm>
            <a:off x="3847467" y="2903934"/>
            <a:ext cx="505169"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003366"/>
                </a:solidFill>
              </a:rPr>
              <a:t>&gt; BUDGET:</a:t>
            </a:r>
            <a:endParaRPr lang="en-US" sz="727" dirty="0"/>
          </a:p>
        </p:txBody>
      </p:sp>
      <p:sp>
        <p:nvSpPr>
          <p:cNvPr id="35" name="Text 28"/>
          <p:cNvSpPr/>
          <p:nvPr/>
        </p:nvSpPr>
        <p:spPr>
          <a:xfrm>
            <a:off x="4424074" y="2903934"/>
            <a:ext cx="483570"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2E8B57"/>
                </a:solidFill>
              </a:rPr>
              <a:t>OPTIMISÉ</a:t>
            </a:r>
            <a:endParaRPr lang="en-US" sz="683" dirty="0"/>
          </a:p>
        </p:txBody>
      </p:sp>
      <p:sp>
        <p:nvSpPr>
          <p:cNvPr id="36" name="Text 29"/>
          <p:cNvSpPr/>
          <p:nvPr/>
        </p:nvSpPr>
        <p:spPr>
          <a:xfrm>
            <a:off x="6992252" y="2903934"/>
            <a:ext cx="454772"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003366"/>
                </a:solidFill>
              </a:rPr>
              <a:t>&gt; STATUT:</a:t>
            </a:r>
            <a:endParaRPr lang="en-US" sz="727" dirty="0"/>
          </a:p>
        </p:txBody>
      </p:sp>
      <p:sp>
        <p:nvSpPr>
          <p:cNvPr id="37" name="Text 30"/>
          <p:cNvSpPr/>
          <p:nvPr/>
        </p:nvSpPr>
        <p:spPr>
          <a:xfrm>
            <a:off x="7518462" y="2903934"/>
            <a:ext cx="911135"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2E8B57"/>
                </a:solidFill>
              </a:rPr>
              <a:t>PRÊT À DÉMARRER</a:t>
            </a:r>
            <a:endParaRPr lang="en-US" sz="683" dirty="0"/>
          </a:p>
        </p:txBody>
      </p:sp>
      <p:sp>
        <p:nvSpPr>
          <p:cNvPr id="38" name="Text 31"/>
          <p:cNvSpPr/>
          <p:nvPr/>
        </p:nvSpPr>
        <p:spPr>
          <a:xfrm>
            <a:off x="571500" y="3418284"/>
            <a:ext cx="8001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3366"/>
                </a:solidFill>
              </a:rPr>
              <a:t>Merci de votre attention</a:t>
            </a:r>
            <a:endParaRPr lang="en-US" sz="2436" dirty="0"/>
          </a:p>
        </p:txBody>
      </p:sp>
      <p:sp>
        <p:nvSpPr>
          <p:cNvPr id="39" name="Text 32"/>
          <p:cNvSpPr/>
          <p:nvPr/>
        </p:nvSpPr>
        <p:spPr>
          <a:xfrm>
            <a:off x="571500" y="3955852"/>
            <a:ext cx="8001000" cy="233958"/>
          </a:xfrm>
          <a:prstGeom prst="rect">
            <a:avLst/>
          </a:prstGeom>
          <a:noFill/>
          <a:ln/>
        </p:spPr>
        <p:txBody>
          <a:bodyPr wrap="none" lIns="0" tIns="0" rIns="0" bIns="0" rtlCol="0" anchor="t">
            <a:spAutoFit/>
          </a:bodyPr>
          <a:lstStyle/>
          <a:p>
            <a:pPr marL="0" indent="0" algn="ctr">
              <a:lnSpc>
                <a:spcPts val="1600"/>
              </a:lnSpc>
              <a:buNone/>
            </a:pPr>
            <a:r>
              <a:rPr lang="en-US" sz="1269" dirty="0">
                <a:solidFill>
                  <a:srgbClr val="2E8B57"/>
                </a:solidFill>
              </a:rPr>
              <a:t>Avez-vous des questions ?</a:t>
            </a:r>
            <a:endParaRPr lang="en-US" sz="1269" dirty="0"/>
          </a:p>
        </p:txBody>
      </p:sp>
      <p:sp>
        <p:nvSpPr>
          <p:cNvPr id="40" name="Text 33"/>
          <p:cNvSpPr/>
          <p:nvPr/>
        </p:nvSpPr>
        <p:spPr>
          <a:xfrm>
            <a:off x="571500" y="4332684"/>
            <a:ext cx="8001000" cy="111184"/>
          </a:xfrm>
          <a:prstGeom prst="rect">
            <a:avLst/>
          </a:prstGeom>
          <a:noFill/>
          <a:ln/>
        </p:spPr>
        <p:txBody>
          <a:bodyPr wrap="square" lIns="0" tIns="0" rIns="0" bIns="0" rtlCol="0" anchor="t">
            <a:spAutoFit/>
          </a:bodyPr>
          <a:lstStyle/>
          <a:p>
            <a:pPr marL="0" indent="0" algn="ctr">
              <a:lnSpc>
                <a:spcPts val="900"/>
              </a:lnSpc>
              <a:buNone/>
            </a:pPr>
            <a:endParaRPr lang="en-US" sz="7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2331</Words>
  <Application>Microsoft Office PowerPoint</Application>
  <PresentationFormat>Affichage à l'écran (16:9)</PresentationFormat>
  <Paragraphs>228</Paragraphs>
  <Slides>10</Slides>
  <Notes>10</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10</vt:i4>
      </vt:variant>
    </vt:vector>
  </HeadingPairs>
  <TitlesOfParts>
    <vt:vector size="12" baseType="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Wendpaguidgde Mike Andrew Ouedraogo</cp:lastModifiedBy>
  <cp:revision>3</cp:revision>
  <dcterms:created xsi:type="dcterms:W3CDTF">2026-01-30T07:09:16Z</dcterms:created>
  <dcterms:modified xsi:type="dcterms:W3CDTF">2026-06-22T14:05:38Z</dcterms:modified>
</cp:coreProperties>
</file>